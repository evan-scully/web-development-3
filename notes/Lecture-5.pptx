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93" r:id="rId1"/>
  </p:sldMasterIdLst>
  <p:notesMasterIdLst>
    <p:notesMasterId r:id="rId45"/>
  </p:notesMasterIdLst>
  <p:handoutMasterIdLst>
    <p:handoutMasterId r:id="rId46"/>
  </p:handoutMasterIdLst>
  <p:sldIdLst>
    <p:sldId id="435" r:id="rId2"/>
    <p:sldId id="441" r:id="rId3"/>
    <p:sldId id="549" r:id="rId4"/>
    <p:sldId id="550" r:id="rId5"/>
    <p:sldId id="551" r:id="rId6"/>
    <p:sldId id="552" r:id="rId7"/>
    <p:sldId id="553" r:id="rId8"/>
    <p:sldId id="445" r:id="rId9"/>
    <p:sldId id="554" r:id="rId10"/>
    <p:sldId id="449" r:id="rId11"/>
    <p:sldId id="459" r:id="rId12"/>
    <p:sldId id="460" r:id="rId13"/>
    <p:sldId id="450" r:id="rId14"/>
    <p:sldId id="555" r:id="rId15"/>
    <p:sldId id="556" r:id="rId16"/>
    <p:sldId id="557" r:id="rId17"/>
    <p:sldId id="558" r:id="rId18"/>
    <p:sldId id="559" r:id="rId19"/>
    <p:sldId id="560" r:id="rId20"/>
    <p:sldId id="561" r:id="rId21"/>
    <p:sldId id="562" r:id="rId22"/>
    <p:sldId id="563" r:id="rId23"/>
    <p:sldId id="564" r:id="rId24"/>
    <p:sldId id="565" r:id="rId25"/>
    <p:sldId id="566" r:id="rId26"/>
    <p:sldId id="567" r:id="rId27"/>
    <p:sldId id="568" r:id="rId28"/>
    <p:sldId id="569" r:id="rId29"/>
    <p:sldId id="570" r:id="rId30"/>
    <p:sldId id="571" r:id="rId31"/>
    <p:sldId id="572" r:id="rId32"/>
    <p:sldId id="573" r:id="rId33"/>
    <p:sldId id="574" r:id="rId34"/>
    <p:sldId id="576" r:id="rId35"/>
    <p:sldId id="575" r:id="rId36"/>
    <p:sldId id="577" r:id="rId37"/>
    <p:sldId id="578" r:id="rId38"/>
    <p:sldId id="579" r:id="rId39"/>
    <p:sldId id="580" r:id="rId40"/>
    <p:sldId id="581" r:id="rId41"/>
    <p:sldId id="582" r:id="rId42"/>
    <p:sldId id="583" r:id="rId43"/>
    <p:sldId id="584" r:id="rId44"/>
  </p:sldIdLst>
  <p:sldSz cx="9144000" cy="6858000" type="screen4x3"/>
  <p:notesSz cx="9240838" cy="6954838"/>
  <p:defaultTextStyle>
    <a:defPPr>
      <a:defRPr lang="en-GB"/>
    </a:defPPr>
    <a:lvl1pPr algn="l" defTabSz="449263" rtl="0" eaLnBrk="0" fontAlgn="base" hangingPunct="0">
      <a:spcBef>
        <a:spcPct val="0"/>
      </a:spcBef>
      <a:spcAft>
        <a:spcPct val="0"/>
      </a:spcAft>
      <a:defRPr sz="2400" kern="1200">
        <a:solidFill>
          <a:schemeClr val="bg1"/>
        </a:solidFill>
        <a:latin typeface="Arial" panose="020B0604020202020204" pitchFamily="34" charset="0"/>
        <a:ea typeface="MS Gothic" panose="020B0609070205080204" pitchFamily="49" charset="-128"/>
        <a:cs typeface="+mn-cs"/>
      </a:defRPr>
    </a:lvl1pPr>
    <a:lvl2pPr marL="457200" algn="l" defTabSz="449263" rtl="0" eaLnBrk="0" fontAlgn="base" hangingPunct="0">
      <a:spcBef>
        <a:spcPct val="0"/>
      </a:spcBef>
      <a:spcAft>
        <a:spcPct val="0"/>
      </a:spcAft>
      <a:defRPr sz="2400" kern="1200">
        <a:solidFill>
          <a:schemeClr val="bg1"/>
        </a:solidFill>
        <a:latin typeface="Arial" panose="020B0604020202020204" pitchFamily="34" charset="0"/>
        <a:ea typeface="MS Gothic" panose="020B0609070205080204" pitchFamily="49" charset="-128"/>
        <a:cs typeface="+mn-cs"/>
      </a:defRPr>
    </a:lvl2pPr>
    <a:lvl3pPr marL="914400" algn="l" defTabSz="449263" rtl="0" eaLnBrk="0" fontAlgn="base" hangingPunct="0">
      <a:spcBef>
        <a:spcPct val="0"/>
      </a:spcBef>
      <a:spcAft>
        <a:spcPct val="0"/>
      </a:spcAft>
      <a:defRPr sz="2400" kern="1200">
        <a:solidFill>
          <a:schemeClr val="bg1"/>
        </a:solidFill>
        <a:latin typeface="Arial" panose="020B0604020202020204" pitchFamily="34" charset="0"/>
        <a:ea typeface="MS Gothic" panose="020B0609070205080204" pitchFamily="49" charset="-128"/>
        <a:cs typeface="+mn-cs"/>
      </a:defRPr>
    </a:lvl3pPr>
    <a:lvl4pPr marL="1371600" algn="l" defTabSz="449263" rtl="0" eaLnBrk="0" fontAlgn="base" hangingPunct="0">
      <a:spcBef>
        <a:spcPct val="0"/>
      </a:spcBef>
      <a:spcAft>
        <a:spcPct val="0"/>
      </a:spcAft>
      <a:defRPr sz="2400" kern="1200">
        <a:solidFill>
          <a:schemeClr val="bg1"/>
        </a:solidFill>
        <a:latin typeface="Arial" panose="020B0604020202020204" pitchFamily="34" charset="0"/>
        <a:ea typeface="MS Gothic" panose="020B0609070205080204" pitchFamily="49" charset="-128"/>
        <a:cs typeface="+mn-cs"/>
      </a:defRPr>
    </a:lvl4pPr>
    <a:lvl5pPr marL="1828800" algn="l" defTabSz="449263" rtl="0" eaLnBrk="0" fontAlgn="base" hangingPunct="0">
      <a:spcBef>
        <a:spcPct val="0"/>
      </a:spcBef>
      <a:spcAft>
        <a:spcPct val="0"/>
      </a:spcAft>
      <a:defRPr sz="2400" kern="1200">
        <a:solidFill>
          <a:schemeClr val="bg1"/>
        </a:solidFill>
        <a:latin typeface="Arial" panose="020B0604020202020204" pitchFamily="34" charset="0"/>
        <a:ea typeface="MS Gothic" panose="020B0609070205080204" pitchFamily="49" charset="-128"/>
        <a:cs typeface="+mn-cs"/>
      </a:defRPr>
    </a:lvl5pPr>
    <a:lvl6pPr marL="2286000" algn="l" defTabSz="914400" rtl="0" eaLnBrk="1" latinLnBrk="0" hangingPunct="1">
      <a:defRPr sz="2400" kern="1200">
        <a:solidFill>
          <a:schemeClr val="bg1"/>
        </a:solidFill>
        <a:latin typeface="Arial" panose="020B0604020202020204" pitchFamily="34" charset="0"/>
        <a:ea typeface="MS Gothic" panose="020B0609070205080204" pitchFamily="49" charset="-128"/>
        <a:cs typeface="+mn-cs"/>
      </a:defRPr>
    </a:lvl6pPr>
    <a:lvl7pPr marL="2743200" algn="l" defTabSz="914400" rtl="0" eaLnBrk="1" latinLnBrk="0" hangingPunct="1">
      <a:defRPr sz="2400" kern="1200">
        <a:solidFill>
          <a:schemeClr val="bg1"/>
        </a:solidFill>
        <a:latin typeface="Arial" panose="020B0604020202020204" pitchFamily="34" charset="0"/>
        <a:ea typeface="MS Gothic" panose="020B0609070205080204" pitchFamily="49" charset="-128"/>
        <a:cs typeface="+mn-cs"/>
      </a:defRPr>
    </a:lvl7pPr>
    <a:lvl8pPr marL="3200400" algn="l" defTabSz="914400" rtl="0" eaLnBrk="1" latinLnBrk="0" hangingPunct="1">
      <a:defRPr sz="2400" kern="1200">
        <a:solidFill>
          <a:schemeClr val="bg1"/>
        </a:solidFill>
        <a:latin typeface="Arial" panose="020B0604020202020204" pitchFamily="34" charset="0"/>
        <a:ea typeface="MS Gothic" panose="020B0609070205080204" pitchFamily="49" charset="-128"/>
        <a:cs typeface="+mn-cs"/>
      </a:defRPr>
    </a:lvl8pPr>
    <a:lvl9pPr marL="3657600" algn="l" defTabSz="914400" rtl="0" eaLnBrk="1" latinLnBrk="0" hangingPunct="1">
      <a:defRPr sz="2400" kern="1200">
        <a:solidFill>
          <a:schemeClr val="bg1"/>
        </a:solidFill>
        <a:latin typeface="Arial" panose="020B0604020202020204" pitchFamily="34" charset="0"/>
        <a:ea typeface="MS Gothic" panose="020B0609070205080204" pitchFamily="49"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91">
          <p15:clr>
            <a:srgbClr val="A4A3A4"/>
          </p15:clr>
        </p15:guide>
        <p15:guide id="2" pos="291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3879B0-F02D-43C4-923C-5EE0191E4636}" v="1" dt="2020-01-15T22:15:31.1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35" autoAdjust="0"/>
    <p:restoredTop sz="85065" autoAdjust="0"/>
  </p:normalViewPr>
  <p:slideViewPr>
    <p:cSldViewPr>
      <p:cViewPr varScale="1">
        <p:scale>
          <a:sx n="87" d="100"/>
          <a:sy n="87" d="100"/>
        </p:scale>
        <p:origin x="804" y="102"/>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1818" y="-84"/>
      </p:cViewPr>
      <p:guideLst>
        <p:guide orient="horz" pos="2191"/>
        <p:guide pos="291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8418" name="Rectangle 2">
            <a:extLst>
              <a:ext uri="{FF2B5EF4-FFF2-40B4-BE49-F238E27FC236}">
                <a16:creationId xmlns:a16="http://schemas.microsoft.com/office/drawing/2014/main" id="{91A9BE24-3E0A-874B-BDDD-D76C116DB410}"/>
              </a:ext>
            </a:extLst>
          </p:cNvPr>
          <p:cNvSpPr>
            <a:spLocks noGrp="1" noChangeArrowheads="1"/>
          </p:cNvSpPr>
          <p:nvPr>
            <p:ph type="hdr" sz="quarter"/>
          </p:nvPr>
        </p:nvSpPr>
        <p:spPr bwMode="auto">
          <a:xfrm>
            <a:off x="0" y="0"/>
            <a:ext cx="4005263"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534" tIns="46267" rIns="92534" bIns="46267" numCol="1" anchor="t" anchorCtr="0" compatLnSpc="1">
            <a:prstTxWarp prst="textNoShape">
              <a:avLst/>
            </a:prstTxWarp>
          </a:bodyPr>
          <a:lstStyle>
            <a:lvl1pPr defTabSz="454025" eaLnBrk="1" hangingPunct="1">
              <a:lnSpc>
                <a:spcPct val="93000"/>
              </a:lnSpc>
              <a:buClr>
                <a:srgbClr val="003366"/>
              </a:buClr>
              <a:buSzPct val="100000"/>
              <a:buFont typeface="Arial" panose="020B0604020202020204" pitchFamily="34" charset="0"/>
              <a:buNone/>
              <a:defRPr sz="1200"/>
            </a:lvl1pPr>
          </a:lstStyle>
          <a:p>
            <a:pPr>
              <a:defRPr/>
            </a:pPr>
            <a:endParaRPr lang="en-CA" altLang="en-US"/>
          </a:p>
        </p:txBody>
      </p:sp>
      <p:sp>
        <p:nvSpPr>
          <p:cNvPr id="188419" name="Rectangle 3">
            <a:extLst>
              <a:ext uri="{FF2B5EF4-FFF2-40B4-BE49-F238E27FC236}">
                <a16:creationId xmlns:a16="http://schemas.microsoft.com/office/drawing/2014/main" id="{04BD55C3-E50A-B34C-BE1B-08F016738F1C}"/>
              </a:ext>
            </a:extLst>
          </p:cNvPr>
          <p:cNvSpPr>
            <a:spLocks noGrp="1" noChangeArrowheads="1"/>
          </p:cNvSpPr>
          <p:nvPr>
            <p:ph type="dt" sz="quarter" idx="1"/>
          </p:nvPr>
        </p:nvSpPr>
        <p:spPr bwMode="auto">
          <a:xfrm>
            <a:off x="5235575" y="0"/>
            <a:ext cx="4005263"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534" tIns="46267" rIns="92534" bIns="46267" numCol="1" anchor="t" anchorCtr="0" compatLnSpc="1">
            <a:prstTxWarp prst="textNoShape">
              <a:avLst/>
            </a:prstTxWarp>
          </a:bodyPr>
          <a:lstStyle>
            <a:lvl1pPr algn="r" defTabSz="454025" eaLnBrk="1" hangingPunct="1">
              <a:lnSpc>
                <a:spcPct val="93000"/>
              </a:lnSpc>
              <a:buClr>
                <a:srgbClr val="003366"/>
              </a:buClr>
              <a:buSzPct val="100000"/>
              <a:buFont typeface="Arial" panose="020B0604020202020204" pitchFamily="34" charset="0"/>
              <a:buNone/>
              <a:defRPr sz="1200"/>
            </a:lvl1pPr>
          </a:lstStyle>
          <a:p>
            <a:pPr>
              <a:defRPr/>
            </a:pPr>
            <a:endParaRPr lang="en-CA" altLang="en-US"/>
          </a:p>
        </p:txBody>
      </p:sp>
      <p:sp>
        <p:nvSpPr>
          <p:cNvPr id="188420" name="Rectangle 4">
            <a:extLst>
              <a:ext uri="{FF2B5EF4-FFF2-40B4-BE49-F238E27FC236}">
                <a16:creationId xmlns:a16="http://schemas.microsoft.com/office/drawing/2014/main" id="{FE85DAAA-194A-8048-95CB-E57493984693}"/>
              </a:ext>
            </a:extLst>
          </p:cNvPr>
          <p:cNvSpPr>
            <a:spLocks noGrp="1" noChangeArrowheads="1"/>
          </p:cNvSpPr>
          <p:nvPr>
            <p:ph type="ftr" sz="quarter" idx="2"/>
          </p:nvPr>
        </p:nvSpPr>
        <p:spPr bwMode="auto">
          <a:xfrm>
            <a:off x="0" y="6607175"/>
            <a:ext cx="4005263"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534" tIns="46267" rIns="92534" bIns="46267" numCol="1" anchor="b" anchorCtr="0" compatLnSpc="1">
            <a:prstTxWarp prst="textNoShape">
              <a:avLst/>
            </a:prstTxWarp>
          </a:bodyPr>
          <a:lstStyle>
            <a:lvl1pPr defTabSz="454025" eaLnBrk="1" hangingPunct="1">
              <a:lnSpc>
                <a:spcPct val="93000"/>
              </a:lnSpc>
              <a:buClr>
                <a:srgbClr val="003366"/>
              </a:buClr>
              <a:buSzPct val="100000"/>
              <a:buFont typeface="Arial" panose="020B0604020202020204" pitchFamily="34" charset="0"/>
              <a:buNone/>
              <a:defRPr sz="1200"/>
            </a:lvl1pPr>
          </a:lstStyle>
          <a:p>
            <a:pPr>
              <a:defRPr/>
            </a:pPr>
            <a:endParaRPr lang="en-CA" altLang="en-US"/>
          </a:p>
        </p:txBody>
      </p:sp>
      <p:sp>
        <p:nvSpPr>
          <p:cNvPr id="188421" name="Rectangle 5">
            <a:extLst>
              <a:ext uri="{FF2B5EF4-FFF2-40B4-BE49-F238E27FC236}">
                <a16:creationId xmlns:a16="http://schemas.microsoft.com/office/drawing/2014/main" id="{ABFC69E3-A1D3-0A46-B5A6-A9D76323DA37}"/>
              </a:ext>
            </a:extLst>
          </p:cNvPr>
          <p:cNvSpPr>
            <a:spLocks noGrp="1" noChangeArrowheads="1"/>
          </p:cNvSpPr>
          <p:nvPr>
            <p:ph type="sldNum" sz="quarter" idx="3"/>
          </p:nvPr>
        </p:nvSpPr>
        <p:spPr bwMode="auto">
          <a:xfrm>
            <a:off x="5235575" y="6607175"/>
            <a:ext cx="4005263"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534" tIns="46267" rIns="92534" bIns="46267" numCol="1" anchor="b" anchorCtr="0" compatLnSpc="1">
            <a:prstTxWarp prst="textNoShape">
              <a:avLst/>
            </a:prstTxWarp>
          </a:bodyPr>
          <a:lstStyle>
            <a:lvl1pPr algn="r" defTabSz="454025" eaLnBrk="1" hangingPunct="1">
              <a:lnSpc>
                <a:spcPct val="93000"/>
              </a:lnSpc>
              <a:buClr>
                <a:srgbClr val="003366"/>
              </a:buClr>
              <a:buSzPct val="100000"/>
              <a:buFont typeface="Arial" panose="020B0604020202020204" pitchFamily="34" charset="0"/>
              <a:buNone/>
              <a:defRPr sz="1200"/>
            </a:lvl1pPr>
          </a:lstStyle>
          <a:p>
            <a:pPr>
              <a:defRPr/>
            </a:pPr>
            <a:fld id="{92D09475-1613-4A7E-95F7-367ACBB40EA1}" type="slidenum">
              <a:rPr lang="en-CA" altLang="en-US"/>
              <a:pPr>
                <a:defRPr/>
              </a:pPr>
              <a:t>‹#›</a:t>
            </a:fld>
            <a:endParaRPr lang="en-CA"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Rectangle 1">
            <a:extLst>
              <a:ext uri="{FF2B5EF4-FFF2-40B4-BE49-F238E27FC236}">
                <a16:creationId xmlns:a16="http://schemas.microsoft.com/office/drawing/2014/main" id="{FE36654F-96E8-C544-B18F-E0A338A3EF22}"/>
              </a:ext>
            </a:extLst>
          </p:cNvPr>
          <p:cNvSpPr>
            <a:spLocks noGrp="1" noRot="1" noChangeAspect="1" noChangeArrowheads="1"/>
          </p:cNvSpPr>
          <p:nvPr>
            <p:ph type="sldImg"/>
          </p:nvPr>
        </p:nvSpPr>
        <p:spPr bwMode="auto">
          <a:xfrm>
            <a:off x="0" y="528638"/>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sp>
      <p:sp>
        <p:nvSpPr>
          <p:cNvPr id="3074" name="Rectangle 2">
            <a:extLst>
              <a:ext uri="{FF2B5EF4-FFF2-40B4-BE49-F238E27FC236}">
                <a16:creationId xmlns:a16="http://schemas.microsoft.com/office/drawing/2014/main" id="{11A6092F-4066-8E44-8022-81011BAF8A66}"/>
              </a:ext>
            </a:extLst>
          </p:cNvPr>
          <p:cNvSpPr>
            <a:spLocks noGrp="1" noChangeArrowheads="1"/>
          </p:cNvSpPr>
          <p:nvPr>
            <p:ph type="body"/>
          </p:nvPr>
        </p:nvSpPr>
        <p:spPr bwMode="auto">
          <a:xfrm>
            <a:off x="923925" y="3303588"/>
            <a:ext cx="7391400" cy="312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endParaRPr lang="en-CA" altLang="en-US" noProof="0"/>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charset="0"/>
        <a:ea typeface="+mn-ea"/>
        <a:cs typeface="+mn-cs"/>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charset="0"/>
        <a:ea typeface="+mn-ea"/>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charset="0"/>
        <a:ea typeface="+mn-ea"/>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charset="0"/>
        <a:ea typeface="+mn-ea"/>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Web Server Data (Feb 2019) https://en.wikipedia.org/wiki/Web_server</a:t>
            </a:r>
          </a:p>
        </p:txBody>
      </p:sp>
    </p:spTree>
    <p:extLst>
      <p:ext uri="{BB962C8B-B14F-4D97-AF65-F5344CB8AC3E}">
        <p14:creationId xmlns:p14="http://schemas.microsoft.com/office/powerpoint/2010/main" val="29826635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9745352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974434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34243581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B3CA9D-B9D9-A247-B9CF-8FDA290027B5}"/>
              </a:ext>
            </a:extLst>
          </p:cNvPr>
          <p:cNvSpPr>
            <a:spLocks noGrp="1" noRot="1" noChangeAspect="1"/>
          </p:cNvSpPr>
          <p:nvPr>
            <p:ph type="sldImg"/>
          </p:nvPr>
        </p:nvSpPr>
        <p:spPr/>
      </p:sp>
      <p:sp>
        <p:nvSpPr>
          <p:cNvPr id="39939" name="Notes Placeholder 2">
            <a:extLst>
              <a:ext uri="{FF2B5EF4-FFF2-40B4-BE49-F238E27FC236}">
                <a16:creationId xmlns:a16="http://schemas.microsoft.com/office/drawing/2014/main" id="{1C6AC989-1C26-1D49-9584-8B92974B3BF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93C884-8554-AA4C-B210-AD06E99B663F}"/>
              </a:ext>
            </a:extLst>
          </p:cNvPr>
          <p:cNvSpPr>
            <a:spLocks noGrp="1" noRot="1" noChangeAspect="1"/>
          </p:cNvSpPr>
          <p:nvPr>
            <p:ph type="sldImg"/>
          </p:nvPr>
        </p:nvSpPr>
        <p:spPr/>
      </p:sp>
      <p:sp>
        <p:nvSpPr>
          <p:cNvPr id="41987" name="Notes Placeholder 2">
            <a:extLst>
              <a:ext uri="{FF2B5EF4-FFF2-40B4-BE49-F238E27FC236}">
                <a16:creationId xmlns:a16="http://schemas.microsoft.com/office/drawing/2014/main" id="{A6649C79-5D04-9B4B-A495-8DE0156A754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93C884-8554-AA4C-B210-AD06E99B663F}"/>
              </a:ext>
            </a:extLst>
          </p:cNvPr>
          <p:cNvSpPr>
            <a:spLocks noGrp="1" noRot="1" noChangeAspect="1"/>
          </p:cNvSpPr>
          <p:nvPr>
            <p:ph type="sldImg"/>
          </p:nvPr>
        </p:nvSpPr>
        <p:spPr/>
      </p:sp>
      <p:sp>
        <p:nvSpPr>
          <p:cNvPr id="41987" name="Notes Placeholder 2">
            <a:extLst>
              <a:ext uri="{FF2B5EF4-FFF2-40B4-BE49-F238E27FC236}">
                <a16:creationId xmlns:a16="http://schemas.microsoft.com/office/drawing/2014/main" id="{A6649C79-5D04-9B4B-A495-8DE0156A754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19468960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27675391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791102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12111963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12736679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15976522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6506665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26686607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23976827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22341520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33449270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5405434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600726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21443890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25983041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38445985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36368755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6646184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14117660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22556068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37881544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23332219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11891454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28513697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18982179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15619428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31664334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31353780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Tree>
    <p:extLst>
      <p:ext uri="{BB962C8B-B14F-4D97-AF65-F5344CB8AC3E}">
        <p14:creationId xmlns:p14="http://schemas.microsoft.com/office/powerpoint/2010/main" val="35558079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blipFill dpi="0" rotWithShape="1">
            <a:blip r:embed="rId2">
              <a:alphaModFix amt="80000"/>
            </a:blip>
            <a:srcRect/>
            <a:tile tx="0" ty="0" sx="100000" sy="100000" flip="none" algn="tl"/>
          </a:blipFill>
        </p:spPr>
        <p:txBody>
          <a:bodyPr anchor="b"/>
          <a:lstStyle>
            <a:lvl1pPr algn="ctr">
              <a:defRPr sz="4500"/>
            </a:lvl1pPr>
          </a:lstStyle>
          <a:p>
            <a:r>
              <a:rPr lang="en-US"/>
              <a:t>Click to edit Master title style</a:t>
            </a:r>
            <a:endParaRPr lang="en-IE"/>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757A4F36-74CF-4585-9E69-4D8EE78F3891}"/>
              </a:ext>
            </a:extLst>
          </p:cNvPr>
          <p:cNvSpPr>
            <a:spLocks noGrp="1"/>
          </p:cNvSpPr>
          <p:nvPr>
            <p:ph type="dt" sz="half" idx="10"/>
          </p:nvPr>
        </p:nvSpPr>
        <p:spPr/>
        <p:txBody>
          <a:bodyPr/>
          <a:lstStyle>
            <a:lvl1pPr>
              <a:defRPr sz="1100"/>
            </a:lvl1pPr>
          </a:lstStyle>
          <a:p>
            <a:pPr>
              <a:defRPr/>
            </a:pPr>
            <a:fld id="{F2ADB1EB-21D0-465A-A4F6-D358BC4ABF38}" type="datetime1">
              <a:rPr lang="en-IE"/>
              <a:pPr>
                <a:defRPr/>
              </a:pPr>
              <a:t>01/10/2020</a:t>
            </a:fld>
            <a:endParaRPr lang="en-US" dirty="0"/>
          </a:p>
        </p:txBody>
      </p:sp>
      <p:sp>
        <p:nvSpPr>
          <p:cNvPr id="5" name="Footer Placeholder 4">
            <a:extLst>
              <a:ext uri="{FF2B5EF4-FFF2-40B4-BE49-F238E27FC236}">
                <a16:creationId xmlns:a16="http://schemas.microsoft.com/office/drawing/2014/main" id="{5A59FA11-EE57-418F-9851-CBC2CD5A203E}"/>
              </a:ext>
            </a:extLst>
          </p:cNvPr>
          <p:cNvSpPr>
            <a:spLocks noGrp="1"/>
          </p:cNvSpPr>
          <p:nvPr>
            <p:ph type="ftr" sz="quarter" idx="11"/>
          </p:nvPr>
        </p:nvSpPr>
        <p:spPr/>
        <p:txBody>
          <a:bodyPr/>
          <a:lstStyle>
            <a:lvl1pPr>
              <a:defRPr sz="1100"/>
            </a:lvl1pPr>
          </a:lstStyle>
          <a:p>
            <a:pPr>
              <a:defRPr/>
            </a:pPr>
            <a:r>
              <a:rPr lang="en-IE" dirty="0"/>
              <a:t>Server Side Web Development (2020)</a:t>
            </a:r>
            <a:endParaRPr lang="en-GB" dirty="0"/>
          </a:p>
        </p:txBody>
      </p:sp>
      <p:sp>
        <p:nvSpPr>
          <p:cNvPr id="6" name="Slide Number Placeholder 5">
            <a:extLst>
              <a:ext uri="{FF2B5EF4-FFF2-40B4-BE49-F238E27FC236}">
                <a16:creationId xmlns:a16="http://schemas.microsoft.com/office/drawing/2014/main" id="{9A5BC6FA-9FA3-48A0-914D-E50C723F6E79}"/>
              </a:ext>
            </a:extLst>
          </p:cNvPr>
          <p:cNvSpPr>
            <a:spLocks noGrp="1"/>
          </p:cNvSpPr>
          <p:nvPr>
            <p:ph type="sldNum" sz="quarter" idx="12"/>
          </p:nvPr>
        </p:nvSpPr>
        <p:spPr/>
        <p:txBody>
          <a:bodyPr/>
          <a:lstStyle>
            <a:lvl1pPr>
              <a:defRPr sz="1100"/>
            </a:lvl1pPr>
          </a:lstStyle>
          <a:p>
            <a:pPr>
              <a:defRPr/>
            </a:pPr>
            <a:fld id="{333C7E1D-9DAB-42D1-8482-8FE6500DE7C2}" type="slidenum">
              <a:rPr lang="en-GB" altLang="en-US"/>
              <a:pPr>
                <a:defRPr/>
              </a:pPr>
              <a:t>‹#›</a:t>
            </a:fld>
            <a:endParaRPr lang="en-GB" altLang="en-US" dirty="0"/>
          </a:p>
        </p:txBody>
      </p:sp>
    </p:spTree>
    <p:extLst>
      <p:ext uri="{BB962C8B-B14F-4D97-AF65-F5344CB8AC3E}">
        <p14:creationId xmlns:p14="http://schemas.microsoft.com/office/powerpoint/2010/main" val="318094466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6783E925-8EE5-460D-86AA-7BE1DD6F8FE7}"/>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15275" y="-34925"/>
            <a:ext cx="1116013" cy="731838"/>
          </a:xfrm>
          <a:prstGeom prst="rect">
            <a:avLst/>
          </a:prstGeom>
          <a:noFill/>
          <a:ln>
            <a:noFill/>
          </a:ln>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Placeholder 1">
            <a:extLst>
              <a:ext uri="{FF2B5EF4-FFF2-40B4-BE49-F238E27FC236}">
                <a16:creationId xmlns:a16="http://schemas.microsoft.com/office/drawing/2014/main" id="{C989E2CD-640D-3B43-8930-222211D617CC}"/>
              </a:ext>
            </a:extLst>
          </p:cNvPr>
          <p:cNvSpPr>
            <a:spLocks noGrp="1"/>
          </p:cNvSpPr>
          <p:nvPr>
            <p:ph type="title"/>
          </p:nvPr>
        </p:nvSpPr>
        <p:spPr>
          <a:xfrm>
            <a:off x="0" y="0"/>
            <a:ext cx="9144000" cy="687387"/>
          </a:xfrm>
          <a:prstGeom prst="rect">
            <a:avLst/>
          </a:prstGeom>
          <a:blipFill dpi="0" rotWithShape="1">
            <a:blip r:embed="rId3">
              <a:alphaModFix amt="80000"/>
            </a:blip>
            <a:srcRect/>
            <a:tile tx="0" ty="0" sx="100000" sy="100000" flip="none" algn="tl"/>
          </a:blipFill>
          <a:ln>
            <a:solidFill>
              <a:schemeClr val="bg2">
                <a:lumMod val="75000"/>
              </a:schemeClr>
            </a:solidFill>
          </a:ln>
          <a:effectLst>
            <a:outerShdw blurRad="50800" dist="38100" dir="5400000" algn="t" rotWithShape="0">
              <a:prstClr val="black">
                <a:alpha val="40000"/>
              </a:prstClr>
            </a:outerShdw>
          </a:effectLst>
        </p:spPr>
        <p:txBody>
          <a:bodyPr/>
          <a:lstStyle/>
          <a:p>
            <a:r>
              <a:rPr lang="en-US" dirty="0"/>
              <a:t>Click to edit Master title style</a:t>
            </a:r>
            <a:endParaRPr lang="en-IE"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E" dirty="0"/>
          </a:p>
        </p:txBody>
      </p:sp>
      <p:sp>
        <p:nvSpPr>
          <p:cNvPr id="5" name="Date Placeholder 3">
            <a:extLst>
              <a:ext uri="{FF2B5EF4-FFF2-40B4-BE49-F238E27FC236}">
                <a16:creationId xmlns:a16="http://schemas.microsoft.com/office/drawing/2014/main" id="{09439078-7D6E-4AED-B0E9-90C90975C0CC}"/>
              </a:ext>
            </a:extLst>
          </p:cNvPr>
          <p:cNvSpPr>
            <a:spLocks noGrp="1"/>
          </p:cNvSpPr>
          <p:nvPr>
            <p:ph type="dt" sz="half" idx="10"/>
          </p:nvPr>
        </p:nvSpPr>
        <p:spPr/>
        <p:txBody>
          <a:bodyPr/>
          <a:lstStyle>
            <a:lvl1pPr>
              <a:defRPr/>
            </a:lvl1pPr>
          </a:lstStyle>
          <a:p>
            <a:pPr>
              <a:defRPr/>
            </a:pPr>
            <a:fld id="{C2E34718-F39F-4D85-B42B-BFF47E1FFA2D}" type="datetime1">
              <a:rPr lang="en-IE"/>
              <a:pPr>
                <a:defRPr/>
              </a:pPr>
              <a:t>01/10/2020</a:t>
            </a:fld>
            <a:endParaRPr lang="en-US" dirty="0"/>
          </a:p>
        </p:txBody>
      </p:sp>
      <p:sp>
        <p:nvSpPr>
          <p:cNvPr id="6" name="Footer Placeholder 4">
            <a:extLst>
              <a:ext uri="{FF2B5EF4-FFF2-40B4-BE49-F238E27FC236}">
                <a16:creationId xmlns:a16="http://schemas.microsoft.com/office/drawing/2014/main" id="{80FC96FB-ED3F-4B94-815D-2E996FF1D7B7}"/>
              </a:ext>
            </a:extLst>
          </p:cNvPr>
          <p:cNvSpPr>
            <a:spLocks noGrp="1"/>
          </p:cNvSpPr>
          <p:nvPr>
            <p:ph type="ftr" sz="quarter" idx="11"/>
          </p:nvPr>
        </p:nvSpPr>
        <p:spPr/>
        <p:txBody>
          <a:bodyPr/>
          <a:lstStyle>
            <a:lvl1pPr>
              <a:defRPr/>
            </a:lvl1pPr>
          </a:lstStyle>
          <a:p>
            <a:pPr>
              <a:defRPr/>
            </a:pPr>
            <a:r>
              <a:rPr lang="en-IE" dirty="0"/>
              <a:t>Server Side Web Development (2020)</a:t>
            </a:r>
            <a:endParaRPr lang="en-GB" dirty="0"/>
          </a:p>
        </p:txBody>
      </p:sp>
      <p:sp>
        <p:nvSpPr>
          <p:cNvPr id="7" name="Slide Number Placeholder 5">
            <a:extLst>
              <a:ext uri="{FF2B5EF4-FFF2-40B4-BE49-F238E27FC236}">
                <a16:creationId xmlns:a16="http://schemas.microsoft.com/office/drawing/2014/main" id="{C10CB842-E137-4D74-B033-F9945966B510}"/>
              </a:ext>
            </a:extLst>
          </p:cNvPr>
          <p:cNvSpPr>
            <a:spLocks noGrp="1"/>
          </p:cNvSpPr>
          <p:nvPr>
            <p:ph type="sldNum" sz="quarter" idx="12"/>
          </p:nvPr>
        </p:nvSpPr>
        <p:spPr/>
        <p:txBody>
          <a:bodyPr/>
          <a:lstStyle>
            <a:lvl1pPr>
              <a:defRPr/>
            </a:lvl1pPr>
          </a:lstStyle>
          <a:p>
            <a:pPr>
              <a:defRPr/>
            </a:pPr>
            <a:fld id="{46E81209-073D-4689-B110-4E5DB93A113A}" type="slidenum">
              <a:rPr lang="en-GB" altLang="en-US"/>
              <a:pPr>
                <a:defRPr/>
              </a:pPr>
              <a:t>‹#›</a:t>
            </a:fld>
            <a:endParaRPr lang="en-GB" altLang="en-US"/>
          </a:p>
        </p:txBody>
      </p:sp>
    </p:spTree>
    <p:extLst>
      <p:ext uri="{BB962C8B-B14F-4D97-AF65-F5344CB8AC3E}">
        <p14:creationId xmlns:p14="http://schemas.microsoft.com/office/powerpoint/2010/main" val="3344512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blipFill dpi="0" rotWithShape="1">
            <a:blip r:embed="rId2">
              <a:alphaModFix amt="80000"/>
            </a:blip>
            <a:srcRect/>
            <a:tile tx="0" ty="0" sx="100000" sy="100000" flip="none" algn="tl"/>
          </a:blipFill>
        </p:spPr>
        <p:txBody>
          <a:bodyPr anchor="b"/>
          <a:lstStyle>
            <a:lvl1pPr>
              <a:defRPr sz="4500"/>
            </a:lvl1pPr>
          </a:lstStyle>
          <a:p>
            <a:r>
              <a:rPr lang="en-US"/>
              <a:t>Click to edit Master title style</a:t>
            </a:r>
            <a:endParaRPr lang="en-IE"/>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4EAC07-4EFA-460E-A867-B8C1A42A5216}"/>
              </a:ext>
            </a:extLst>
          </p:cNvPr>
          <p:cNvSpPr>
            <a:spLocks noGrp="1"/>
          </p:cNvSpPr>
          <p:nvPr>
            <p:ph type="dt" sz="half" idx="10"/>
          </p:nvPr>
        </p:nvSpPr>
        <p:spPr/>
        <p:txBody>
          <a:bodyPr/>
          <a:lstStyle>
            <a:lvl1pPr>
              <a:defRPr/>
            </a:lvl1pPr>
          </a:lstStyle>
          <a:p>
            <a:pPr>
              <a:defRPr/>
            </a:pPr>
            <a:fld id="{4A9F591A-12E8-41E7-8640-A1C324C158C4}" type="datetime1">
              <a:rPr lang="en-IE"/>
              <a:pPr>
                <a:defRPr/>
              </a:pPr>
              <a:t>01/10/2020</a:t>
            </a:fld>
            <a:endParaRPr lang="en-US" dirty="0"/>
          </a:p>
        </p:txBody>
      </p:sp>
      <p:sp>
        <p:nvSpPr>
          <p:cNvPr id="5" name="Footer Placeholder 4">
            <a:extLst>
              <a:ext uri="{FF2B5EF4-FFF2-40B4-BE49-F238E27FC236}">
                <a16:creationId xmlns:a16="http://schemas.microsoft.com/office/drawing/2014/main" id="{B8A328FF-33DD-4208-B551-0FFB1A60D45F}"/>
              </a:ext>
            </a:extLst>
          </p:cNvPr>
          <p:cNvSpPr>
            <a:spLocks noGrp="1"/>
          </p:cNvSpPr>
          <p:nvPr>
            <p:ph type="ftr" sz="quarter" idx="11"/>
          </p:nvPr>
        </p:nvSpPr>
        <p:spPr/>
        <p:txBody>
          <a:bodyPr/>
          <a:lstStyle>
            <a:lvl1pPr>
              <a:defRPr/>
            </a:lvl1pPr>
          </a:lstStyle>
          <a:p>
            <a:pPr>
              <a:defRPr/>
            </a:pPr>
            <a:r>
              <a:rPr lang="en-IE" dirty="0"/>
              <a:t>Server Side Web Development (2020)</a:t>
            </a:r>
            <a:endParaRPr lang="en-GB" dirty="0"/>
          </a:p>
        </p:txBody>
      </p:sp>
      <p:sp>
        <p:nvSpPr>
          <p:cNvPr id="6" name="Slide Number Placeholder 5">
            <a:extLst>
              <a:ext uri="{FF2B5EF4-FFF2-40B4-BE49-F238E27FC236}">
                <a16:creationId xmlns:a16="http://schemas.microsoft.com/office/drawing/2014/main" id="{BEA2FEB1-67A4-4CDC-8A4A-4791E85259E0}"/>
              </a:ext>
            </a:extLst>
          </p:cNvPr>
          <p:cNvSpPr>
            <a:spLocks noGrp="1"/>
          </p:cNvSpPr>
          <p:nvPr>
            <p:ph type="sldNum" sz="quarter" idx="12"/>
          </p:nvPr>
        </p:nvSpPr>
        <p:spPr/>
        <p:txBody>
          <a:bodyPr/>
          <a:lstStyle>
            <a:lvl1pPr>
              <a:defRPr/>
            </a:lvl1pPr>
          </a:lstStyle>
          <a:p>
            <a:pPr>
              <a:defRPr/>
            </a:pPr>
            <a:fld id="{B0B5EFEA-F238-428C-94FE-4A972451E92B}" type="slidenum">
              <a:rPr lang="en-GB" altLang="en-US"/>
              <a:pPr>
                <a:defRPr/>
              </a:pPr>
              <a:t>‹#›</a:t>
            </a:fld>
            <a:endParaRPr lang="en-GB" altLang="en-US"/>
          </a:p>
        </p:txBody>
      </p:sp>
    </p:spTree>
    <p:extLst>
      <p:ext uri="{BB962C8B-B14F-4D97-AF65-F5344CB8AC3E}">
        <p14:creationId xmlns:p14="http://schemas.microsoft.com/office/powerpoint/2010/main" val="4127530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5" name="Picture 6">
            <a:extLst>
              <a:ext uri="{FF2B5EF4-FFF2-40B4-BE49-F238E27FC236}">
                <a16:creationId xmlns:a16="http://schemas.microsoft.com/office/drawing/2014/main" id="{FDBE5AA8-4D06-43C7-8E37-CA53C4E85B10}"/>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15275" y="-34925"/>
            <a:ext cx="1116013" cy="731838"/>
          </a:xfrm>
          <a:prstGeom prst="rect">
            <a:avLst/>
          </a:prstGeom>
          <a:noFill/>
          <a:ln>
            <a:noFill/>
          </a:ln>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blipFill dpi="0" rotWithShape="1">
            <a:blip r:embed="rId3">
              <a:alphaModFix amt="80000"/>
            </a:blip>
            <a:srcRect/>
            <a:tile tx="0" ty="0" sx="100000" sy="100000" flip="none" algn="tl"/>
          </a:blipFill>
        </p:spPr>
        <p:txBody>
          <a:bodyPr/>
          <a:lstStyle/>
          <a:p>
            <a:r>
              <a:rPr lang="en-US" dirty="0"/>
              <a:t>Click to edit Master title style</a:t>
            </a:r>
            <a:endParaRPr lang="en-IE"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Date Placeholder 4">
            <a:extLst>
              <a:ext uri="{FF2B5EF4-FFF2-40B4-BE49-F238E27FC236}">
                <a16:creationId xmlns:a16="http://schemas.microsoft.com/office/drawing/2014/main" id="{7E01E006-D690-42BA-B2DF-DA4AE5DF8D62}"/>
              </a:ext>
            </a:extLst>
          </p:cNvPr>
          <p:cNvSpPr>
            <a:spLocks noGrp="1"/>
          </p:cNvSpPr>
          <p:nvPr>
            <p:ph type="dt" sz="half" idx="10"/>
          </p:nvPr>
        </p:nvSpPr>
        <p:spPr/>
        <p:txBody>
          <a:bodyPr/>
          <a:lstStyle>
            <a:lvl1pPr>
              <a:defRPr/>
            </a:lvl1pPr>
          </a:lstStyle>
          <a:p>
            <a:pPr>
              <a:defRPr/>
            </a:pPr>
            <a:fld id="{BBEE0B98-F5E7-4153-9CC3-DF1EC6C1B9CA}" type="datetime1">
              <a:rPr lang="en-IE"/>
              <a:pPr>
                <a:defRPr/>
              </a:pPr>
              <a:t>01/10/2020</a:t>
            </a:fld>
            <a:endParaRPr lang="en-US" dirty="0"/>
          </a:p>
        </p:txBody>
      </p:sp>
      <p:sp>
        <p:nvSpPr>
          <p:cNvPr id="7" name="Footer Placeholder 5">
            <a:extLst>
              <a:ext uri="{FF2B5EF4-FFF2-40B4-BE49-F238E27FC236}">
                <a16:creationId xmlns:a16="http://schemas.microsoft.com/office/drawing/2014/main" id="{153E0311-923C-4E70-8E0F-68704656358C}"/>
              </a:ext>
            </a:extLst>
          </p:cNvPr>
          <p:cNvSpPr>
            <a:spLocks noGrp="1"/>
          </p:cNvSpPr>
          <p:nvPr>
            <p:ph type="ftr" sz="quarter" idx="11"/>
          </p:nvPr>
        </p:nvSpPr>
        <p:spPr/>
        <p:txBody>
          <a:bodyPr/>
          <a:lstStyle>
            <a:lvl1pPr>
              <a:defRPr/>
            </a:lvl1pPr>
          </a:lstStyle>
          <a:p>
            <a:pPr>
              <a:defRPr/>
            </a:pPr>
            <a:r>
              <a:rPr lang="en-IE" dirty="0"/>
              <a:t>Server Side Web Development (2020)</a:t>
            </a:r>
            <a:endParaRPr lang="en-GB" dirty="0"/>
          </a:p>
        </p:txBody>
      </p:sp>
      <p:sp>
        <p:nvSpPr>
          <p:cNvPr id="8" name="Slide Number Placeholder 6">
            <a:extLst>
              <a:ext uri="{FF2B5EF4-FFF2-40B4-BE49-F238E27FC236}">
                <a16:creationId xmlns:a16="http://schemas.microsoft.com/office/drawing/2014/main" id="{6E6DDF4B-18D6-47C5-A3A9-3C1A385D222D}"/>
              </a:ext>
            </a:extLst>
          </p:cNvPr>
          <p:cNvSpPr>
            <a:spLocks noGrp="1"/>
          </p:cNvSpPr>
          <p:nvPr>
            <p:ph type="sldNum" sz="quarter" idx="12"/>
          </p:nvPr>
        </p:nvSpPr>
        <p:spPr/>
        <p:txBody>
          <a:bodyPr/>
          <a:lstStyle>
            <a:lvl1pPr>
              <a:defRPr/>
            </a:lvl1pPr>
          </a:lstStyle>
          <a:p>
            <a:pPr>
              <a:defRPr/>
            </a:pPr>
            <a:fld id="{DF9F93E1-79F6-4369-B338-8A40D7AE21CD}" type="slidenum">
              <a:rPr lang="en-GB" altLang="en-US"/>
              <a:pPr>
                <a:defRPr/>
              </a:pPr>
              <a:t>‹#›</a:t>
            </a:fld>
            <a:endParaRPr lang="en-GB" altLang="en-US" dirty="0"/>
          </a:p>
        </p:txBody>
      </p:sp>
    </p:spTree>
    <p:extLst>
      <p:ext uri="{BB962C8B-B14F-4D97-AF65-F5344CB8AC3E}">
        <p14:creationId xmlns:p14="http://schemas.microsoft.com/office/powerpoint/2010/main" val="3833815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6011A48-AAE1-4C02-B074-0F4A7334485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15275" y="-34925"/>
            <a:ext cx="1116013" cy="731838"/>
          </a:xfrm>
          <a:prstGeom prst="rect">
            <a:avLst/>
          </a:prstGeom>
          <a:noFill/>
          <a:ln>
            <a:noFill/>
          </a:ln>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itle 1">
            <a:extLst>
              <a:ext uri="{FF2B5EF4-FFF2-40B4-BE49-F238E27FC236}">
                <a16:creationId xmlns:a16="http://schemas.microsoft.com/office/drawing/2014/main" id="{06264004-4D96-7643-A8F8-366DDEBA7538}"/>
              </a:ext>
            </a:extLst>
          </p:cNvPr>
          <p:cNvSpPr>
            <a:spLocks noGrp="1"/>
          </p:cNvSpPr>
          <p:nvPr>
            <p:ph type="title"/>
          </p:nvPr>
        </p:nvSpPr>
        <p:spPr>
          <a:xfrm>
            <a:off x="0" y="0"/>
            <a:ext cx="9144000" cy="687387"/>
          </a:xfrm>
          <a:blipFill dpi="0" rotWithShape="1">
            <a:blip r:embed="rId3">
              <a:alphaModFix amt="80000"/>
            </a:blip>
            <a:srcRect/>
            <a:tile tx="0" ty="0" sx="100000" sy="100000" flip="none" algn="tl"/>
          </a:blipFill>
        </p:spPr>
        <p:txBody>
          <a:bodyPr/>
          <a:lstStyle/>
          <a:p>
            <a:r>
              <a:rPr lang="en-US" dirty="0"/>
              <a:t>Click to edit Master title style</a:t>
            </a:r>
            <a:endParaRPr lang="en-IE" dirty="0"/>
          </a:p>
        </p:txBody>
      </p:sp>
      <p:sp>
        <p:nvSpPr>
          <p:cNvPr id="3" name="Text Placeholder 2"/>
          <p:cNvSpPr>
            <a:spLocks noGrp="1"/>
          </p:cNvSpPr>
          <p:nvPr>
            <p:ph type="body" idx="1"/>
          </p:nvPr>
        </p:nvSpPr>
        <p:spPr>
          <a:xfrm>
            <a:off x="156942" y="1052735"/>
            <a:ext cx="4343050" cy="4320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56942" y="1556792"/>
            <a:ext cx="4343050" cy="4632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4629150" y="1052735"/>
            <a:ext cx="4406831" cy="4320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556792"/>
            <a:ext cx="4406831" cy="4632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8" name="Date Placeholder 6">
            <a:extLst>
              <a:ext uri="{FF2B5EF4-FFF2-40B4-BE49-F238E27FC236}">
                <a16:creationId xmlns:a16="http://schemas.microsoft.com/office/drawing/2014/main" id="{C39BE1FD-052F-4DDB-B637-EE362A874116}"/>
              </a:ext>
            </a:extLst>
          </p:cNvPr>
          <p:cNvSpPr>
            <a:spLocks noGrp="1"/>
          </p:cNvSpPr>
          <p:nvPr>
            <p:ph type="dt" sz="half" idx="10"/>
          </p:nvPr>
        </p:nvSpPr>
        <p:spPr/>
        <p:txBody>
          <a:bodyPr/>
          <a:lstStyle>
            <a:lvl1pPr>
              <a:defRPr/>
            </a:lvl1pPr>
          </a:lstStyle>
          <a:p>
            <a:pPr>
              <a:defRPr/>
            </a:pPr>
            <a:fld id="{C255C045-8CDF-4CF3-BEC5-E7FE4B5D29A2}" type="datetime1">
              <a:rPr lang="en-IE"/>
              <a:pPr>
                <a:defRPr/>
              </a:pPr>
              <a:t>01/10/2020</a:t>
            </a:fld>
            <a:endParaRPr lang="en-US" dirty="0"/>
          </a:p>
        </p:txBody>
      </p:sp>
      <p:sp>
        <p:nvSpPr>
          <p:cNvPr id="9" name="Footer Placeholder 7">
            <a:extLst>
              <a:ext uri="{FF2B5EF4-FFF2-40B4-BE49-F238E27FC236}">
                <a16:creationId xmlns:a16="http://schemas.microsoft.com/office/drawing/2014/main" id="{4733276E-9DFC-4C1E-AB0D-E34838518438}"/>
              </a:ext>
            </a:extLst>
          </p:cNvPr>
          <p:cNvSpPr>
            <a:spLocks noGrp="1"/>
          </p:cNvSpPr>
          <p:nvPr>
            <p:ph type="ftr" sz="quarter" idx="11"/>
          </p:nvPr>
        </p:nvSpPr>
        <p:spPr/>
        <p:txBody>
          <a:bodyPr/>
          <a:lstStyle>
            <a:lvl1pPr>
              <a:defRPr/>
            </a:lvl1pPr>
          </a:lstStyle>
          <a:p>
            <a:pPr>
              <a:defRPr/>
            </a:pPr>
            <a:r>
              <a:rPr lang="en-IE" dirty="0"/>
              <a:t>Server Side Web Development (2020)</a:t>
            </a:r>
            <a:endParaRPr lang="en-GB" dirty="0"/>
          </a:p>
        </p:txBody>
      </p:sp>
      <p:sp>
        <p:nvSpPr>
          <p:cNvPr id="10" name="Slide Number Placeholder 8">
            <a:extLst>
              <a:ext uri="{FF2B5EF4-FFF2-40B4-BE49-F238E27FC236}">
                <a16:creationId xmlns:a16="http://schemas.microsoft.com/office/drawing/2014/main" id="{B46AC7E5-0AF5-4737-B9B3-BE7162B79E99}"/>
              </a:ext>
            </a:extLst>
          </p:cNvPr>
          <p:cNvSpPr>
            <a:spLocks noGrp="1"/>
          </p:cNvSpPr>
          <p:nvPr>
            <p:ph type="sldNum" sz="quarter" idx="12"/>
          </p:nvPr>
        </p:nvSpPr>
        <p:spPr/>
        <p:txBody>
          <a:bodyPr/>
          <a:lstStyle>
            <a:lvl1pPr>
              <a:defRPr/>
            </a:lvl1pPr>
          </a:lstStyle>
          <a:p>
            <a:pPr>
              <a:defRPr/>
            </a:pPr>
            <a:fld id="{179661C4-9D60-42F6-8004-993E53173279}" type="slidenum">
              <a:rPr lang="en-GB" altLang="en-US"/>
              <a:pPr>
                <a:defRPr/>
              </a:pPr>
              <a:t>‹#›</a:t>
            </a:fld>
            <a:endParaRPr lang="en-GB" altLang="en-US"/>
          </a:p>
        </p:txBody>
      </p:sp>
    </p:spTree>
    <p:extLst>
      <p:ext uri="{BB962C8B-B14F-4D97-AF65-F5344CB8AC3E}">
        <p14:creationId xmlns:p14="http://schemas.microsoft.com/office/powerpoint/2010/main" val="3446510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331E26-1B17-4314-B178-B994B88E7659}"/>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15275" y="-34925"/>
            <a:ext cx="1116013" cy="731838"/>
          </a:xfrm>
          <a:prstGeom prst="rect">
            <a:avLst/>
          </a:prstGeom>
          <a:noFill/>
          <a:ln>
            <a:noFill/>
          </a:ln>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blipFill dpi="0" rotWithShape="1">
            <a:blip r:embed="rId3">
              <a:alphaModFix amt="80000"/>
            </a:blip>
            <a:srcRect/>
            <a:tile tx="0" ty="0" sx="100000" sy="100000" flip="none" algn="tl"/>
          </a:blipFill>
        </p:spPr>
        <p:txBody>
          <a:bodyPr/>
          <a:lstStyle/>
          <a:p>
            <a:r>
              <a:rPr lang="en-US"/>
              <a:t>Click to edit Master title style</a:t>
            </a:r>
            <a:endParaRPr lang="en-IE"/>
          </a:p>
        </p:txBody>
      </p:sp>
      <p:sp>
        <p:nvSpPr>
          <p:cNvPr id="4" name="Date Placeholder 2">
            <a:extLst>
              <a:ext uri="{FF2B5EF4-FFF2-40B4-BE49-F238E27FC236}">
                <a16:creationId xmlns:a16="http://schemas.microsoft.com/office/drawing/2014/main" id="{03F4E79E-5EF8-4B70-B739-BF5EB4163E5F}"/>
              </a:ext>
            </a:extLst>
          </p:cNvPr>
          <p:cNvSpPr>
            <a:spLocks noGrp="1"/>
          </p:cNvSpPr>
          <p:nvPr>
            <p:ph type="dt" sz="half" idx="10"/>
          </p:nvPr>
        </p:nvSpPr>
        <p:spPr/>
        <p:txBody>
          <a:bodyPr/>
          <a:lstStyle>
            <a:lvl1pPr>
              <a:defRPr/>
            </a:lvl1pPr>
          </a:lstStyle>
          <a:p>
            <a:pPr>
              <a:defRPr/>
            </a:pPr>
            <a:fld id="{7456D5BE-00EF-4DA6-BDF1-9660FC5AC2C1}" type="datetime1">
              <a:rPr lang="en-IE"/>
              <a:pPr>
                <a:defRPr/>
              </a:pPr>
              <a:t>01/10/2020</a:t>
            </a:fld>
            <a:endParaRPr lang="en-US" dirty="0"/>
          </a:p>
        </p:txBody>
      </p:sp>
      <p:sp>
        <p:nvSpPr>
          <p:cNvPr id="5" name="Footer Placeholder 3">
            <a:extLst>
              <a:ext uri="{FF2B5EF4-FFF2-40B4-BE49-F238E27FC236}">
                <a16:creationId xmlns:a16="http://schemas.microsoft.com/office/drawing/2014/main" id="{D9162251-1FE0-49F0-9666-3AB9A71F8FC2}"/>
              </a:ext>
            </a:extLst>
          </p:cNvPr>
          <p:cNvSpPr>
            <a:spLocks noGrp="1"/>
          </p:cNvSpPr>
          <p:nvPr>
            <p:ph type="ftr" sz="quarter" idx="11"/>
          </p:nvPr>
        </p:nvSpPr>
        <p:spPr/>
        <p:txBody>
          <a:bodyPr/>
          <a:lstStyle>
            <a:lvl1pPr>
              <a:defRPr/>
            </a:lvl1pPr>
          </a:lstStyle>
          <a:p>
            <a:pPr>
              <a:defRPr/>
            </a:pPr>
            <a:r>
              <a:rPr lang="en-IE" dirty="0"/>
              <a:t>Server Side Web Development (2020)</a:t>
            </a:r>
            <a:endParaRPr lang="en-GB" dirty="0"/>
          </a:p>
        </p:txBody>
      </p:sp>
      <p:sp>
        <p:nvSpPr>
          <p:cNvPr id="6" name="Slide Number Placeholder 4">
            <a:extLst>
              <a:ext uri="{FF2B5EF4-FFF2-40B4-BE49-F238E27FC236}">
                <a16:creationId xmlns:a16="http://schemas.microsoft.com/office/drawing/2014/main" id="{BD2076ED-E9D8-48EB-9581-D01CD246136A}"/>
              </a:ext>
            </a:extLst>
          </p:cNvPr>
          <p:cNvSpPr>
            <a:spLocks noGrp="1"/>
          </p:cNvSpPr>
          <p:nvPr>
            <p:ph type="sldNum" sz="quarter" idx="12"/>
          </p:nvPr>
        </p:nvSpPr>
        <p:spPr/>
        <p:txBody>
          <a:bodyPr/>
          <a:lstStyle>
            <a:lvl1pPr>
              <a:defRPr/>
            </a:lvl1pPr>
          </a:lstStyle>
          <a:p>
            <a:pPr>
              <a:defRPr/>
            </a:pPr>
            <a:fld id="{60BE8356-06F4-4914-9EE0-C1C85A4E4C49}" type="slidenum">
              <a:rPr lang="en-GB" altLang="en-US"/>
              <a:pPr>
                <a:defRPr/>
              </a:pPr>
              <a:t>‹#›</a:t>
            </a:fld>
            <a:endParaRPr lang="en-GB" altLang="en-US"/>
          </a:p>
        </p:txBody>
      </p:sp>
    </p:spTree>
    <p:extLst>
      <p:ext uri="{BB962C8B-B14F-4D97-AF65-F5344CB8AC3E}">
        <p14:creationId xmlns:p14="http://schemas.microsoft.com/office/powerpoint/2010/main" val="190073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DBB43EE-401F-4997-8A00-EC220282D8C7}"/>
              </a:ext>
            </a:extLst>
          </p:cNvPr>
          <p:cNvSpPr>
            <a:spLocks noGrp="1"/>
          </p:cNvSpPr>
          <p:nvPr>
            <p:ph type="dt" sz="half" idx="10"/>
          </p:nvPr>
        </p:nvSpPr>
        <p:spPr/>
        <p:txBody>
          <a:bodyPr/>
          <a:lstStyle>
            <a:lvl1pPr>
              <a:defRPr/>
            </a:lvl1pPr>
          </a:lstStyle>
          <a:p>
            <a:pPr>
              <a:defRPr/>
            </a:pPr>
            <a:fld id="{F8DD4549-5028-45F3-80C3-6EFF94473669}" type="datetime1">
              <a:rPr lang="en-IE"/>
              <a:pPr>
                <a:defRPr/>
              </a:pPr>
              <a:t>01/10/2020</a:t>
            </a:fld>
            <a:endParaRPr lang="en-US" dirty="0"/>
          </a:p>
        </p:txBody>
      </p:sp>
      <p:sp>
        <p:nvSpPr>
          <p:cNvPr id="3" name="Footer Placeholder 4">
            <a:extLst>
              <a:ext uri="{FF2B5EF4-FFF2-40B4-BE49-F238E27FC236}">
                <a16:creationId xmlns:a16="http://schemas.microsoft.com/office/drawing/2014/main" id="{5908F779-DC35-4CCC-8BCC-105E1D323973}"/>
              </a:ext>
            </a:extLst>
          </p:cNvPr>
          <p:cNvSpPr>
            <a:spLocks noGrp="1"/>
          </p:cNvSpPr>
          <p:nvPr>
            <p:ph type="ftr" sz="quarter" idx="11"/>
          </p:nvPr>
        </p:nvSpPr>
        <p:spPr/>
        <p:txBody>
          <a:bodyPr/>
          <a:lstStyle>
            <a:lvl1pPr>
              <a:defRPr/>
            </a:lvl1pPr>
          </a:lstStyle>
          <a:p>
            <a:pPr>
              <a:defRPr/>
            </a:pPr>
            <a:r>
              <a:rPr lang="en-IE" dirty="0"/>
              <a:t>Server Side Web Development (2020)</a:t>
            </a:r>
            <a:endParaRPr lang="en-GB" dirty="0"/>
          </a:p>
        </p:txBody>
      </p:sp>
      <p:sp>
        <p:nvSpPr>
          <p:cNvPr id="4" name="Slide Number Placeholder 5">
            <a:extLst>
              <a:ext uri="{FF2B5EF4-FFF2-40B4-BE49-F238E27FC236}">
                <a16:creationId xmlns:a16="http://schemas.microsoft.com/office/drawing/2014/main" id="{97C42CC5-6EC4-4D82-80F1-67CA2C77CD73}"/>
              </a:ext>
            </a:extLst>
          </p:cNvPr>
          <p:cNvSpPr>
            <a:spLocks noGrp="1"/>
          </p:cNvSpPr>
          <p:nvPr>
            <p:ph type="sldNum" sz="quarter" idx="12"/>
          </p:nvPr>
        </p:nvSpPr>
        <p:spPr/>
        <p:txBody>
          <a:bodyPr/>
          <a:lstStyle>
            <a:lvl1pPr>
              <a:defRPr/>
            </a:lvl1pPr>
          </a:lstStyle>
          <a:p>
            <a:pPr>
              <a:defRPr/>
            </a:pPr>
            <a:fld id="{15EBE323-FD99-4637-9E5C-E251CC96587A}" type="slidenum">
              <a:rPr lang="en-GB" altLang="en-US"/>
              <a:pPr>
                <a:defRPr/>
              </a:pPr>
              <a:t>‹#›</a:t>
            </a:fld>
            <a:endParaRPr lang="en-GB" altLang="en-US"/>
          </a:p>
        </p:txBody>
      </p:sp>
    </p:spTree>
    <p:extLst>
      <p:ext uri="{BB962C8B-B14F-4D97-AF65-F5344CB8AC3E}">
        <p14:creationId xmlns:p14="http://schemas.microsoft.com/office/powerpoint/2010/main" val="1812517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3.png"/><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9"/>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78A384-C10F-4206-8490-403DBD1CA602}"/>
              </a:ext>
            </a:extLst>
          </p:cNvPr>
          <p:cNvSpPr>
            <a:spLocks noGrp="1"/>
          </p:cNvSpPr>
          <p:nvPr>
            <p:ph type="title"/>
          </p:nvPr>
        </p:nvSpPr>
        <p:spPr bwMode="auto">
          <a:xfrm>
            <a:off x="0" y="0"/>
            <a:ext cx="9144000" cy="687388"/>
          </a:xfrm>
          <a:prstGeom prst="rect">
            <a:avLst/>
          </a:prstGeom>
          <a:blipFill dpi="0" rotWithShape="1">
            <a:blip r:embed="rId10"/>
            <a:srcRect/>
            <a:tile tx="0" ty="0" sx="100000" sy="100000" flip="none" algn="tl"/>
          </a:blipFill>
          <a:ln w="9525">
            <a:solidFill>
              <a:srgbClr val="AFABAB"/>
            </a:solidFill>
            <a:miter lim="800000"/>
            <a:headEnd/>
            <a:tailEnd/>
          </a:ln>
          <a:effectLst>
            <a:outerShdw blurRad="50800" dist="38100" dir="5400000" algn="t" rotWithShape="0">
              <a:srgbClr val="000000">
                <a:alpha val="39999"/>
              </a:srgbClr>
            </a:outerShdw>
          </a:effectLst>
        </p:spPr>
        <p:txBody>
          <a:bodyPr vert="horz" wrap="square" lIns="288000" tIns="45720" rIns="91440" bIns="45720" numCol="1" anchor="ctr" anchorCtr="0" compatLnSpc="1">
            <a:prstTxWarp prst="textNoShape">
              <a:avLst/>
            </a:prstTxWarp>
          </a:bodyPr>
          <a:lstStyle/>
          <a:p>
            <a:r>
              <a:rPr lang="en-US" dirty="0"/>
              <a:t>Click to edit Master title style</a:t>
            </a:r>
            <a:endParaRPr lang="en-IE" dirty="0"/>
          </a:p>
        </p:txBody>
      </p:sp>
      <p:sp>
        <p:nvSpPr>
          <p:cNvPr id="1027" name="Text Placeholder 2">
            <a:extLst>
              <a:ext uri="{FF2B5EF4-FFF2-40B4-BE49-F238E27FC236}">
                <a16:creationId xmlns:a16="http://schemas.microsoft.com/office/drawing/2014/main" id="{8B61DA3E-4A7C-400D-B66B-D79AF28DC5C6}"/>
              </a:ext>
            </a:extLst>
          </p:cNvPr>
          <p:cNvSpPr>
            <a:spLocks noGrp="1" noChangeArrowheads="1"/>
          </p:cNvSpPr>
          <p:nvPr>
            <p:ph type="body" idx="1"/>
          </p:nvPr>
        </p:nvSpPr>
        <p:spPr bwMode="auto">
          <a:xfrm>
            <a:off x="157163" y="1052513"/>
            <a:ext cx="8878887" cy="512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E" altLang="en-US"/>
          </a:p>
        </p:txBody>
      </p:sp>
      <p:sp>
        <p:nvSpPr>
          <p:cNvPr id="4" name="Date Placeholder 3">
            <a:extLst>
              <a:ext uri="{FF2B5EF4-FFF2-40B4-BE49-F238E27FC236}">
                <a16:creationId xmlns:a16="http://schemas.microsoft.com/office/drawing/2014/main" id="{BE7CCB33-285F-E84B-97F9-7BB7BCD33273}"/>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900">
                <a:solidFill>
                  <a:schemeClr val="tx1">
                    <a:tint val="75000"/>
                  </a:schemeClr>
                </a:solidFill>
                <a:latin typeface="Arial" charset="0"/>
                <a:ea typeface="MS Gothic" charset="-128"/>
              </a:defRPr>
            </a:lvl1pPr>
          </a:lstStyle>
          <a:p>
            <a:pPr>
              <a:defRPr/>
            </a:pPr>
            <a:fld id="{5F148E09-385B-48C2-97FB-CA2B0D53EF73}" type="datetime1">
              <a:rPr lang="en-IE"/>
              <a:pPr>
                <a:defRPr/>
              </a:pPr>
              <a:t>01/10/2020</a:t>
            </a:fld>
            <a:endParaRPr lang="en-US" dirty="0"/>
          </a:p>
        </p:txBody>
      </p:sp>
      <p:sp>
        <p:nvSpPr>
          <p:cNvPr id="5" name="Footer Placeholder 4">
            <a:extLst>
              <a:ext uri="{FF2B5EF4-FFF2-40B4-BE49-F238E27FC236}">
                <a16:creationId xmlns:a16="http://schemas.microsoft.com/office/drawing/2014/main" id="{A2B6BB1D-C82C-C94C-B2F2-22BDD35AD292}"/>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900">
                <a:solidFill>
                  <a:schemeClr val="tx1">
                    <a:tint val="75000"/>
                  </a:schemeClr>
                </a:solidFill>
                <a:latin typeface="Arial" charset="0"/>
                <a:ea typeface="MS Gothic" charset="-128"/>
              </a:defRPr>
            </a:lvl1pPr>
          </a:lstStyle>
          <a:p>
            <a:pPr>
              <a:defRPr/>
            </a:pPr>
            <a:r>
              <a:rPr lang="en-IE" dirty="0"/>
              <a:t>Server Side Web Development (2020)</a:t>
            </a:r>
            <a:endParaRPr lang="en-GB" dirty="0"/>
          </a:p>
        </p:txBody>
      </p:sp>
      <p:sp>
        <p:nvSpPr>
          <p:cNvPr id="6" name="Slide Number Placeholder 5">
            <a:extLst>
              <a:ext uri="{FF2B5EF4-FFF2-40B4-BE49-F238E27FC236}">
                <a16:creationId xmlns:a16="http://schemas.microsoft.com/office/drawing/2014/main" id="{E928F332-87F1-B245-A240-A0B724C7A9AE}"/>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900">
                <a:solidFill>
                  <a:schemeClr val="tx1">
                    <a:tint val="75000"/>
                  </a:schemeClr>
                </a:solidFill>
                <a:latin typeface="Arial" charset="0"/>
                <a:ea typeface="MS Gothic" charset="-128"/>
              </a:defRPr>
            </a:lvl1pPr>
          </a:lstStyle>
          <a:p>
            <a:pPr>
              <a:defRPr/>
            </a:pPr>
            <a:fld id="{1994E047-73EE-4C43-AFDB-EB51EFD3E381}" type="slidenum">
              <a:rPr lang="en-GB" altLang="en-US"/>
              <a:pPr>
                <a:defRPr/>
              </a:pPr>
              <a:t>‹#›</a:t>
            </a:fld>
            <a:endParaRPr lang="en-GB" altLang="en-US"/>
          </a:p>
        </p:txBody>
      </p:sp>
      <p:pic>
        <p:nvPicPr>
          <p:cNvPr id="1031" name="Picture 6">
            <a:extLst>
              <a:ext uri="{FF2B5EF4-FFF2-40B4-BE49-F238E27FC236}">
                <a16:creationId xmlns:a16="http://schemas.microsoft.com/office/drawing/2014/main" id="{CA570336-7E57-A04A-A08B-77B3EC1EE9F2}"/>
              </a:ext>
            </a:extLst>
          </p:cNvPr>
          <p:cNvPicPr>
            <a:picLocks noChangeAspect="1"/>
          </p:cNvPicPr>
          <p:nvPr userDrawn="1"/>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15275" y="-34925"/>
            <a:ext cx="1116013" cy="731838"/>
          </a:xfrm>
          <a:prstGeom prst="rect">
            <a:avLst/>
          </a:prstGeom>
          <a:noFill/>
          <a:ln>
            <a:noFill/>
          </a:ln>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83" r:id="rId1"/>
    <p:sldLayoutId id="2147483884" r:id="rId2"/>
    <p:sldLayoutId id="2147483881" r:id="rId3"/>
    <p:sldLayoutId id="2147483885" r:id="rId4"/>
    <p:sldLayoutId id="2147483886" r:id="rId5"/>
    <p:sldLayoutId id="2147483887" r:id="rId6"/>
    <p:sldLayoutId id="2147483882" r:id="rId7"/>
  </p:sldLayoutIdLst>
  <p:hf hdr="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en.wikipedia.org/wiki/COVID-19_pandemic"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developer.mozilla.org/en-US/docs/Web/HTTP"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en.wikipedia.org/wiki/List_of_rich_Internet_application_frameworks"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hyperlink" Target="http://www.adaptivepath.com/images/publications/essays/ajax-fig1.png"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hyperlink" Target="http://www.adaptivepath.com/images/publications/essays/ajax-fig2.png"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hyperlink" Target="http://www.json.org/js.htm"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hyperlink" Target="https://www.slimframework.com/docs/v4/objects/routing.html" TargetMode="External"/><Relationship Id="rId5" Type="http://schemas.openxmlformats.org/officeDocument/2006/relationships/image" Target="../media/image25.png"/><Relationship Id="rId4" Type="http://schemas.openxmlformats.org/officeDocument/2006/relationships/image" Target="../media/image24.png"/></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7A0A-F963-4969-97D8-B0617C71A1A3}"/>
              </a:ext>
            </a:extLst>
          </p:cNvPr>
          <p:cNvSpPr>
            <a:spLocks noGrp="1"/>
          </p:cNvSpPr>
          <p:nvPr>
            <p:ph type="ctrTitle"/>
          </p:nvPr>
        </p:nvSpPr>
        <p:spPr>
          <a:effectLst>
            <a:outerShdw blurRad="50800" dist="38100" dir="2700000" algn="tl" rotWithShape="0">
              <a:srgbClr val="000000">
                <a:alpha val="39999"/>
              </a:srgbClr>
            </a:outerShdw>
          </a:effectLst>
        </p:spPr>
        <p:txBody>
          <a:bodyPr anchor="ctr"/>
          <a:lstStyle/>
          <a:p>
            <a:pPr eaLnBrk="1" fontAlgn="auto" hangingPunct="1">
              <a:spcAft>
                <a:spcPts val="0"/>
              </a:spcAft>
              <a:defRPr/>
            </a:pPr>
            <a:br>
              <a:rPr lang="en-IE" dirty="0"/>
            </a:br>
            <a:r>
              <a:rPr lang="en-IE" dirty="0"/>
              <a:t>Web Development 3</a:t>
            </a:r>
          </a:p>
        </p:txBody>
      </p:sp>
      <p:sp>
        <p:nvSpPr>
          <p:cNvPr id="11266" name="Subtitle 2">
            <a:extLst>
              <a:ext uri="{FF2B5EF4-FFF2-40B4-BE49-F238E27FC236}">
                <a16:creationId xmlns:a16="http://schemas.microsoft.com/office/drawing/2014/main" id="{5D0CD500-5482-4057-B8E4-82A3788CAD78}"/>
              </a:ext>
            </a:extLst>
          </p:cNvPr>
          <p:cNvSpPr>
            <a:spLocks noGrp="1" noChangeArrowheads="1"/>
          </p:cNvSpPr>
          <p:nvPr>
            <p:ph type="subTitle" idx="1"/>
          </p:nvPr>
        </p:nvSpPr>
        <p:spPr/>
        <p:txBody>
          <a:bodyPr/>
          <a:lstStyle/>
          <a:p>
            <a:pPr eaLnBrk="1" hangingPunct="1"/>
            <a:endParaRPr lang="en-IE" altLang="en-US" sz="2400" dirty="0"/>
          </a:p>
          <a:p>
            <a:pPr eaLnBrk="1" hangingPunct="1"/>
            <a:r>
              <a:rPr lang="en-IE" altLang="en-US" sz="2400" dirty="0"/>
              <a:t>Lecture 5 – PHP Programming – Part 4</a:t>
            </a:r>
          </a:p>
          <a:p>
            <a:pPr eaLnBrk="1" hangingPunct="1"/>
            <a:r>
              <a:rPr lang="en-IE" altLang="en-US" sz="2400" dirty="0"/>
              <a:t>RESTful applications with PHP</a:t>
            </a:r>
          </a:p>
          <a:p>
            <a:pPr eaLnBrk="1" hangingPunct="1"/>
            <a:endParaRPr lang="en-IE" altLang="en-US" dirty="0"/>
          </a:p>
          <a:p>
            <a:pPr eaLnBrk="1" hangingPunct="1"/>
            <a:r>
              <a:rPr lang="en-IE" altLang="en-US" dirty="0"/>
              <a:t>Lecturer: James Byrne (</a:t>
            </a:r>
            <a:r>
              <a:rPr lang="en-IE" altLang="en-US" dirty="0">
                <a:solidFill>
                  <a:schemeClr val="accent1"/>
                </a:solidFill>
              </a:rPr>
              <a:t>jamesbyrne@ait.ie</a:t>
            </a:r>
            <a:r>
              <a:rPr lang="en-IE" altLang="en-US" dirty="0"/>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711-D041-4BB7-B621-2BD26A8EFD07}"/>
              </a:ext>
            </a:extLst>
          </p:cNvPr>
          <p:cNvSpPr>
            <a:spLocks noGrp="1"/>
          </p:cNvSpPr>
          <p:nvPr>
            <p:ph type="title"/>
          </p:nvPr>
        </p:nvSpPr>
        <p:spPr>
          <a:xfrm>
            <a:off x="0" y="0"/>
            <a:ext cx="9144000" cy="687388"/>
          </a:xfrm>
          <a:ln/>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Topics</a:t>
            </a:r>
          </a:p>
        </p:txBody>
      </p:sp>
      <p:sp>
        <p:nvSpPr>
          <p:cNvPr id="12290" name="Content Placeholder 2">
            <a:extLst>
              <a:ext uri="{FF2B5EF4-FFF2-40B4-BE49-F238E27FC236}">
                <a16:creationId xmlns:a16="http://schemas.microsoft.com/office/drawing/2014/main" id="{1AE05403-95A6-4618-9B22-48782B535B05}"/>
              </a:ext>
            </a:extLst>
          </p:cNvPr>
          <p:cNvSpPr>
            <a:spLocks noGrp="1" noChangeArrowheads="1"/>
          </p:cNvSpPr>
          <p:nvPr>
            <p:ph idx="1"/>
          </p:nvPr>
        </p:nvSpPr>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solidFill>
                  <a:srgbClr val="000000"/>
                </a:solidFill>
              </a:rPr>
              <a:t>Web Architectures</a:t>
            </a:r>
          </a:p>
          <a:p>
            <a:pPr marL="342900" indent="-342900" eaLnBrk="1" hangingPunct="1">
              <a:lnSpc>
                <a:spcPct val="100000"/>
              </a:lnSpc>
              <a:spcBef>
                <a:spcPct val="20000"/>
              </a:spcBef>
              <a:buClr>
                <a:srgbClr val="000000"/>
              </a:buClr>
              <a:buFont typeface="Times New Roman" panose="02020603050405020304" pitchFamily="18" charset="0"/>
              <a:buChar char="•"/>
            </a:pPr>
            <a:endParaRPr lang="en-US" altLang="en-US" sz="2800" dirty="0">
              <a:solidFill>
                <a:srgbClr val="000000"/>
              </a:solidFill>
            </a:endParaRP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solidFill>
                  <a:srgbClr val="000000"/>
                </a:solidFill>
              </a:rPr>
              <a:t> Introduction to REST</a:t>
            </a:r>
          </a:p>
          <a:p>
            <a:pPr marL="342900" indent="-342900" eaLnBrk="1" hangingPunct="1">
              <a:lnSpc>
                <a:spcPct val="100000"/>
              </a:lnSpc>
              <a:spcBef>
                <a:spcPct val="20000"/>
              </a:spcBef>
              <a:buClr>
                <a:srgbClr val="000000"/>
              </a:buClr>
              <a:buFont typeface="Times New Roman" panose="02020603050405020304" pitchFamily="18" charset="0"/>
              <a:buChar char="•"/>
            </a:pPr>
            <a:endParaRPr lang="en-US" altLang="en-US" sz="2800" dirty="0">
              <a:solidFill>
                <a:srgbClr val="000000"/>
              </a:solidFill>
            </a:endParaRP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solidFill>
                  <a:srgbClr val="000000"/>
                </a:solidFill>
              </a:rPr>
              <a:t> Implementing a REST API with PHP</a:t>
            </a:r>
          </a:p>
        </p:txBody>
      </p:sp>
      <p:sp>
        <p:nvSpPr>
          <p:cNvPr id="4" name="Footer Placeholder 3">
            <a:extLst>
              <a:ext uri="{FF2B5EF4-FFF2-40B4-BE49-F238E27FC236}">
                <a16:creationId xmlns:a16="http://schemas.microsoft.com/office/drawing/2014/main" id="{372E1ECE-203C-674D-B06E-176F5E2A2D88}"/>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8CEEA20-E73D-394E-A467-1636CEF2C15B}"/>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FFEAD69-89E8-4045-A923-5E678E3E294C}"/>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B2BDD5E7-1BE6-1946-A300-B69C31AD4C3B}"/>
              </a:ext>
            </a:extLst>
          </p:cNvPr>
          <p:cNvSpPr>
            <a:spLocks noGrp="1"/>
          </p:cNvSpPr>
          <p:nvPr>
            <p:ph type="sldNum" sz="quarter" idx="12"/>
          </p:nvPr>
        </p:nvSpPr>
        <p:spPr/>
        <p:txBody>
          <a:bodyPr/>
          <a:lstStyle/>
          <a:p>
            <a:pPr>
              <a:defRPr/>
            </a:pPr>
            <a:fld id="{428A40D8-65F6-4B39-B0AE-27189025CA20}" type="slidenum">
              <a:rPr lang="en-GB" altLang="en-US" smtClean="0"/>
              <a:pPr>
                <a:defRPr/>
              </a:pPr>
              <a:t>2</a:t>
            </a:fld>
            <a:endParaRPr lang="en-GB"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56937-DE97-4825-B04F-DB819A09E7A5}"/>
              </a:ext>
            </a:extLst>
          </p:cNvPr>
          <p:cNvSpPr>
            <a:spLocks noGrp="1"/>
          </p:cNvSpPr>
          <p:nvPr>
            <p:ph type="title"/>
          </p:nvPr>
        </p:nvSpPr>
        <p:spPr/>
        <p:txBody>
          <a:bodyPr/>
          <a:lstStyle/>
          <a:p>
            <a:r>
              <a:rPr lang="en-IE" dirty="0"/>
              <a:t>Basic Web Architecture</a:t>
            </a:r>
          </a:p>
        </p:txBody>
      </p:sp>
      <p:sp>
        <p:nvSpPr>
          <p:cNvPr id="3" name="Content Placeholder 2">
            <a:extLst>
              <a:ext uri="{FF2B5EF4-FFF2-40B4-BE49-F238E27FC236}">
                <a16:creationId xmlns:a16="http://schemas.microsoft.com/office/drawing/2014/main" id="{8EFD4C84-8619-42ED-A811-B288C2F5F7A2}"/>
              </a:ext>
            </a:extLst>
          </p:cNvPr>
          <p:cNvSpPr>
            <a:spLocks noGrp="1"/>
          </p:cNvSpPr>
          <p:nvPr>
            <p:ph idx="1"/>
          </p:nvPr>
        </p:nvSpPr>
        <p:spPr/>
        <p:txBody>
          <a:bodyPr/>
          <a:lstStyle/>
          <a:p>
            <a:r>
              <a:rPr lang="en-US" sz="3600" dirty="0"/>
              <a:t>The web is a two-tiered architecture.</a:t>
            </a:r>
          </a:p>
          <a:p>
            <a:pPr marL="857250" lvl="1" indent="-514350">
              <a:buFont typeface="+mj-lt"/>
              <a:buAutoNum type="arabicPeriod"/>
            </a:pPr>
            <a:r>
              <a:rPr lang="en-US" sz="3200" dirty="0"/>
              <a:t>A web browser displays information content, </a:t>
            </a:r>
          </a:p>
          <a:p>
            <a:pPr marL="857250" lvl="1" indent="-514350">
              <a:buFont typeface="+mj-lt"/>
              <a:buAutoNum type="arabicPeriod"/>
            </a:pPr>
            <a:r>
              <a:rPr lang="en-US" sz="3200" dirty="0"/>
              <a:t>A Web server that transfers information to the client.</a:t>
            </a:r>
          </a:p>
          <a:p>
            <a:r>
              <a:rPr lang="en-IE" sz="3600" dirty="0"/>
              <a:t>›</a:t>
            </a:r>
          </a:p>
        </p:txBody>
      </p:sp>
      <p:sp>
        <p:nvSpPr>
          <p:cNvPr id="4" name="Date Placeholder 3">
            <a:extLst>
              <a:ext uri="{FF2B5EF4-FFF2-40B4-BE49-F238E27FC236}">
                <a16:creationId xmlns:a16="http://schemas.microsoft.com/office/drawing/2014/main" id="{9615C265-679B-4607-AAD0-BD7C727DC3AD}"/>
              </a:ext>
            </a:extLst>
          </p:cNvPr>
          <p:cNvSpPr>
            <a:spLocks noGrp="1"/>
          </p:cNvSpPr>
          <p:nvPr>
            <p:ph type="dt" sz="half" idx="10"/>
          </p:nvPr>
        </p:nvSpPr>
        <p:spPr/>
        <p:txBody>
          <a:bodyPr/>
          <a:lstStyle/>
          <a:p>
            <a:pPr>
              <a:defRPr/>
            </a:pPr>
            <a:fld id="{C2E34718-F39F-4D85-B42B-BFF47E1FFA2D}" type="datetime1">
              <a:rPr lang="en-IE" smtClean="0"/>
              <a:pPr>
                <a:defRPr/>
              </a:pPr>
              <a:t>01/10/2020</a:t>
            </a:fld>
            <a:endParaRPr lang="en-US" dirty="0"/>
          </a:p>
        </p:txBody>
      </p:sp>
      <p:sp>
        <p:nvSpPr>
          <p:cNvPr id="5" name="Footer Placeholder 4">
            <a:extLst>
              <a:ext uri="{FF2B5EF4-FFF2-40B4-BE49-F238E27FC236}">
                <a16:creationId xmlns:a16="http://schemas.microsoft.com/office/drawing/2014/main" id="{B3D5FF89-AE97-4C79-A6C1-2A35A21B4F97}"/>
              </a:ext>
            </a:extLst>
          </p:cNvPr>
          <p:cNvSpPr>
            <a:spLocks noGrp="1"/>
          </p:cNvSpPr>
          <p:nvPr>
            <p:ph type="ftr" sz="quarter" idx="11"/>
          </p:nvPr>
        </p:nvSpPr>
        <p:spPr/>
        <p:txBody>
          <a:bodyPr/>
          <a:lstStyle/>
          <a:p>
            <a:pPr>
              <a:defRPr/>
            </a:pPr>
            <a:r>
              <a:rPr lang="en-IE" dirty="0"/>
              <a:t>Server Side Web Development (2020)</a:t>
            </a:r>
            <a:endParaRPr lang="en-GB" dirty="0"/>
          </a:p>
        </p:txBody>
      </p:sp>
      <p:sp>
        <p:nvSpPr>
          <p:cNvPr id="6" name="Slide Number Placeholder 5">
            <a:extLst>
              <a:ext uri="{FF2B5EF4-FFF2-40B4-BE49-F238E27FC236}">
                <a16:creationId xmlns:a16="http://schemas.microsoft.com/office/drawing/2014/main" id="{EEAC0F21-BC5F-426E-A2C9-ABCE542BAAC4}"/>
              </a:ext>
            </a:extLst>
          </p:cNvPr>
          <p:cNvSpPr>
            <a:spLocks noGrp="1"/>
          </p:cNvSpPr>
          <p:nvPr>
            <p:ph type="sldNum" sz="quarter" idx="12"/>
          </p:nvPr>
        </p:nvSpPr>
        <p:spPr/>
        <p:txBody>
          <a:bodyPr/>
          <a:lstStyle/>
          <a:p>
            <a:pPr>
              <a:defRPr/>
            </a:pPr>
            <a:fld id="{46E81209-073D-4689-B110-4E5DB93A113A}" type="slidenum">
              <a:rPr lang="en-GB" altLang="en-US" smtClean="0"/>
              <a:pPr>
                <a:defRPr/>
              </a:pPr>
              <a:t>3</a:t>
            </a:fld>
            <a:endParaRPr lang="en-GB" altLang="en-US"/>
          </a:p>
        </p:txBody>
      </p:sp>
      <p:pic>
        <p:nvPicPr>
          <p:cNvPr id="7" name="Picture 4" descr="FIG01-01">
            <a:extLst>
              <a:ext uri="{FF2B5EF4-FFF2-40B4-BE49-F238E27FC236}">
                <a16:creationId xmlns:a16="http://schemas.microsoft.com/office/drawing/2014/main" id="{EBBE7ECB-3FB5-4543-800B-C1CF34098F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3814763"/>
            <a:ext cx="7620000" cy="273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2947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56937-DE97-4825-B04F-DB819A09E7A5}"/>
              </a:ext>
            </a:extLst>
          </p:cNvPr>
          <p:cNvSpPr>
            <a:spLocks noGrp="1"/>
          </p:cNvSpPr>
          <p:nvPr>
            <p:ph type="title"/>
          </p:nvPr>
        </p:nvSpPr>
        <p:spPr/>
        <p:txBody>
          <a:bodyPr/>
          <a:lstStyle/>
          <a:p>
            <a:r>
              <a:rPr lang="en-IE" dirty="0"/>
              <a:t>Web Browser</a:t>
            </a:r>
          </a:p>
        </p:txBody>
      </p:sp>
      <p:sp>
        <p:nvSpPr>
          <p:cNvPr id="3" name="Content Placeholder 2">
            <a:extLst>
              <a:ext uri="{FF2B5EF4-FFF2-40B4-BE49-F238E27FC236}">
                <a16:creationId xmlns:a16="http://schemas.microsoft.com/office/drawing/2014/main" id="{8EFD4C84-8619-42ED-A811-B288C2F5F7A2}"/>
              </a:ext>
            </a:extLst>
          </p:cNvPr>
          <p:cNvSpPr>
            <a:spLocks noGrp="1"/>
          </p:cNvSpPr>
          <p:nvPr>
            <p:ph idx="1"/>
          </p:nvPr>
        </p:nvSpPr>
        <p:spPr>
          <a:xfrm>
            <a:off x="157163" y="1052513"/>
            <a:ext cx="4774877" cy="5124450"/>
          </a:xfrm>
        </p:spPr>
        <p:txBody>
          <a:bodyPr/>
          <a:lstStyle/>
          <a:p>
            <a:r>
              <a:rPr lang="en-US" sz="3600" dirty="0"/>
              <a:t>The primary purpose is to bring information resources to the user. </a:t>
            </a:r>
          </a:p>
          <a:p>
            <a:r>
              <a:rPr lang="en-US" sz="3600" dirty="0"/>
              <a:t>An application for retrieving, presenting, and traversing information resources</a:t>
            </a:r>
            <a:endParaRPr lang="en-IE" sz="3600" dirty="0"/>
          </a:p>
        </p:txBody>
      </p:sp>
      <p:sp>
        <p:nvSpPr>
          <p:cNvPr id="4" name="Date Placeholder 3">
            <a:extLst>
              <a:ext uri="{FF2B5EF4-FFF2-40B4-BE49-F238E27FC236}">
                <a16:creationId xmlns:a16="http://schemas.microsoft.com/office/drawing/2014/main" id="{9615C265-679B-4607-AAD0-BD7C727DC3AD}"/>
              </a:ext>
            </a:extLst>
          </p:cNvPr>
          <p:cNvSpPr>
            <a:spLocks noGrp="1"/>
          </p:cNvSpPr>
          <p:nvPr>
            <p:ph type="dt" sz="half" idx="10"/>
          </p:nvPr>
        </p:nvSpPr>
        <p:spPr/>
        <p:txBody>
          <a:bodyPr/>
          <a:lstStyle/>
          <a:p>
            <a:pPr>
              <a:defRPr/>
            </a:pPr>
            <a:fld id="{C2E34718-F39F-4D85-B42B-BFF47E1FFA2D}" type="datetime1">
              <a:rPr lang="en-IE" smtClean="0"/>
              <a:pPr>
                <a:defRPr/>
              </a:pPr>
              <a:t>01/10/2020</a:t>
            </a:fld>
            <a:endParaRPr lang="en-US" dirty="0"/>
          </a:p>
        </p:txBody>
      </p:sp>
      <p:sp>
        <p:nvSpPr>
          <p:cNvPr id="5" name="Footer Placeholder 4">
            <a:extLst>
              <a:ext uri="{FF2B5EF4-FFF2-40B4-BE49-F238E27FC236}">
                <a16:creationId xmlns:a16="http://schemas.microsoft.com/office/drawing/2014/main" id="{B3D5FF89-AE97-4C79-A6C1-2A35A21B4F97}"/>
              </a:ext>
            </a:extLst>
          </p:cNvPr>
          <p:cNvSpPr>
            <a:spLocks noGrp="1"/>
          </p:cNvSpPr>
          <p:nvPr>
            <p:ph type="ftr" sz="quarter" idx="11"/>
          </p:nvPr>
        </p:nvSpPr>
        <p:spPr/>
        <p:txBody>
          <a:bodyPr/>
          <a:lstStyle/>
          <a:p>
            <a:pPr>
              <a:defRPr/>
            </a:pPr>
            <a:r>
              <a:rPr lang="en-IE" dirty="0"/>
              <a:t>Server Side Web Development (2020)</a:t>
            </a:r>
            <a:endParaRPr lang="en-GB" dirty="0"/>
          </a:p>
        </p:txBody>
      </p:sp>
      <p:sp>
        <p:nvSpPr>
          <p:cNvPr id="6" name="Slide Number Placeholder 5">
            <a:extLst>
              <a:ext uri="{FF2B5EF4-FFF2-40B4-BE49-F238E27FC236}">
                <a16:creationId xmlns:a16="http://schemas.microsoft.com/office/drawing/2014/main" id="{EEAC0F21-BC5F-426E-A2C9-ABCE542BAAC4}"/>
              </a:ext>
            </a:extLst>
          </p:cNvPr>
          <p:cNvSpPr>
            <a:spLocks noGrp="1"/>
          </p:cNvSpPr>
          <p:nvPr>
            <p:ph type="sldNum" sz="quarter" idx="12"/>
          </p:nvPr>
        </p:nvSpPr>
        <p:spPr/>
        <p:txBody>
          <a:bodyPr/>
          <a:lstStyle/>
          <a:p>
            <a:pPr>
              <a:defRPr/>
            </a:pPr>
            <a:fld id="{46E81209-073D-4689-B110-4E5DB93A113A}" type="slidenum">
              <a:rPr lang="en-GB" altLang="en-US" smtClean="0"/>
              <a:pPr>
                <a:defRPr/>
              </a:pPr>
              <a:t>4</a:t>
            </a:fld>
            <a:endParaRPr lang="en-GB" altLang="en-US"/>
          </a:p>
        </p:txBody>
      </p:sp>
      <p:pic>
        <p:nvPicPr>
          <p:cNvPr id="8" name="Picture 3">
            <a:extLst>
              <a:ext uri="{FF2B5EF4-FFF2-40B4-BE49-F238E27FC236}">
                <a16:creationId xmlns:a16="http://schemas.microsoft.com/office/drawing/2014/main" id="{8ACCBA61-B28A-410F-8609-8713739225F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076056" y="1196752"/>
            <a:ext cx="3770313"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5705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56937-DE97-4825-B04F-DB819A09E7A5}"/>
              </a:ext>
            </a:extLst>
          </p:cNvPr>
          <p:cNvSpPr>
            <a:spLocks noGrp="1"/>
          </p:cNvSpPr>
          <p:nvPr>
            <p:ph type="title"/>
          </p:nvPr>
        </p:nvSpPr>
        <p:spPr/>
        <p:txBody>
          <a:bodyPr/>
          <a:lstStyle/>
          <a:p>
            <a:r>
              <a:rPr lang="en-IE" dirty="0"/>
              <a:t>Web Server</a:t>
            </a:r>
          </a:p>
        </p:txBody>
      </p:sp>
      <p:sp>
        <p:nvSpPr>
          <p:cNvPr id="3" name="Content Placeholder 2">
            <a:extLst>
              <a:ext uri="{FF2B5EF4-FFF2-40B4-BE49-F238E27FC236}">
                <a16:creationId xmlns:a16="http://schemas.microsoft.com/office/drawing/2014/main" id="{8EFD4C84-8619-42ED-A811-B288C2F5F7A2}"/>
              </a:ext>
            </a:extLst>
          </p:cNvPr>
          <p:cNvSpPr>
            <a:spLocks noGrp="1"/>
          </p:cNvSpPr>
          <p:nvPr>
            <p:ph idx="1"/>
          </p:nvPr>
        </p:nvSpPr>
        <p:spPr>
          <a:xfrm>
            <a:off x="157163" y="1052513"/>
            <a:ext cx="8591301" cy="5124450"/>
          </a:xfrm>
        </p:spPr>
        <p:txBody>
          <a:bodyPr/>
          <a:lstStyle/>
          <a:p>
            <a:r>
              <a:rPr lang="en-US" sz="3600" dirty="0"/>
              <a:t>The term </a:t>
            </a:r>
            <a:r>
              <a:rPr lang="en-US" sz="3600" b="1" dirty="0"/>
              <a:t>web server </a:t>
            </a:r>
            <a:r>
              <a:rPr lang="en-US" sz="3600" dirty="0"/>
              <a:t>can mean one of two things:</a:t>
            </a:r>
          </a:p>
          <a:p>
            <a:pPr lvl="1"/>
            <a:r>
              <a:rPr lang="en-US" sz="3300" dirty="0"/>
              <a:t>A computer program that accepts HTTP requests and returns HTTP responses with optional data content. </a:t>
            </a:r>
          </a:p>
          <a:p>
            <a:pPr lvl="1"/>
            <a:r>
              <a:rPr lang="en-US" sz="3300" dirty="0"/>
              <a:t>A computer that runs a computer program as described above. </a:t>
            </a:r>
          </a:p>
        </p:txBody>
      </p:sp>
      <p:sp>
        <p:nvSpPr>
          <p:cNvPr id="4" name="Date Placeholder 3">
            <a:extLst>
              <a:ext uri="{FF2B5EF4-FFF2-40B4-BE49-F238E27FC236}">
                <a16:creationId xmlns:a16="http://schemas.microsoft.com/office/drawing/2014/main" id="{9615C265-679B-4607-AAD0-BD7C727DC3AD}"/>
              </a:ext>
            </a:extLst>
          </p:cNvPr>
          <p:cNvSpPr>
            <a:spLocks noGrp="1"/>
          </p:cNvSpPr>
          <p:nvPr>
            <p:ph type="dt" sz="half" idx="10"/>
          </p:nvPr>
        </p:nvSpPr>
        <p:spPr/>
        <p:txBody>
          <a:bodyPr/>
          <a:lstStyle/>
          <a:p>
            <a:pPr>
              <a:defRPr/>
            </a:pPr>
            <a:fld id="{C2E34718-F39F-4D85-B42B-BFF47E1FFA2D}" type="datetime1">
              <a:rPr lang="en-IE" smtClean="0"/>
              <a:pPr>
                <a:defRPr/>
              </a:pPr>
              <a:t>01/10/2020</a:t>
            </a:fld>
            <a:endParaRPr lang="en-US" dirty="0"/>
          </a:p>
        </p:txBody>
      </p:sp>
      <p:sp>
        <p:nvSpPr>
          <p:cNvPr id="5" name="Footer Placeholder 4">
            <a:extLst>
              <a:ext uri="{FF2B5EF4-FFF2-40B4-BE49-F238E27FC236}">
                <a16:creationId xmlns:a16="http://schemas.microsoft.com/office/drawing/2014/main" id="{B3D5FF89-AE97-4C79-A6C1-2A35A21B4F97}"/>
              </a:ext>
            </a:extLst>
          </p:cNvPr>
          <p:cNvSpPr>
            <a:spLocks noGrp="1"/>
          </p:cNvSpPr>
          <p:nvPr>
            <p:ph type="ftr" sz="quarter" idx="11"/>
          </p:nvPr>
        </p:nvSpPr>
        <p:spPr/>
        <p:txBody>
          <a:bodyPr/>
          <a:lstStyle/>
          <a:p>
            <a:pPr>
              <a:defRPr/>
            </a:pPr>
            <a:r>
              <a:rPr lang="en-IE" dirty="0"/>
              <a:t>Server Side Web Development (2020)</a:t>
            </a:r>
            <a:endParaRPr lang="en-GB" dirty="0"/>
          </a:p>
        </p:txBody>
      </p:sp>
      <p:sp>
        <p:nvSpPr>
          <p:cNvPr id="6" name="Slide Number Placeholder 5">
            <a:extLst>
              <a:ext uri="{FF2B5EF4-FFF2-40B4-BE49-F238E27FC236}">
                <a16:creationId xmlns:a16="http://schemas.microsoft.com/office/drawing/2014/main" id="{EEAC0F21-BC5F-426E-A2C9-ABCE542BAAC4}"/>
              </a:ext>
            </a:extLst>
          </p:cNvPr>
          <p:cNvSpPr>
            <a:spLocks noGrp="1"/>
          </p:cNvSpPr>
          <p:nvPr>
            <p:ph type="sldNum" sz="quarter" idx="12"/>
          </p:nvPr>
        </p:nvSpPr>
        <p:spPr/>
        <p:txBody>
          <a:bodyPr/>
          <a:lstStyle/>
          <a:p>
            <a:pPr>
              <a:defRPr/>
            </a:pPr>
            <a:fld id="{46E81209-073D-4689-B110-4E5DB93A113A}" type="slidenum">
              <a:rPr lang="en-GB" altLang="en-US" smtClean="0"/>
              <a:pPr>
                <a:defRPr/>
              </a:pPr>
              <a:t>5</a:t>
            </a:fld>
            <a:endParaRPr lang="en-GB" altLang="en-US"/>
          </a:p>
        </p:txBody>
      </p:sp>
      <p:pic>
        <p:nvPicPr>
          <p:cNvPr id="9" name="Picture 3">
            <a:extLst>
              <a:ext uri="{FF2B5EF4-FFF2-40B4-BE49-F238E27FC236}">
                <a16:creationId xmlns:a16="http://schemas.microsoft.com/office/drawing/2014/main" id="{6CA24081-9C3A-4F75-8035-E70BB8AD25C2}"/>
              </a:ext>
            </a:extLst>
          </p:cNvPr>
          <p:cNvPicPr>
            <a:picLocks noChangeAspect="1"/>
          </p:cNvPicPr>
          <p:nvPr/>
        </p:nvPicPr>
        <p:blipFill rotWithShape="1">
          <a:blip r:embed="rId3">
            <a:extLst>
              <a:ext uri="{28A0092B-C50C-407E-A947-70E740481C1C}">
                <a14:useLocalDpi xmlns:a14="http://schemas.microsoft.com/office/drawing/2010/main" val="0"/>
              </a:ext>
            </a:extLst>
          </a:blip>
          <a:srcRect l="8352" t="25239" r="3449" b="25248"/>
          <a:stretch/>
        </p:blipFill>
        <p:spPr bwMode="auto">
          <a:xfrm>
            <a:off x="467544" y="4993457"/>
            <a:ext cx="2938933" cy="1154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Icon&#10;&#10;Description automatically generated">
            <a:extLst>
              <a:ext uri="{FF2B5EF4-FFF2-40B4-BE49-F238E27FC236}">
                <a16:creationId xmlns:a16="http://schemas.microsoft.com/office/drawing/2014/main" id="{67748237-F014-4567-89F3-B653AB1229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79333" y="4736580"/>
            <a:ext cx="1920510" cy="1440383"/>
          </a:xfrm>
          <a:prstGeom prst="rect">
            <a:avLst/>
          </a:prstGeom>
        </p:spPr>
      </p:pic>
      <p:pic>
        <p:nvPicPr>
          <p:cNvPr id="14" name="Picture 13" descr="Table&#10;&#10;Description automatically generated">
            <a:extLst>
              <a:ext uri="{FF2B5EF4-FFF2-40B4-BE49-F238E27FC236}">
                <a16:creationId xmlns:a16="http://schemas.microsoft.com/office/drawing/2014/main" id="{2BB80824-1A19-43B7-A95A-96910B8788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62327" y="4698262"/>
            <a:ext cx="3386137" cy="1478701"/>
          </a:xfrm>
          <a:prstGeom prst="rect">
            <a:avLst/>
          </a:prstGeom>
        </p:spPr>
      </p:pic>
    </p:spTree>
    <p:extLst>
      <p:ext uri="{BB962C8B-B14F-4D97-AF65-F5344CB8AC3E}">
        <p14:creationId xmlns:p14="http://schemas.microsoft.com/office/powerpoint/2010/main" val="3369306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56937-DE97-4825-B04F-DB819A09E7A5}"/>
              </a:ext>
            </a:extLst>
          </p:cNvPr>
          <p:cNvSpPr>
            <a:spLocks noGrp="1"/>
          </p:cNvSpPr>
          <p:nvPr>
            <p:ph type="title"/>
          </p:nvPr>
        </p:nvSpPr>
        <p:spPr/>
        <p:txBody>
          <a:bodyPr/>
          <a:lstStyle/>
          <a:p>
            <a:r>
              <a:rPr lang="en-IE" dirty="0"/>
              <a:t>REST Overview</a:t>
            </a:r>
          </a:p>
        </p:txBody>
      </p:sp>
      <p:sp>
        <p:nvSpPr>
          <p:cNvPr id="3" name="Content Placeholder 2">
            <a:extLst>
              <a:ext uri="{FF2B5EF4-FFF2-40B4-BE49-F238E27FC236}">
                <a16:creationId xmlns:a16="http://schemas.microsoft.com/office/drawing/2014/main" id="{8EFD4C84-8619-42ED-A811-B288C2F5F7A2}"/>
              </a:ext>
            </a:extLst>
          </p:cNvPr>
          <p:cNvSpPr>
            <a:spLocks noGrp="1"/>
          </p:cNvSpPr>
          <p:nvPr>
            <p:ph idx="1"/>
          </p:nvPr>
        </p:nvSpPr>
        <p:spPr>
          <a:xfrm>
            <a:off x="157163" y="1052513"/>
            <a:ext cx="8591301" cy="5124450"/>
          </a:xfrm>
        </p:spPr>
        <p:txBody>
          <a:bodyPr/>
          <a:lstStyle/>
          <a:p>
            <a:r>
              <a:rPr lang="en-US" sz="3600" dirty="0"/>
              <a:t>The REST architecture was designed around a few key principles:</a:t>
            </a:r>
          </a:p>
          <a:p>
            <a:endParaRPr lang="en-US" sz="3600" dirty="0"/>
          </a:p>
          <a:p>
            <a:pPr lvl="1"/>
            <a:r>
              <a:rPr lang="en-US" sz="3300" dirty="0"/>
              <a:t>Use HTTP Methods (and Response Codes)</a:t>
            </a:r>
          </a:p>
          <a:p>
            <a:pPr lvl="1"/>
            <a:endParaRPr lang="en-US" sz="3300" dirty="0"/>
          </a:p>
          <a:p>
            <a:pPr lvl="1"/>
            <a:r>
              <a:rPr lang="en-US" sz="3300" dirty="0"/>
              <a:t>Be Stateless and Cacheable</a:t>
            </a:r>
          </a:p>
          <a:p>
            <a:pPr lvl="1"/>
            <a:endParaRPr lang="en-US" sz="3300" dirty="0"/>
          </a:p>
          <a:p>
            <a:pPr lvl="1"/>
            <a:r>
              <a:rPr lang="en-US" sz="3300" dirty="0"/>
              <a:t>Use Addressable Resources</a:t>
            </a:r>
          </a:p>
          <a:p>
            <a:pPr lvl="1"/>
            <a:endParaRPr lang="en-US" sz="3300" dirty="0"/>
          </a:p>
          <a:p>
            <a:pPr lvl="1"/>
            <a:r>
              <a:rPr lang="en-US" sz="3300" dirty="0"/>
              <a:t>Support the transfer of Representations</a:t>
            </a:r>
          </a:p>
        </p:txBody>
      </p:sp>
      <p:sp>
        <p:nvSpPr>
          <p:cNvPr id="4" name="Date Placeholder 3">
            <a:extLst>
              <a:ext uri="{FF2B5EF4-FFF2-40B4-BE49-F238E27FC236}">
                <a16:creationId xmlns:a16="http://schemas.microsoft.com/office/drawing/2014/main" id="{9615C265-679B-4607-AAD0-BD7C727DC3AD}"/>
              </a:ext>
            </a:extLst>
          </p:cNvPr>
          <p:cNvSpPr>
            <a:spLocks noGrp="1"/>
          </p:cNvSpPr>
          <p:nvPr>
            <p:ph type="dt" sz="half" idx="10"/>
          </p:nvPr>
        </p:nvSpPr>
        <p:spPr/>
        <p:txBody>
          <a:bodyPr/>
          <a:lstStyle/>
          <a:p>
            <a:pPr>
              <a:defRPr/>
            </a:pPr>
            <a:fld id="{C2E34718-F39F-4D85-B42B-BFF47E1FFA2D}" type="datetime1">
              <a:rPr lang="en-IE" smtClean="0"/>
              <a:pPr>
                <a:defRPr/>
              </a:pPr>
              <a:t>01/10/2020</a:t>
            </a:fld>
            <a:endParaRPr lang="en-US" dirty="0"/>
          </a:p>
        </p:txBody>
      </p:sp>
      <p:sp>
        <p:nvSpPr>
          <p:cNvPr id="5" name="Footer Placeholder 4">
            <a:extLst>
              <a:ext uri="{FF2B5EF4-FFF2-40B4-BE49-F238E27FC236}">
                <a16:creationId xmlns:a16="http://schemas.microsoft.com/office/drawing/2014/main" id="{B3D5FF89-AE97-4C79-A6C1-2A35A21B4F97}"/>
              </a:ext>
            </a:extLst>
          </p:cNvPr>
          <p:cNvSpPr>
            <a:spLocks noGrp="1"/>
          </p:cNvSpPr>
          <p:nvPr>
            <p:ph type="ftr" sz="quarter" idx="11"/>
          </p:nvPr>
        </p:nvSpPr>
        <p:spPr/>
        <p:txBody>
          <a:bodyPr/>
          <a:lstStyle/>
          <a:p>
            <a:pPr>
              <a:defRPr/>
            </a:pPr>
            <a:r>
              <a:rPr lang="en-IE" dirty="0"/>
              <a:t>Web Development 3 (2020)</a:t>
            </a:r>
            <a:endParaRPr lang="en-GB" dirty="0"/>
          </a:p>
        </p:txBody>
      </p:sp>
      <p:sp>
        <p:nvSpPr>
          <p:cNvPr id="6" name="Slide Number Placeholder 5">
            <a:extLst>
              <a:ext uri="{FF2B5EF4-FFF2-40B4-BE49-F238E27FC236}">
                <a16:creationId xmlns:a16="http://schemas.microsoft.com/office/drawing/2014/main" id="{EEAC0F21-BC5F-426E-A2C9-ABCE542BAAC4}"/>
              </a:ext>
            </a:extLst>
          </p:cNvPr>
          <p:cNvSpPr>
            <a:spLocks noGrp="1"/>
          </p:cNvSpPr>
          <p:nvPr>
            <p:ph type="sldNum" sz="quarter" idx="12"/>
          </p:nvPr>
        </p:nvSpPr>
        <p:spPr/>
        <p:txBody>
          <a:bodyPr/>
          <a:lstStyle/>
          <a:p>
            <a:pPr>
              <a:defRPr/>
            </a:pPr>
            <a:fld id="{46E81209-073D-4689-B110-4E5DB93A113A}" type="slidenum">
              <a:rPr lang="en-GB" altLang="en-US" smtClean="0"/>
              <a:pPr>
                <a:defRPr/>
              </a:pPr>
              <a:t>6</a:t>
            </a:fld>
            <a:endParaRPr lang="en-GB" altLang="en-US"/>
          </a:p>
        </p:txBody>
      </p:sp>
    </p:spTree>
    <p:extLst>
      <p:ext uri="{BB962C8B-B14F-4D97-AF65-F5344CB8AC3E}">
        <p14:creationId xmlns:p14="http://schemas.microsoft.com/office/powerpoint/2010/main" val="972081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56937-DE97-4825-B04F-DB819A09E7A5}"/>
              </a:ext>
            </a:extLst>
          </p:cNvPr>
          <p:cNvSpPr>
            <a:spLocks noGrp="1"/>
          </p:cNvSpPr>
          <p:nvPr>
            <p:ph type="title"/>
          </p:nvPr>
        </p:nvSpPr>
        <p:spPr/>
        <p:txBody>
          <a:bodyPr/>
          <a:lstStyle/>
          <a:p>
            <a:r>
              <a:rPr lang="en-IE"/>
              <a:t>REST Overview</a:t>
            </a:r>
            <a:endParaRPr lang="en-IE" dirty="0"/>
          </a:p>
        </p:txBody>
      </p:sp>
      <p:sp>
        <p:nvSpPr>
          <p:cNvPr id="3" name="Content Placeholder 2">
            <a:extLst>
              <a:ext uri="{FF2B5EF4-FFF2-40B4-BE49-F238E27FC236}">
                <a16:creationId xmlns:a16="http://schemas.microsoft.com/office/drawing/2014/main" id="{8EFD4C84-8619-42ED-A811-B288C2F5F7A2}"/>
              </a:ext>
            </a:extLst>
          </p:cNvPr>
          <p:cNvSpPr>
            <a:spLocks noGrp="1"/>
          </p:cNvSpPr>
          <p:nvPr>
            <p:ph idx="1"/>
          </p:nvPr>
        </p:nvSpPr>
        <p:spPr>
          <a:xfrm>
            <a:off x="157163" y="1052513"/>
            <a:ext cx="8591301" cy="5124450"/>
          </a:xfrm>
        </p:spPr>
        <p:txBody>
          <a:bodyPr/>
          <a:lstStyle/>
          <a:p>
            <a:r>
              <a:rPr lang="en-US" sz="2800" dirty="0"/>
              <a:t>REST-style architectures consist of </a:t>
            </a:r>
            <a:r>
              <a:rPr lang="en-US" sz="2800" b="1" u="sng" dirty="0"/>
              <a:t>clients</a:t>
            </a:r>
            <a:r>
              <a:rPr lang="en-US" sz="2800" dirty="0"/>
              <a:t> and </a:t>
            </a:r>
            <a:r>
              <a:rPr lang="en-US" sz="2800" b="1" u="sng" dirty="0"/>
              <a:t>servers</a:t>
            </a:r>
          </a:p>
          <a:p>
            <a:r>
              <a:rPr lang="en-US" sz="2800" b="1" dirty="0"/>
              <a:t>Requests</a:t>
            </a:r>
            <a:r>
              <a:rPr lang="en-US" sz="2800" dirty="0"/>
              <a:t> and </a:t>
            </a:r>
            <a:r>
              <a:rPr lang="en-US" sz="2800" b="1" dirty="0"/>
              <a:t>responses</a:t>
            </a:r>
            <a:r>
              <a:rPr lang="en-US" sz="2800" dirty="0"/>
              <a:t> are built around the transfer of "</a:t>
            </a:r>
            <a:r>
              <a:rPr lang="en-US" sz="2800" b="1" u="sng" dirty="0"/>
              <a:t>representations</a:t>
            </a:r>
            <a:r>
              <a:rPr lang="en-US" sz="2800" dirty="0"/>
              <a:t>" of "</a:t>
            </a:r>
            <a:r>
              <a:rPr lang="en-US" sz="2800" b="1" u="sng" dirty="0"/>
              <a:t>resources</a:t>
            </a:r>
            <a:r>
              <a:rPr lang="en-US" sz="2800" dirty="0"/>
              <a:t>" </a:t>
            </a:r>
          </a:p>
          <a:p>
            <a:r>
              <a:rPr lang="en-US" sz="2800" dirty="0"/>
              <a:t>A </a:t>
            </a:r>
            <a:r>
              <a:rPr lang="en-US" sz="2800" b="1" u="sng" dirty="0"/>
              <a:t>resource</a:t>
            </a:r>
            <a:r>
              <a:rPr lang="en-US" sz="2800" dirty="0"/>
              <a:t> is any entity that can be addressed in a </a:t>
            </a:r>
            <a:r>
              <a:rPr lang="en-US" sz="2800" b="1" u="sng" dirty="0"/>
              <a:t>Uniform Resource Identifier </a:t>
            </a:r>
            <a:r>
              <a:rPr lang="en-US" sz="2800" dirty="0"/>
              <a:t>(an account, an employee, a physical file)</a:t>
            </a:r>
          </a:p>
          <a:p>
            <a:r>
              <a:rPr lang="en-US" sz="2800" dirty="0"/>
              <a:t>A </a:t>
            </a:r>
            <a:r>
              <a:rPr lang="en-US" sz="2800" b="1" u="sng" dirty="0"/>
              <a:t>representation</a:t>
            </a:r>
            <a:r>
              <a:rPr lang="en-US" sz="2800" dirty="0"/>
              <a:t> of a resource is any information that captures the </a:t>
            </a:r>
            <a:r>
              <a:rPr lang="en-US" sz="2800" u="sng" dirty="0"/>
              <a:t>current</a:t>
            </a:r>
            <a:r>
              <a:rPr lang="en-US" sz="2800" dirty="0"/>
              <a:t> or </a:t>
            </a:r>
            <a:r>
              <a:rPr lang="en-US" sz="2800" u="sng" dirty="0"/>
              <a:t>intended state </a:t>
            </a:r>
            <a:r>
              <a:rPr lang="en-US" sz="2800" dirty="0"/>
              <a:t>of a resource. All information necessary to process and complete a request is contained within it</a:t>
            </a:r>
          </a:p>
          <a:p>
            <a:pPr lvl="1"/>
            <a:endParaRPr lang="en-US" sz="3200" dirty="0"/>
          </a:p>
        </p:txBody>
      </p:sp>
      <p:sp>
        <p:nvSpPr>
          <p:cNvPr id="4" name="Date Placeholder 3">
            <a:extLst>
              <a:ext uri="{FF2B5EF4-FFF2-40B4-BE49-F238E27FC236}">
                <a16:creationId xmlns:a16="http://schemas.microsoft.com/office/drawing/2014/main" id="{9615C265-679B-4607-AAD0-BD7C727DC3AD}"/>
              </a:ext>
            </a:extLst>
          </p:cNvPr>
          <p:cNvSpPr>
            <a:spLocks noGrp="1"/>
          </p:cNvSpPr>
          <p:nvPr>
            <p:ph type="dt" sz="half" idx="10"/>
          </p:nvPr>
        </p:nvSpPr>
        <p:spPr/>
        <p:txBody>
          <a:bodyPr/>
          <a:lstStyle/>
          <a:p>
            <a:pPr>
              <a:defRPr/>
            </a:pPr>
            <a:fld id="{C2E34718-F39F-4D85-B42B-BFF47E1FFA2D}" type="datetime1">
              <a:rPr lang="en-IE" smtClean="0"/>
              <a:pPr>
                <a:defRPr/>
              </a:pPr>
              <a:t>01/10/2020</a:t>
            </a:fld>
            <a:endParaRPr lang="en-US" dirty="0"/>
          </a:p>
        </p:txBody>
      </p:sp>
      <p:sp>
        <p:nvSpPr>
          <p:cNvPr id="5" name="Footer Placeholder 4">
            <a:extLst>
              <a:ext uri="{FF2B5EF4-FFF2-40B4-BE49-F238E27FC236}">
                <a16:creationId xmlns:a16="http://schemas.microsoft.com/office/drawing/2014/main" id="{B3D5FF89-AE97-4C79-A6C1-2A35A21B4F97}"/>
              </a:ext>
            </a:extLst>
          </p:cNvPr>
          <p:cNvSpPr>
            <a:spLocks noGrp="1"/>
          </p:cNvSpPr>
          <p:nvPr>
            <p:ph type="ftr" sz="quarter" idx="11"/>
          </p:nvPr>
        </p:nvSpPr>
        <p:spPr/>
        <p:txBody>
          <a:bodyPr/>
          <a:lstStyle/>
          <a:p>
            <a:pPr>
              <a:defRPr/>
            </a:pPr>
            <a:r>
              <a:rPr lang="en-IE" dirty="0"/>
              <a:t>Web Development 3 (2020)</a:t>
            </a:r>
            <a:endParaRPr lang="en-GB" dirty="0"/>
          </a:p>
        </p:txBody>
      </p:sp>
      <p:sp>
        <p:nvSpPr>
          <p:cNvPr id="6" name="Slide Number Placeholder 5">
            <a:extLst>
              <a:ext uri="{FF2B5EF4-FFF2-40B4-BE49-F238E27FC236}">
                <a16:creationId xmlns:a16="http://schemas.microsoft.com/office/drawing/2014/main" id="{EEAC0F21-BC5F-426E-A2C9-ABCE542BAAC4}"/>
              </a:ext>
            </a:extLst>
          </p:cNvPr>
          <p:cNvSpPr>
            <a:spLocks noGrp="1"/>
          </p:cNvSpPr>
          <p:nvPr>
            <p:ph type="sldNum" sz="quarter" idx="12"/>
          </p:nvPr>
        </p:nvSpPr>
        <p:spPr/>
        <p:txBody>
          <a:bodyPr/>
          <a:lstStyle/>
          <a:p>
            <a:pPr>
              <a:defRPr/>
            </a:pPr>
            <a:fld id="{46E81209-073D-4689-B110-4E5DB93A113A}" type="slidenum">
              <a:rPr lang="en-GB" altLang="en-US" smtClean="0"/>
              <a:pPr>
                <a:defRPr/>
              </a:pPr>
              <a:t>7</a:t>
            </a:fld>
            <a:endParaRPr lang="en-GB" altLang="en-US" dirty="0"/>
          </a:p>
        </p:txBody>
      </p:sp>
    </p:spTree>
    <p:extLst>
      <p:ext uri="{BB962C8B-B14F-4D97-AF65-F5344CB8AC3E}">
        <p14:creationId xmlns:p14="http://schemas.microsoft.com/office/powerpoint/2010/main" val="4116821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26128-F32A-ED44-B837-D9CCAA6C1BA7}"/>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URI’s and URL’s</a:t>
            </a:r>
          </a:p>
        </p:txBody>
      </p:sp>
      <p:sp>
        <p:nvSpPr>
          <p:cNvPr id="12290" name="Content Placeholder 2">
            <a:extLst>
              <a:ext uri="{FF2B5EF4-FFF2-40B4-BE49-F238E27FC236}">
                <a16:creationId xmlns:a16="http://schemas.microsoft.com/office/drawing/2014/main" id="{43516B75-4800-A546-8124-5F232639A5F5}"/>
              </a:ext>
            </a:extLst>
          </p:cNvPr>
          <p:cNvSpPr>
            <a:spLocks noGrp="1" noChangeArrowheads="1"/>
          </p:cNvSpPr>
          <p:nvPr>
            <p:ph idx="1"/>
          </p:nvPr>
        </p:nvSpPr>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defRPr/>
            </a:pPr>
            <a:r>
              <a:rPr lang="en-US" altLang="en-US" sz="2800" dirty="0">
                <a:solidFill>
                  <a:srgbClr val="000000"/>
                </a:solidFill>
              </a:rPr>
              <a:t>Requests for resources are identified by URL or URI</a:t>
            </a:r>
          </a:p>
          <a:p>
            <a:pPr marL="342900" indent="-342900" eaLnBrk="1" hangingPunct="1">
              <a:lnSpc>
                <a:spcPct val="100000"/>
              </a:lnSpc>
              <a:spcBef>
                <a:spcPct val="20000"/>
              </a:spcBef>
              <a:buClr>
                <a:srgbClr val="000000"/>
              </a:buClr>
              <a:buFont typeface="Times New Roman" panose="02020603050405020304" pitchFamily="18" charset="0"/>
              <a:buChar char="•"/>
              <a:defRPr/>
            </a:pPr>
            <a:r>
              <a:rPr lang="en-US" altLang="en-US" sz="2800" dirty="0">
                <a:solidFill>
                  <a:srgbClr val="000000"/>
                </a:solidFill>
              </a:rPr>
              <a:t>URL – Uniform Resource Locator</a:t>
            </a:r>
          </a:p>
          <a:p>
            <a:pPr marL="0" indent="0" eaLnBrk="1" hangingPunct="1">
              <a:lnSpc>
                <a:spcPct val="100000"/>
              </a:lnSpc>
              <a:spcBef>
                <a:spcPct val="20000"/>
              </a:spcBef>
              <a:buClr>
                <a:srgbClr val="000000"/>
              </a:buClr>
              <a:buFont typeface="Arial" panose="020B0604020202020204" pitchFamily="34" charset="0"/>
              <a:buNone/>
              <a:defRPr/>
            </a:pPr>
            <a:r>
              <a:rPr lang="en-US" sz="2800" dirty="0">
                <a:solidFill>
                  <a:srgbClr val="000000"/>
                </a:solidFill>
              </a:rPr>
              <a:t>	</a:t>
            </a:r>
            <a:r>
              <a:rPr lang="en-IE" sz="2800" dirty="0">
                <a:solidFill>
                  <a:srgbClr val="0070C0"/>
                </a:solidFill>
              </a:rPr>
              <a:t>scheme:[//authority]path[?query][#fragment]</a:t>
            </a:r>
          </a:p>
          <a:p>
            <a:pPr marL="0" indent="0" eaLnBrk="1" hangingPunct="1">
              <a:lnSpc>
                <a:spcPct val="100000"/>
              </a:lnSpc>
              <a:spcBef>
                <a:spcPct val="20000"/>
              </a:spcBef>
              <a:buClr>
                <a:srgbClr val="000000"/>
              </a:buClr>
              <a:buNone/>
              <a:defRPr/>
            </a:pPr>
            <a:r>
              <a:rPr lang="en-US" altLang="en-US" sz="2800" dirty="0">
                <a:solidFill>
                  <a:srgbClr val="000000"/>
                </a:solidFill>
              </a:rPr>
              <a:t>	</a:t>
            </a:r>
            <a:r>
              <a:rPr lang="en-IE" altLang="en-US" sz="2000" dirty="0">
                <a:solidFill>
                  <a:srgbClr val="000000"/>
                </a:solidFill>
              </a:rPr>
              <a:t>where the authority component divides into three subcomponents:</a:t>
            </a:r>
          </a:p>
          <a:p>
            <a:pPr marL="0" indent="0" eaLnBrk="1" hangingPunct="1">
              <a:lnSpc>
                <a:spcPct val="100000"/>
              </a:lnSpc>
              <a:spcBef>
                <a:spcPct val="20000"/>
              </a:spcBef>
              <a:buClr>
                <a:srgbClr val="000000"/>
              </a:buClr>
              <a:buNone/>
              <a:defRPr/>
            </a:pPr>
            <a:r>
              <a:rPr lang="en-US" sz="2400" dirty="0">
                <a:solidFill>
                  <a:srgbClr val="000000"/>
                </a:solidFill>
              </a:rPr>
              <a:t>	</a:t>
            </a:r>
            <a:r>
              <a:rPr lang="en-IE" sz="2800" dirty="0">
                <a:solidFill>
                  <a:srgbClr val="0070C0"/>
                </a:solidFill>
              </a:rPr>
              <a:t>authority = [</a:t>
            </a:r>
            <a:r>
              <a:rPr lang="en-IE" sz="2800" dirty="0" err="1">
                <a:solidFill>
                  <a:srgbClr val="0070C0"/>
                </a:solidFill>
              </a:rPr>
              <a:t>userinfo</a:t>
            </a:r>
            <a:r>
              <a:rPr lang="en-IE" sz="2800" dirty="0">
                <a:solidFill>
                  <a:srgbClr val="0070C0"/>
                </a:solidFill>
              </a:rPr>
              <a:t>@]host[:port]</a:t>
            </a:r>
            <a:endParaRPr lang="en-US" altLang="en-US" sz="2800" dirty="0">
              <a:solidFill>
                <a:srgbClr val="000000"/>
              </a:solidFill>
            </a:endParaRPr>
          </a:p>
          <a:p>
            <a:pPr marL="685800" lvl="1" indent="-342900" eaLnBrk="1" hangingPunct="1">
              <a:lnSpc>
                <a:spcPct val="100000"/>
              </a:lnSpc>
              <a:spcBef>
                <a:spcPct val="20000"/>
              </a:spcBef>
              <a:buClr>
                <a:srgbClr val="000000"/>
              </a:buClr>
              <a:buFont typeface="Times New Roman" panose="02020603050405020304" pitchFamily="18" charset="0"/>
              <a:buChar char="•"/>
              <a:defRPr/>
            </a:pPr>
            <a:r>
              <a:rPr lang="en-US" altLang="en-US" sz="2500" dirty="0">
                <a:solidFill>
                  <a:srgbClr val="000000"/>
                </a:solidFill>
              </a:rPr>
              <a:t>Popular Schemes: </a:t>
            </a:r>
            <a:r>
              <a:rPr lang="en-US" altLang="en-US" sz="2500" dirty="0">
                <a:solidFill>
                  <a:srgbClr val="0070C0"/>
                </a:solidFill>
              </a:rPr>
              <a:t>http, https, ftp, </a:t>
            </a:r>
            <a:r>
              <a:rPr lang="en-US" altLang="en-US" sz="2500" dirty="0" err="1">
                <a:solidFill>
                  <a:srgbClr val="0070C0"/>
                </a:solidFill>
              </a:rPr>
              <a:t>mailto</a:t>
            </a:r>
            <a:r>
              <a:rPr lang="en-US" altLang="en-US" sz="2500" dirty="0">
                <a:solidFill>
                  <a:srgbClr val="0070C0"/>
                </a:solidFill>
              </a:rPr>
              <a:t>, file, data</a:t>
            </a:r>
            <a:r>
              <a:rPr lang="en-US" altLang="en-US" sz="2500" dirty="0">
                <a:solidFill>
                  <a:srgbClr val="000000"/>
                </a:solidFill>
              </a:rPr>
              <a:t>, and </a:t>
            </a:r>
            <a:r>
              <a:rPr lang="en-US" altLang="en-US" sz="2500" dirty="0" err="1">
                <a:solidFill>
                  <a:srgbClr val="0070C0"/>
                </a:solidFill>
              </a:rPr>
              <a:t>irc</a:t>
            </a:r>
            <a:endParaRPr lang="en-US" altLang="en-US" sz="2500" dirty="0">
              <a:solidFill>
                <a:srgbClr val="000000"/>
              </a:solidFill>
            </a:endParaRPr>
          </a:p>
          <a:p>
            <a:pPr marL="685800" lvl="1" indent="-342900" eaLnBrk="1" hangingPunct="1">
              <a:lnSpc>
                <a:spcPct val="100000"/>
              </a:lnSpc>
              <a:spcBef>
                <a:spcPct val="20000"/>
              </a:spcBef>
              <a:buClr>
                <a:srgbClr val="000000"/>
              </a:buClr>
              <a:buFont typeface="Times New Roman" panose="02020603050405020304" pitchFamily="18" charset="0"/>
              <a:buChar char="•"/>
              <a:defRPr/>
            </a:pPr>
            <a:r>
              <a:rPr lang="en-US" altLang="en-US" sz="2400" dirty="0">
                <a:solidFill>
                  <a:srgbClr val="000000"/>
                </a:solidFill>
              </a:rPr>
              <a:t>Example: </a:t>
            </a:r>
            <a:r>
              <a:rPr lang="en-US" altLang="en-US" sz="2400" dirty="0">
                <a:solidFill>
                  <a:srgbClr val="000000"/>
                </a:solidFill>
                <a:hlinkClick r:id="rId2"/>
              </a:rPr>
              <a:t>https://en.wikipedia.org/wiki/COVID-19_pandemic</a:t>
            </a:r>
            <a:endParaRPr lang="en-US" altLang="en-US" sz="2400" dirty="0">
              <a:solidFill>
                <a:srgbClr val="000000"/>
              </a:solidFill>
            </a:endParaRPr>
          </a:p>
          <a:p>
            <a:pPr marL="342900" indent="-342900" eaLnBrk="1" hangingPunct="1">
              <a:lnSpc>
                <a:spcPct val="100000"/>
              </a:lnSpc>
              <a:spcBef>
                <a:spcPct val="20000"/>
              </a:spcBef>
              <a:buClr>
                <a:srgbClr val="000000"/>
              </a:buClr>
              <a:buFont typeface="Times New Roman" panose="02020603050405020304" pitchFamily="18" charset="0"/>
              <a:buChar char="•"/>
              <a:defRPr/>
            </a:pPr>
            <a:r>
              <a:rPr lang="en-US" altLang="en-US" sz="2800" dirty="0">
                <a:solidFill>
                  <a:srgbClr val="000000"/>
                </a:solidFill>
              </a:rPr>
              <a:t>URN – Uniform Resource Name</a:t>
            </a:r>
          </a:p>
          <a:p>
            <a:pPr marL="685800" lvl="1" indent="-342900" eaLnBrk="1" hangingPunct="1">
              <a:lnSpc>
                <a:spcPct val="100000"/>
              </a:lnSpc>
              <a:spcBef>
                <a:spcPct val="20000"/>
              </a:spcBef>
              <a:buClr>
                <a:srgbClr val="000000"/>
              </a:buClr>
              <a:buFont typeface="Times New Roman" panose="02020603050405020304" pitchFamily="18" charset="0"/>
              <a:buChar char="•"/>
              <a:defRPr/>
            </a:pPr>
            <a:r>
              <a:rPr lang="en-US" altLang="en-US" sz="2400" dirty="0">
                <a:solidFill>
                  <a:srgbClr val="000000"/>
                </a:solidFill>
              </a:rPr>
              <a:t>Example : urn:isbn:0451450523</a:t>
            </a:r>
          </a:p>
          <a:p>
            <a:pPr marL="342900" indent="-342900" eaLnBrk="1" hangingPunct="1">
              <a:lnSpc>
                <a:spcPct val="100000"/>
              </a:lnSpc>
              <a:spcBef>
                <a:spcPct val="20000"/>
              </a:spcBef>
              <a:buClr>
                <a:srgbClr val="000000"/>
              </a:buClr>
              <a:buFont typeface="Times New Roman" panose="02020603050405020304" pitchFamily="18" charset="0"/>
              <a:buChar char="•"/>
              <a:defRPr/>
            </a:pPr>
            <a:r>
              <a:rPr lang="en-US" altLang="en-US" sz="2400" dirty="0">
                <a:solidFill>
                  <a:srgbClr val="000000"/>
                </a:solidFill>
              </a:rPr>
              <a:t>URI – Uniform Resource Identifier</a:t>
            </a:r>
          </a:p>
          <a:p>
            <a:pPr marL="685800" lvl="1" indent="-342900" eaLnBrk="1" hangingPunct="1">
              <a:lnSpc>
                <a:spcPct val="100000"/>
              </a:lnSpc>
              <a:spcBef>
                <a:spcPct val="20000"/>
              </a:spcBef>
              <a:buClr>
                <a:srgbClr val="000000"/>
              </a:buClr>
              <a:buFont typeface="Times New Roman" panose="02020603050405020304" pitchFamily="18" charset="0"/>
              <a:buChar char="•"/>
              <a:defRPr/>
            </a:pPr>
            <a:r>
              <a:rPr lang="en-US" altLang="en-US" sz="2100" dirty="0">
                <a:solidFill>
                  <a:srgbClr val="000000"/>
                </a:solidFill>
              </a:rPr>
              <a:t>Can be either a URL or a URN</a:t>
            </a:r>
          </a:p>
          <a:p>
            <a:pPr marL="0" indent="0" eaLnBrk="1" hangingPunct="1">
              <a:lnSpc>
                <a:spcPct val="100000"/>
              </a:lnSpc>
              <a:spcBef>
                <a:spcPct val="20000"/>
              </a:spcBef>
              <a:buClr>
                <a:srgbClr val="000000"/>
              </a:buClr>
              <a:buNone/>
              <a:defRPr/>
            </a:pPr>
            <a:endParaRPr lang="en-US" altLang="en-US" sz="2700" dirty="0">
              <a:solidFill>
                <a:srgbClr val="000000"/>
              </a:solidFill>
            </a:endParaRPr>
          </a:p>
        </p:txBody>
      </p:sp>
      <p:sp>
        <p:nvSpPr>
          <p:cNvPr id="4" name="Footer Placeholder 3">
            <a:extLst>
              <a:ext uri="{FF2B5EF4-FFF2-40B4-BE49-F238E27FC236}">
                <a16:creationId xmlns:a16="http://schemas.microsoft.com/office/drawing/2014/main" id="{8BD70C78-9CF7-BE41-98F5-44B7E8AC2B90}"/>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88B2F0C6-72F8-E248-A547-E22577D20DA8}"/>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4E387C91-9708-7E4B-8E0F-3AB851048A7C}"/>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39343C6-0C68-FE4E-A8CA-9300623D232F}"/>
              </a:ext>
            </a:extLst>
          </p:cNvPr>
          <p:cNvSpPr>
            <a:spLocks noGrp="1"/>
          </p:cNvSpPr>
          <p:nvPr>
            <p:ph type="sldNum" sz="quarter" idx="12"/>
          </p:nvPr>
        </p:nvSpPr>
        <p:spPr/>
        <p:txBody>
          <a:bodyPr/>
          <a:lstStyle/>
          <a:p>
            <a:pPr>
              <a:defRPr/>
            </a:pPr>
            <a:fld id="{4C31BDE3-5949-C24A-821C-A6A3D357B5A7}" type="slidenum">
              <a:rPr lang="en-GB" altLang="en-US" smtClean="0"/>
              <a:pPr>
                <a:defRPr/>
              </a:pPr>
              <a:t>8</a:t>
            </a:fld>
            <a:endParaRPr lang="en-GB"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56937-DE97-4825-B04F-DB819A09E7A5}"/>
              </a:ext>
            </a:extLst>
          </p:cNvPr>
          <p:cNvSpPr>
            <a:spLocks noGrp="1"/>
          </p:cNvSpPr>
          <p:nvPr>
            <p:ph type="title"/>
          </p:nvPr>
        </p:nvSpPr>
        <p:spPr/>
        <p:txBody>
          <a:bodyPr/>
          <a:lstStyle/>
          <a:p>
            <a:r>
              <a:rPr lang="en-IE" dirty="0"/>
              <a:t>Uniform Resource Locator - URL</a:t>
            </a:r>
          </a:p>
        </p:txBody>
      </p:sp>
      <p:sp>
        <p:nvSpPr>
          <p:cNvPr id="3" name="Content Placeholder 2">
            <a:extLst>
              <a:ext uri="{FF2B5EF4-FFF2-40B4-BE49-F238E27FC236}">
                <a16:creationId xmlns:a16="http://schemas.microsoft.com/office/drawing/2014/main" id="{8EFD4C84-8619-42ED-A811-B288C2F5F7A2}"/>
              </a:ext>
            </a:extLst>
          </p:cNvPr>
          <p:cNvSpPr>
            <a:spLocks noGrp="1"/>
          </p:cNvSpPr>
          <p:nvPr>
            <p:ph idx="1"/>
          </p:nvPr>
        </p:nvSpPr>
        <p:spPr>
          <a:xfrm>
            <a:off x="179512" y="836712"/>
            <a:ext cx="8591301" cy="5124450"/>
          </a:xfrm>
        </p:spPr>
        <p:txBody>
          <a:bodyPr/>
          <a:lstStyle/>
          <a:p>
            <a:pPr eaLnBrk="1" hangingPunct="1"/>
            <a:r>
              <a:rPr lang="en-US" altLang="en-US" sz="3600" dirty="0"/>
              <a:t>URL’s are location dependent </a:t>
            </a:r>
          </a:p>
          <a:p>
            <a:pPr eaLnBrk="1" hangingPunct="1"/>
            <a:r>
              <a:rPr lang="en-US" altLang="en-US" sz="3600" dirty="0"/>
              <a:t>They contains four distinct parts: </a:t>
            </a:r>
          </a:p>
          <a:p>
            <a:pPr lvl="1" eaLnBrk="1" hangingPunct="1"/>
            <a:r>
              <a:rPr lang="en-US" altLang="en-US" sz="3300" dirty="0"/>
              <a:t>protocol type (Scheme) </a:t>
            </a:r>
          </a:p>
          <a:p>
            <a:pPr lvl="1" eaLnBrk="1" hangingPunct="1"/>
            <a:r>
              <a:rPr lang="en-US" altLang="en-US" sz="3300" dirty="0"/>
              <a:t>server/machine name (Authority)</a:t>
            </a:r>
          </a:p>
          <a:p>
            <a:pPr lvl="1" eaLnBrk="1" hangingPunct="1"/>
            <a:r>
              <a:rPr lang="en-US" altLang="en-US" sz="3300" dirty="0"/>
              <a:t>path which can be broken into two parts: </a:t>
            </a:r>
          </a:p>
          <a:p>
            <a:pPr lvl="2" eaLnBrk="1" hangingPunct="1"/>
            <a:r>
              <a:rPr lang="en-US" altLang="en-US" sz="3000" dirty="0"/>
              <a:t>the directory path</a:t>
            </a:r>
          </a:p>
          <a:p>
            <a:pPr lvl="2" eaLnBrk="1" hangingPunct="1"/>
            <a:r>
              <a:rPr lang="en-US" altLang="en-US" sz="3000" dirty="0"/>
              <a:t>the file name </a:t>
            </a:r>
          </a:p>
        </p:txBody>
      </p:sp>
      <p:sp>
        <p:nvSpPr>
          <p:cNvPr id="4" name="Date Placeholder 3">
            <a:extLst>
              <a:ext uri="{FF2B5EF4-FFF2-40B4-BE49-F238E27FC236}">
                <a16:creationId xmlns:a16="http://schemas.microsoft.com/office/drawing/2014/main" id="{9615C265-679B-4607-AAD0-BD7C727DC3AD}"/>
              </a:ext>
            </a:extLst>
          </p:cNvPr>
          <p:cNvSpPr>
            <a:spLocks noGrp="1"/>
          </p:cNvSpPr>
          <p:nvPr>
            <p:ph type="dt" sz="half" idx="10"/>
          </p:nvPr>
        </p:nvSpPr>
        <p:spPr/>
        <p:txBody>
          <a:bodyPr/>
          <a:lstStyle/>
          <a:p>
            <a:pPr>
              <a:defRPr/>
            </a:pPr>
            <a:fld id="{C2E34718-F39F-4D85-B42B-BFF47E1FFA2D}" type="datetime1">
              <a:rPr lang="en-IE" smtClean="0"/>
              <a:pPr>
                <a:defRPr/>
              </a:pPr>
              <a:t>01/10/2020</a:t>
            </a:fld>
            <a:endParaRPr lang="en-US" dirty="0"/>
          </a:p>
        </p:txBody>
      </p:sp>
      <p:sp>
        <p:nvSpPr>
          <p:cNvPr id="5" name="Footer Placeholder 4">
            <a:extLst>
              <a:ext uri="{FF2B5EF4-FFF2-40B4-BE49-F238E27FC236}">
                <a16:creationId xmlns:a16="http://schemas.microsoft.com/office/drawing/2014/main" id="{B3D5FF89-AE97-4C79-A6C1-2A35A21B4F97}"/>
              </a:ext>
            </a:extLst>
          </p:cNvPr>
          <p:cNvSpPr>
            <a:spLocks noGrp="1"/>
          </p:cNvSpPr>
          <p:nvPr>
            <p:ph type="ftr" sz="quarter" idx="11"/>
          </p:nvPr>
        </p:nvSpPr>
        <p:spPr/>
        <p:txBody>
          <a:bodyPr/>
          <a:lstStyle/>
          <a:p>
            <a:pPr>
              <a:defRPr/>
            </a:pPr>
            <a:r>
              <a:rPr lang="en-IE" dirty="0"/>
              <a:t>Web Development 3 (2020)</a:t>
            </a:r>
            <a:endParaRPr lang="en-GB" dirty="0"/>
          </a:p>
        </p:txBody>
      </p:sp>
      <p:sp>
        <p:nvSpPr>
          <p:cNvPr id="6" name="Slide Number Placeholder 5">
            <a:extLst>
              <a:ext uri="{FF2B5EF4-FFF2-40B4-BE49-F238E27FC236}">
                <a16:creationId xmlns:a16="http://schemas.microsoft.com/office/drawing/2014/main" id="{EEAC0F21-BC5F-426E-A2C9-ABCE542BAAC4}"/>
              </a:ext>
            </a:extLst>
          </p:cNvPr>
          <p:cNvSpPr>
            <a:spLocks noGrp="1"/>
          </p:cNvSpPr>
          <p:nvPr>
            <p:ph type="sldNum" sz="quarter" idx="12"/>
          </p:nvPr>
        </p:nvSpPr>
        <p:spPr/>
        <p:txBody>
          <a:bodyPr/>
          <a:lstStyle/>
          <a:p>
            <a:pPr>
              <a:defRPr/>
            </a:pPr>
            <a:fld id="{46E81209-073D-4689-B110-4E5DB93A113A}" type="slidenum">
              <a:rPr lang="en-GB" altLang="en-US" smtClean="0"/>
              <a:pPr>
                <a:defRPr/>
              </a:pPr>
              <a:t>9</a:t>
            </a:fld>
            <a:endParaRPr lang="en-GB" altLang="en-US"/>
          </a:p>
        </p:txBody>
      </p:sp>
      <p:pic>
        <p:nvPicPr>
          <p:cNvPr id="7" name="Picture 5" descr="FIG01-02">
            <a:extLst>
              <a:ext uri="{FF2B5EF4-FFF2-40B4-BE49-F238E27FC236}">
                <a16:creationId xmlns:a16="http://schemas.microsoft.com/office/drawing/2014/main" id="{605FCF3C-648C-4CF0-8217-916810ABC9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4541818"/>
            <a:ext cx="7010400" cy="1808162"/>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8287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8082A-F56C-CE40-9E05-203B02B2EB09}"/>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HTTP Requests</a:t>
            </a:r>
          </a:p>
        </p:txBody>
      </p:sp>
      <p:sp>
        <p:nvSpPr>
          <p:cNvPr id="21507" name="Content Placeholder 2">
            <a:extLst>
              <a:ext uri="{FF2B5EF4-FFF2-40B4-BE49-F238E27FC236}">
                <a16:creationId xmlns:a16="http://schemas.microsoft.com/office/drawing/2014/main" id="{198EF6C4-E32E-A049-8926-F58CD419B074}"/>
              </a:ext>
            </a:extLst>
          </p:cNvPr>
          <p:cNvSpPr>
            <a:spLocks noGrp="1" noChangeArrowheads="1"/>
          </p:cNvSpPr>
          <p:nvPr>
            <p:ph idx="1"/>
          </p:nvPr>
        </p:nvSpPr>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a:solidFill>
                  <a:srgbClr val="000000"/>
                </a:solidFill>
              </a:rPr>
              <a:t>Request Line</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sz="2500">
                <a:solidFill>
                  <a:srgbClr val="000000"/>
                </a:solidFill>
              </a:rPr>
              <a:t>GET index.jsp HTTP/1.1</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sz="2500">
                <a:solidFill>
                  <a:srgbClr val="000000"/>
                </a:solidFill>
              </a:rPr>
              <a:t>POST myApp/book/update HTTP/1.1</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a:solidFill>
                  <a:srgbClr val="000000"/>
                </a:solidFill>
              </a:rPr>
              <a:t>Headers (Zero or more header fields followed by CRLF)</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sz="2500">
                <a:solidFill>
                  <a:srgbClr val="000000"/>
                </a:solidFill>
              </a:rPr>
              <a:t>Content-type: text/plain</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sz="2500">
                <a:solidFill>
                  <a:srgbClr val="000000"/>
                </a:solidFill>
              </a:rPr>
              <a:t>Content-length: 19</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a:solidFill>
                  <a:srgbClr val="000000"/>
                </a:solidFill>
              </a:rPr>
              <a:t>Empty Line with CRLF (Indicates end of header fields)</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a:solidFill>
                  <a:srgbClr val="000000"/>
                </a:solidFill>
              </a:rPr>
              <a:t>Optional Body</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sz="2500">
                <a:solidFill>
                  <a:srgbClr val="000000"/>
                </a:solidFill>
              </a:rPr>
              <a:t>GET has none.</a:t>
            </a: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400">
              <a:solidFill>
                <a:srgbClr val="000000"/>
              </a:solidFill>
            </a:endParaRPr>
          </a:p>
        </p:txBody>
      </p:sp>
      <p:sp>
        <p:nvSpPr>
          <p:cNvPr id="4" name="Footer Placeholder 3">
            <a:extLst>
              <a:ext uri="{FF2B5EF4-FFF2-40B4-BE49-F238E27FC236}">
                <a16:creationId xmlns:a16="http://schemas.microsoft.com/office/drawing/2014/main" id="{47BA6B2D-B3CB-A847-9186-9C396BF547EF}"/>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37D74CC8-A1E7-FB49-8AB4-492CA943E711}"/>
              </a:ext>
            </a:extLst>
          </p:cNvPr>
          <p:cNvPicPr>
            <a:picLocks noChangeAspect="1"/>
          </p:cNvPicPr>
          <p:nvPr/>
        </p:nvPicPr>
        <p:blipFill>
          <a:blip r:embed="rId2">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5174A1D7-A8B5-A14D-B324-CE769A028857}"/>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F645C950-905E-744C-96D8-3ABC825E1DC6}"/>
              </a:ext>
            </a:extLst>
          </p:cNvPr>
          <p:cNvSpPr>
            <a:spLocks noGrp="1"/>
          </p:cNvSpPr>
          <p:nvPr>
            <p:ph type="sldNum" sz="quarter" idx="12"/>
          </p:nvPr>
        </p:nvSpPr>
        <p:spPr/>
        <p:txBody>
          <a:bodyPr/>
          <a:lstStyle/>
          <a:p>
            <a:pPr>
              <a:defRPr/>
            </a:pPr>
            <a:fld id="{40BCB2C2-3C92-FB40-9F9F-D6641D2DE735}" type="slidenum">
              <a:rPr lang="en-GB" altLang="en-US" smtClean="0"/>
              <a:pPr>
                <a:defRPr/>
              </a:pPr>
              <a:t>10</a:t>
            </a:fld>
            <a:endParaRPr lang="en-GB"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AF72A-11F0-4A4C-A478-4E0E2BC77D3E}"/>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HTTP GET - Example</a:t>
            </a:r>
          </a:p>
        </p:txBody>
      </p:sp>
      <p:sp>
        <p:nvSpPr>
          <p:cNvPr id="4" name="Footer Placeholder 3">
            <a:extLst>
              <a:ext uri="{FF2B5EF4-FFF2-40B4-BE49-F238E27FC236}">
                <a16:creationId xmlns:a16="http://schemas.microsoft.com/office/drawing/2014/main" id="{3950DBE1-61CD-CB49-A767-D84B6491DD6C}"/>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CBAA3C9E-22B7-A241-A689-9EAE53F04D62}"/>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F2F77CDA-40F8-AB47-B97D-1BD60A14AB85}"/>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1573C2C5-F598-0444-80B9-9C861651DCD9}"/>
              </a:ext>
            </a:extLst>
          </p:cNvPr>
          <p:cNvSpPr>
            <a:spLocks noGrp="1"/>
          </p:cNvSpPr>
          <p:nvPr>
            <p:ph type="sldNum" sz="quarter" idx="12"/>
          </p:nvPr>
        </p:nvSpPr>
        <p:spPr/>
        <p:txBody>
          <a:bodyPr/>
          <a:lstStyle/>
          <a:p>
            <a:pPr>
              <a:defRPr/>
            </a:pPr>
            <a:fld id="{389A7C52-9846-7640-A106-164A44ED5D8F}" type="slidenum">
              <a:rPr lang="en-GB" altLang="en-US" smtClean="0"/>
              <a:pPr>
                <a:defRPr/>
              </a:pPr>
              <a:t>11</a:t>
            </a:fld>
            <a:endParaRPr lang="en-GB" altLang="en-US"/>
          </a:p>
        </p:txBody>
      </p:sp>
      <p:sp>
        <p:nvSpPr>
          <p:cNvPr id="8" name="Rectangle 7">
            <a:extLst>
              <a:ext uri="{FF2B5EF4-FFF2-40B4-BE49-F238E27FC236}">
                <a16:creationId xmlns:a16="http://schemas.microsoft.com/office/drawing/2014/main" id="{8F620F4A-6210-9443-897B-5F67B158018A}"/>
              </a:ext>
            </a:extLst>
          </p:cNvPr>
          <p:cNvSpPr/>
          <p:nvPr/>
        </p:nvSpPr>
        <p:spPr>
          <a:xfrm>
            <a:off x="1547813" y="1230313"/>
            <a:ext cx="7685087" cy="1938337"/>
          </a:xfrm>
          <a:prstGeom prst="rect">
            <a:avLst/>
          </a:prstGeom>
        </p:spPr>
        <p:txBody>
          <a:bodyPr>
            <a:spAutoFit/>
          </a:bodyPr>
          <a:lstStyle/>
          <a:p>
            <a:pPr hangingPunct="1">
              <a:spcBef>
                <a:spcPts val="0"/>
              </a:spcBef>
              <a:spcAft>
                <a:spcPts val="0"/>
              </a:spcAft>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r>
              <a:rPr lang="en-IE" dirty="0">
                <a:solidFill>
                  <a:srgbClr val="000000"/>
                </a:solidFill>
                <a:latin typeface="+mn-lt"/>
                <a:ea typeface="Droid Sans Fallback" pitchFamily="2"/>
                <a:cs typeface="FreeSans" pitchFamily="2"/>
              </a:rPr>
              <a:t>GET /</a:t>
            </a:r>
            <a:r>
              <a:rPr lang="en-IE" dirty="0" err="1">
                <a:solidFill>
                  <a:srgbClr val="000000"/>
                </a:solidFill>
                <a:latin typeface="+mn-lt"/>
                <a:ea typeface="Droid Sans Fallback" pitchFamily="2"/>
                <a:cs typeface="FreeSans" pitchFamily="2"/>
              </a:rPr>
              <a:t>myApp</a:t>
            </a:r>
            <a:r>
              <a:rPr lang="en-IE" dirty="0">
                <a:solidFill>
                  <a:srgbClr val="000000"/>
                </a:solidFill>
                <a:latin typeface="+mn-lt"/>
                <a:ea typeface="Droid Sans Fallback" pitchFamily="2"/>
                <a:cs typeface="FreeSans" pitchFamily="2"/>
              </a:rPr>
              <a:t>/</a:t>
            </a:r>
            <a:r>
              <a:rPr lang="en-IE" dirty="0" err="1">
                <a:solidFill>
                  <a:srgbClr val="000000"/>
                </a:solidFill>
                <a:latin typeface="+mn-lt"/>
                <a:ea typeface="Droid Sans Fallback" pitchFamily="2"/>
                <a:cs typeface="FreeSans" pitchFamily="2"/>
              </a:rPr>
              <a:t>insert?</a:t>
            </a:r>
            <a:r>
              <a:rPr lang="en-IE" b="1" dirty="0" err="1">
                <a:solidFill>
                  <a:srgbClr val="0070C0"/>
                </a:solidFill>
                <a:latin typeface="+mn-lt"/>
                <a:ea typeface="Droid Sans Fallback" pitchFamily="2"/>
                <a:cs typeface="FreeSans" pitchFamily="2"/>
              </a:rPr>
              <a:t>name</a:t>
            </a:r>
            <a:r>
              <a:rPr lang="en-IE" b="1" dirty="0">
                <a:solidFill>
                  <a:srgbClr val="0070C0"/>
                </a:solidFill>
                <a:latin typeface="+mn-lt"/>
                <a:ea typeface="Droid Sans Fallback" pitchFamily="2"/>
                <a:cs typeface="FreeSans" pitchFamily="2"/>
              </a:rPr>
              <a:t>=</a:t>
            </a:r>
            <a:r>
              <a:rPr lang="en-IE" b="1" dirty="0" err="1">
                <a:solidFill>
                  <a:srgbClr val="0070C0"/>
                </a:solidFill>
                <a:latin typeface="+mn-lt"/>
                <a:ea typeface="Droid Sans Fallback" pitchFamily="2"/>
                <a:cs typeface="FreeSans" pitchFamily="2"/>
              </a:rPr>
              <a:t>paul&amp;address</a:t>
            </a:r>
            <a:r>
              <a:rPr lang="en-IE" b="1" dirty="0">
                <a:solidFill>
                  <a:srgbClr val="0070C0"/>
                </a:solidFill>
                <a:latin typeface="+mn-lt"/>
                <a:ea typeface="Droid Sans Fallback" pitchFamily="2"/>
                <a:cs typeface="FreeSans" pitchFamily="2"/>
              </a:rPr>
              <a:t>=</a:t>
            </a:r>
            <a:r>
              <a:rPr lang="en-IE" b="1" dirty="0" err="1">
                <a:solidFill>
                  <a:srgbClr val="0070C0"/>
                </a:solidFill>
                <a:latin typeface="+mn-lt"/>
                <a:ea typeface="Droid Sans Fallback" pitchFamily="2"/>
                <a:cs typeface="FreeSans" pitchFamily="2"/>
              </a:rPr>
              <a:t>athlone</a:t>
            </a:r>
            <a:endParaRPr lang="en-IE" b="1" dirty="0">
              <a:solidFill>
                <a:srgbClr val="0070C0"/>
              </a:solidFill>
              <a:latin typeface="+mn-lt"/>
              <a:ea typeface="Droid Sans Fallback" pitchFamily="2"/>
              <a:cs typeface="FreeSans" pitchFamily="2"/>
            </a:endParaRPr>
          </a:p>
          <a:p>
            <a:pPr hangingPunct="1">
              <a:spcBef>
                <a:spcPts val="0"/>
              </a:spcBef>
              <a:spcAft>
                <a:spcPts val="0"/>
              </a:spcAft>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r>
              <a:rPr lang="en-IE" dirty="0" err="1">
                <a:solidFill>
                  <a:srgbClr val="000000"/>
                </a:solidFill>
                <a:latin typeface="+mn-lt"/>
                <a:ea typeface="Droid Sans Fallback" pitchFamily="2"/>
                <a:cs typeface="FreeSans" pitchFamily="2"/>
              </a:rPr>
              <a:t>User-agent:Chrome</a:t>
            </a:r>
            <a:r>
              <a:rPr lang="en-IE" dirty="0">
                <a:solidFill>
                  <a:srgbClr val="000000"/>
                </a:solidFill>
                <a:latin typeface="+mn-lt"/>
                <a:ea typeface="Droid Sans Fallback" pitchFamily="2"/>
                <a:cs typeface="FreeSans" pitchFamily="2"/>
              </a:rPr>
              <a:t>/3.0.195.38</a:t>
            </a:r>
          </a:p>
          <a:p>
            <a:pPr hangingPunct="1">
              <a:spcBef>
                <a:spcPts val="0"/>
              </a:spcBef>
              <a:spcAft>
                <a:spcPts val="0"/>
              </a:spcAft>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r>
              <a:rPr lang="en-IE" dirty="0" err="1">
                <a:solidFill>
                  <a:srgbClr val="000000"/>
                </a:solidFill>
                <a:latin typeface="+mn-lt"/>
                <a:ea typeface="Droid Sans Fallback" pitchFamily="2"/>
                <a:cs typeface="FreeSans" pitchFamily="2"/>
              </a:rPr>
              <a:t>Host:Host</a:t>
            </a:r>
            <a:endParaRPr lang="en-IE" dirty="0">
              <a:solidFill>
                <a:srgbClr val="000000"/>
              </a:solidFill>
              <a:latin typeface="+mn-lt"/>
              <a:ea typeface="Droid Sans Fallback" pitchFamily="2"/>
              <a:cs typeface="FreeSans" pitchFamily="2"/>
            </a:endParaRPr>
          </a:p>
          <a:p>
            <a:pPr hangingPunct="1">
              <a:spcBef>
                <a:spcPts val="0"/>
              </a:spcBef>
              <a:spcAft>
                <a:spcPts val="0"/>
              </a:spcAft>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r>
              <a:rPr lang="en-IE" dirty="0" err="1">
                <a:solidFill>
                  <a:srgbClr val="000000"/>
                </a:solidFill>
                <a:latin typeface="+mn-lt"/>
                <a:ea typeface="Droid Sans Fallback" pitchFamily="2"/>
                <a:cs typeface="FreeSans" pitchFamily="2"/>
              </a:rPr>
              <a:t>Accept:application</a:t>
            </a:r>
            <a:r>
              <a:rPr lang="en-IE" dirty="0">
                <a:solidFill>
                  <a:srgbClr val="000000"/>
                </a:solidFill>
                <a:latin typeface="+mn-lt"/>
                <a:ea typeface="Droid Sans Fallback" pitchFamily="2"/>
                <a:cs typeface="FreeSans" pitchFamily="2"/>
              </a:rPr>
              <a:t>/</a:t>
            </a:r>
            <a:r>
              <a:rPr lang="en-IE" dirty="0" err="1">
                <a:solidFill>
                  <a:srgbClr val="000000"/>
                </a:solidFill>
                <a:latin typeface="+mn-lt"/>
                <a:ea typeface="Droid Sans Fallback" pitchFamily="2"/>
                <a:cs typeface="FreeSans" pitchFamily="2"/>
              </a:rPr>
              <a:t>xml,application</a:t>
            </a:r>
            <a:r>
              <a:rPr lang="en-IE" dirty="0">
                <a:solidFill>
                  <a:srgbClr val="000000"/>
                </a:solidFill>
                <a:latin typeface="+mn-lt"/>
                <a:ea typeface="Droid Sans Fallback" pitchFamily="2"/>
                <a:cs typeface="FreeSans" pitchFamily="2"/>
              </a:rPr>
              <a:t>/</a:t>
            </a:r>
            <a:r>
              <a:rPr lang="en-IE" dirty="0" err="1">
                <a:solidFill>
                  <a:srgbClr val="000000"/>
                </a:solidFill>
                <a:latin typeface="+mn-lt"/>
                <a:ea typeface="Droid Sans Fallback" pitchFamily="2"/>
                <a:cs typeface="FreeSans" pitchFamily="2"/>
              </a:rPr>
              <a:t>xhtml+xml,text</a:t>
            </a:r>
            <a:r>
              <a:rPr lang="en-IE" dirty="0">
                <a:solidFill>
                  <a:srgbClr val="000000"/>
                </a:solidFill>
                <a:latin typeface="+mn-lt"/>
                <a:ea typeface="Droid Sans Fallback" pitchFamily="2"/>
                <a:cs typeface="FreeSans" pitchFamily="2"/>
              </a:rPr>
              <a:t>/</a:t>
            </a:r>
            <a:r>
              <a:rPr lang="en-IE" dirty="0" err="1">
                <a:solidFill>
                  <a:srgbClr val="000000"/>
                </a:solidFill>
                <a:latin typeface="+mn-lt"/>
                <a:ea typeface="Droid Sans Fallback" pitchFamily="2"/>
                <a:cs typeface="FreeSans" pitchFamily="2"/>
              </a:rPr>
              <a:t>html;q</a:t>
            </a:r>
            <a:r>
              <a:rPr lang="en-IE" dirty="0">
                <a:solidFill>
                  <a:srgbClr val="000000"/>
                </a:solidFill>
                <a:latin typeface="+mn-lt"/>
                <a:ea typeface="Droid Sans Fallback" pitchFamily="2"/>
                <a:cs typeface="FreeSans" pitchFamily="2"/>
              </a:rPr>
              <a:t>=0.9,text/</a:t>
            </a:r>
            <a:r>
              <a:rPr lang="en-IE" dirty="0" err="1">
                <a:solidFill>
                  <a:srgbClr val="000000"/>
                </a:solidFill>
                <a:latin typeface="+mn-lt"/>
                <a:ea typeface="Droid Sans Fallback" pitchFamily="2"/>
                <a:cs typeface="FreeSans" pitchFamily="2"/>
              </a:rPr>
              <a:t>plain;q</a:t>
            </a:r>
            <a:r>
              <a:rPr lang="en-IE" dirty="0">
                <a:solidFill>
                  <a:srgbClr val="000000"/>
                </a:solidFill>
                <a:latin typeface="+mn-lt"/>
                <a:ea typeface="Droid Sans Fallback" pitchFamily="2"/>
                <a:cs typeface="FreeSans" pitchFamily="2"/>
              </a:rPr>
              <a:t>=0.8,image/</a:t>
            </a:r>
            <a:r>
              <a:rPr lang="en-IE" dirty="0" err="1">
                <a:solidFill>
                  <a:srgbClr val="000000"/>
                </a:solidFill>
                <a:latin typeface="+mn-lt"/>
                <a:ea typeface="Droid Sans Fallback" pitchFamily="2"/>
                <a:cs typeface="FreeSans" pitchFamily="2"/>
              </a:rPr>
              <a:t>png</a:t>
            </a:r>
            <a:r>
              <a:rPr lang="en-IE" dirty="0">
                <a:solidFill>
                  <a:srgbClr val="000000"/>
                </a:solidFill>
                <a:latin typeface="+mn-lt"/>
                <a:ea typeface="Droid Sans Fallback" pitchFamily="2"/>
                <a:cs typeface="FreeSans" pitchFamily="2"/>
              </a:rPr>
              <a:t>,*/*;q=0.5</a:t>
            </a:r>
          </a:p>
        </p:txBody>
      </p:sp>
      <p:sp>
        <p:nvSpPr>
          <p:cNvPr id="38920" name="TextBox 8">
            <a:extLst>
              <a:ext uri="{FF2B5EF4-FFF2-40B4-BE49-F238E27FC236}">
                <a16:creationId xmlns:a16="http://schemas.microsoft.com/office/drawing/2014/main" id="{D213632B-915E-9040-A1F7-A3754699030B}"/>
              </a:ext>
            </a:extLst>
          </p:cNvPr>
          <p:cNvSpPr txBox="1">
            <a:spLocks noChangeArrowheads="1"/>
          </p:cNvSpPr>
          <p:nvPr/>
        </p:nvSpPr>
        <p:spPr bwMode="auto">
          <a:xfrm>
            <a:off x="-30163" y="1312863"/>
            <a:ext cx="13922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Gothic" panose="020B0609070205080204" pitchFamily="49" charset="-128"/>
              </a:defRPr>
            </a:lvl1pPr>
            <a:lvl2pPr marL="742950" indent="-285750">
              <a:defRPr sz="2400">
                <a:solidFill>
                  <a:schemeClr val="bg1"/>
                </a:solidFill>
                <a:latin typeface="Arial" panose="020B0604020202020204" pitchFamily="34" charset="0"/>
                <a:ea typeface="MS Gothic" panose="020B0609070205080204" pitchFamily="49" charset="-128"/>
              </a:defRPr>
            </a:lvl2pPr>
            <a:lvl3pPr marL="1143000" indent="-228600">
              <a:defRPr sz="2400">
                <a:solidFill>
                  <a:schemeClr val="bg1"/>
                </a:solidFill>
                <a:latin typeface="Arial" panose="020B0604020202020204" pitchFamily="34" charset="0"/>
                <a:ea typeface="MS Gothic" panose="020B0609070205080204" pitchFamily="49" charset="-128"/>
              </a:defRPr>
            </a:lvl3pPr>
            <a:lvl4pPr marL="1600200" indent="-228600">
              <a:defRPr sz="2400">
                <a:solidFill>
                  <a:schemeClr val="bg1"/>
                </a:solidFill>
                <a:latin typeface="Arial" panose="020B0604020202020204" pitchFamily="34" charset="0"/>
                <a:ea typeface="MS Gothic" panose="020B0609070205080204" pitchFamily="49" charset="-128"/>
              </a:defRPr>
            </a:lvl4pPr>
            <a:lvl5pPr marL="2057400" indent="-228600">
              <a:defRPr sz="2400">
                <a:solidFill>
                  <a:schemeClr val="bg1"/>
                </a:solidFill>
                <a:latin typeface="Arial" panose="020B0604020202020204" pitchFamily="34" charset="0"/>
                <a:ea typeface="MS Gothic" panose="020B0609070205080204" pitchFamily="49" charset="-128"/>
              </a:defRPr>
            </a:lvl5pPr>
            <a:lvl6pPr marL="25146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6pPr>
            <a:lvl7pPr marL="29718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7pPr>
            <a:lvl8pPr marL="34290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8pPr>
            <a:lvl9pPr marL="38862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9pPr>
          </a:lstStyle>
          <a:p>
            <a:r>
              <a:rPr lang="en-GB" altLang="en-US" sz="1600">
                <a:solidFill>
                  <a:srgbClr val="0070C0"/>
                </a:solidFill>
              </a:rPr>
              <a:t>Request Line</a:t>
            </a:r>
          </a:p>
        </p:txBody>
      </p:sp>
      <p:sp>
        <p:nvSpPr>
          <p:cNvPr id="38921" name="TextBox 10">
            <a:extLst>
              <a:ext uri="{FF2B5EF4-FFF2-40B4-BE49-F238E27FC236}">
                <a16:creationId xmlns:a16="http://schemas.microsoft.com/office/drawing/2014/main" id="{59857C47-0ABB-7941-A0D2-EC3E4F6E573B}"/>
              </a:ext>
            </a:extLst>
          </p:cNvPr>
          <p:cNvSpPr txBox="1">
            <a:spLocks noChangeArrowheads="1"/>
          </p:cNvSpPr>
          <p:nvPr/>
        </p:nvSpPr>
        <p:spPr bwMode="auto">
          <a:xfrm>
            <a:off x="-34925" y="2200275"/>
            <a:ext cx="14589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Gothic" panose="020B0609070205080204" pitchFamily="49" charset="-128"/>
              </a:defRPr>
            </a:lvl1pPr>
            <a:lvl2pPr marL="742950" indent="-285750">
              <a:defRPr sz="2400">
                <a:solidFill>
                  <a:schemeClr val="bg1"/>
                </a:solidFill>
                <a:latin typeface="Arial" panose="020B0604020202020204" pitchFamily="34" charset="0"/>
                <a:ea typeface="MS Gothic" panose="020B0609070205080204" pitchFamily="49" charset="-128"/>
              </a:defRPr>
            </a:lvl2pPr>
            <a:lvl3pPr marL="1143000" indent="-228600">
              <a:defRPr sz="2400">
                <a:solidFill>
                  <a:schemeClr val="bg1"/>
                </a:solidFill>
                <a:latin typeface="Arial" panose="020B0604020202020204" pitchFamily="34" charset="0"/>
                <a:ea typeface="MS Gothic" panose="020B0609070205080204" pitchFamily="49" charset="-128"/>
              </a:defRPr>
            </a:lvl3pPr>
            <a:lvl4pPr marL="1600200" indent="-228600">
              <a:defRPr sz="2400">
                <a:solidFill>
                  <a:schemeClr val="bg1"/>
                </a:solidFill>
                <a:latin typeface="Arial" panose="020B0604020202020204" pitchFamily="34" charset="0"/>
                <a:ea typeface="MS Gothic" panose="020B0609070205080204" pitchFamily="49" charset="-128"/>
              </a:defRPr>
            </a:lvl4pPr>
            <a:lvl5pPr marL="2057400" indent="-228600">
              <a:defRPr sz="2400">
                <a:solidFill>
                  <a:schemeClr val="bg1"/>
                </a:solidFill>
                <a:latin typeface="Arial" panose="020B0604020202020204" pitchFamily="34" charset="0"/>
                <a:ea typeface="MS Gothic" panose="020B0609070205080204" pitchFamily="49" charset="-128"/>
              </a:defRPr>
            </a:lvl5pPr>
            <a:lvl6pPr marL="25146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6pPr>
            <a:lvl7pPr marL="29718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7pPr>
            <a:lvl8pPr marL="34290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8pPr>
            <a:lvl9pPr marL="38862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9pPr>
          </a:lstStyle>
          <a:p>
            <a:r>
              <a:rPr lang="en-GB" altLang="en-US" sz="1600">
                <a:solidFill>
                  <a:srgbClr val="0070C0"/>
                </a:solidFill>
              </a:rPr>
              <a:t>Header Fields</a:t>
            </a:r>
          </a:p>
        </p:txBody>
      </p:sp>
      <p:sp>
        <p:nvSpPr>
          <p:cNvPr id="10" name="Left Brace 9">
            <a:extLst>
              <a:ext uri="{FF2B5EF4-FFF2-40B4-BE49-F238E27FC236}">
                <a16:creationId xmlns:a16="http://schemas.microsoft.com/office/drawing/2014/main" id="{69F4738E-95B5-CA48-8665-A9F646BBC195}"/>
              </a:ext>
            </a:extLst>
          </p:cNvPr>
          <p:cNvSpPr/>
          <p:nvPr/>
        </p:nvSpPr>
        <p:spPr>
          <a:xfrm>
            <a:off x="1336675" y="1757363"/>
            <a:ext cx="246063" cy="1223962"/>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GB"/>
          </a:p>
        </p:txBody>
      </p:sp>
      <p:sp>
        <p:nvSpPr>
          <p:cNvPr id="13" name="Left Brace 12">
            <a:extLst>
              <a:ext uri="{FF2B5EF4-FFF2-40B4-BE49-F238E27FC236}">
                <a16:creationId xmlns:a16="http://schemas.microsoft.com/office/drawing/2014/main" id="{0F2305C5-4B82-2C42-AA1A-0F6E41904668}"/>
              </a:ext>
            </a:extLst>
          </p:cNvPr>
          <p:cNvSpPr/>
          <p:nvPr/>
        </p:nvSpPr>
        <p:spPr>
          <a:xfrm>
            <a:off x="1338263" y="1285875"/>
            <a:ext cx="244475" cy="393700"/>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137E6-6BC5-ED46-838F-7108BD969374}"/>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HTTP POST - Example</a:t>
            </a:r>
          </a:p>
        </p:txBody>
      </p:sp>
      <p:sp>
        <p:nvSpPr>
          <p:cNvPr id="4" name="Footer Placeholder 3">
            <a:extLst>
              <a:ext uri="{FF2B5EF4-FFF2-40B4-BE49-F238E27FC236}">
                <a16:creationId xmlns:a16="http://schemas.microsoft.com/office/drawing/2014/main" id="{0AFF62AC-245F-A249-A7F2-FDAFEA589C06}"/>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20D82244-8645-F54E-AAA5-FAE68CE6ED8B}"/>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944242E0-0296-A143-99E9-45BAFC1C060D}"/>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E330F89-B1FB-D54F-A7E2-30715020718B}"/>
              </a:ext>
            </a:extLst>
          </p:cNvPr>
          <p:cNvSpPr>
            <a:spLocks noGrp="1"/>
          </p:cNvSpPr>
          <p:nvPr>
            <p:ph type="sldNum" sz="quarter" idx="12"/>
          </p:nvPr>
        </p:nvSpPr>
        <p:spPr/>
        <p:txBody>
          <a:bodyPr/>
          <a:lstStyle/>
          <a:p>
            <a:pPr>
              <a:defRPr/>
            </a:pPr>
            <a:fld id="{312C6E55-75C4-1144-A1D9-71A40F7F0550}" type="slidenum">
              <a:rPr lang="en-GB" altLang="en-US" smtClean="0"/>
              <a:pPr>
                <a:defRPr/>
              </a:pPr>
              <a:t>12</a:t>
            </a:fld>
            <a:endParaRPr lang="en-GB" altLang="en-US"/>
          </a:p>
        </p:txBody>
      </p:sp>
      <p:sp>
        <p:nvSpPr>
          <p:cNvPr id="8" name="Rectangle 7">
            <a:extLst>
              <a:ext uri="{FF2B5EF4-FFF2-40B4-BE49-F238E27FC236}">
                <a16:creationId xmlns:a16="http://schemas.microsoft.com/office/drawing/2014/main" id="{813D31B7-7128-5F42-ADE0-5386623F7A9D}"/>
              </a:ext>
            </a:extLst>
          </p:cNvPr>
          <p:cNvSpPr/>
          <p:nvPr/>
        </p:nvSpPr>
        <p:spPr>
          <a:xfrm>
            <a:off x="1547813" y="1230313"/>
            <a:ext cx="7685087" cy="3046412"/>
          </a:xfrm>
          <a:prstGeom prst="rect">
            <a:avLst/>
          </a:prstGeom>
        </p:spPr>
        <p:txBody>
          <a:bodyPr>
            <a:spAutoFit/>
          </a:bodyPr>
          <a:lstStyle/>
          <a:p>
            <a:pPr hangingPunct="1">
              <a:spcBef>
                <a:spcPts val="0"/>
              </a:spcBef>
              <a:spcAft>
                <a:spcPts val="0"/>
              </a:spcAft>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r>
              <a:rPr lang="en-IE" dirty="0">
                <a:solidFill>
                  <a:srgbClr val="000000"/>
                </a:solidFill>
                <a:latin typeface="+mn-lt"/>
                <a:ea typeface="Droid Sans Fallback" pitchFamily="2"/>
                <a:cs typeface="FreeSans" pitchFamily="2"/>
              </a:rPr>
              <a:t>POST /</a:t>
            </a:r>
            <a:r>
              <a:rPr lang="en-IE" dirty="0" err="1">
                <a:solidFill>
                  <a:srgbClr val="000000"/>
                </a:solidFill>
                <a:latin typeface="+mn-lt"/>
                <a:ea typeface="Droid Sans Fallback" pitchFamily="2"/>
                <a:cs typeface="FreeSans" pitchFamily="2"/>
              </a:rPr>
              <a:t>myApp</a:t>
            </a:r>
            <a:r>
              <a:rPr lang="en-IE" dirty="0">
                <a:solidFill>
                  <a:srgbClr val="000000"/>
                </a:solidFill>
                <a:latin typeface="+mn-lt"/>
                <a:ea typeface="Droid Sans Fallback" pitchFamily="2"/>
                <a:cs typeface="FreeSans" pitchFamily="2"/>
              </a:rPr>
              <a:t>/insert</a:t>
            </a:r>
          </a:p>
          <a:p>
            <a:pPr hangingPunct="1">
              <a:spcBef>
                <a:spcPts val="0"/>
              </a:spcBef>
              <a:spcAft>
                <a:spcPts val="0"/>
              </a:spcAft>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r>
              <a:rPr lang="en-IE" dirty="0" err="1">
                <a:solidFill>
                  <a:srgbClr val="000000"/>
                </a:solidFill>
                <a:latin typeface="+mn-lt"/>
                <a:ea typeface="Droid Sans Fallback" pitchFamily="2"/>
                <a:cs typeface="FreeSans" pitchFamily="2"/>
              </a:rPr>
              <a:t>User-agent:Chrome</a:t>
            </a:r>
            <a:r>
              <a:rPr lang="en-IE" dirty="0">
                <a:solidFill>
                  <a:srgbClr val="000000"/>
                </a:solidFill>
                <a:latin typeface="+mn-lt"/>
                <a:ea typeface="Droid Sans Fallback" pitchFamily="2"/>
                <a:cs typeface="FreeSans" pitchFamily="2"/>
              </a:rPr>
              <a:t>/3.0.195.38</a:t>
            </a:r>
          </a:p>
          <a:p>
            <a:pPr hangingPunct="1">
              <a:spcBef>
                <a:spcPts val="0"/>
              </a:spcBef>
              <a:spcAft>
                <a:spcPts val="0"/>
              </a:spcAft>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r>
              <a:rPr lang="en-IE" dirty="0" err="1">
                <a:solidFill>
                  <a:srgbClr val="000000"/>
                </a:solidFill>
                <a:latin typeface="+mn-lt"/>
                <a:ea typeface="Droid Sans Fallback" pitchFamily="2"/>
                <a:cs typeface="FreeSans" pitchFamily="2"/>
              </a:rPr>
              <a:t>Host:Host</a:t>
            </a:r>
            <a:endParaRPr lang="en-IE" dirty="0">
              <a:solidFill>
                <a:srgbClr val="000000"/>
              </a:solidFill>
              <a:latin typeface="+mn-lt"/>
              <a:ea typeface="Droid Sans Fallback" pitchFamily="2"/>
              <a:cs typeface="FreeSans" pitchFamily="2"/>
            </a:endParaRPr>
          </a:p>
          <a:p>
            <a:pPr hangingPunct="1">
              <a:spcBef>
                <a:spcPts val="0"/>
              </a:spcBef>
              <a:spcAft>
                <a:spcPts val="0"/>
              </a:spcAft>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r>
              <a:rPr lang="en-IE" dirty="0" err="1">
                <a:solidFill>
                  <a:srgbClr val="000000"/>
                </a:solidFill>
                <a:latin typeface="+mn-lt"/>
                <a:ea typeface="Droid Sans Fallback" pitchFamily="2"/>
                <a:cs typeface="FreeSans" pitchFamily="2"/>
              </a:rPr>
              <a:t>Accept:application</a:t>
            </a:r>
            <a:r>
              <a:rPr lang="en-IE" dirty="0">
                <a:solidFill>
                  <a:srgbClr val="000000"/>
                </a:solidFill>
                <a:latin typeface="+mn-lt"/>
                <a:ea typeface="Droid Sans Fallback" pitchFamily="2"/>
                <a:cs typeface="FreeSans" pitchFamily="2"/>
              </a:rPr>
              <a:t>/</a:t>
            </a:r>
            <a:r>
              <a:rPr lang="en-IE" dirty="0" err="1">
                <a:solidFill>
                  <a:srgbClr val="000000"/>
                </a:solidFill>
                <a:latin typeface="+mn-lt"/>
                <a:ea typeface="Droid Sans Fallback" pitchFamily="2"/>
                <a:cs typeface="FreeSans" pitchFamily="2"/>
              </a:rPr>
              <a:t>xml,application</a:t>
            </a:r>
            <a:r>
              <a:rPr lang="en-IE" dirty="0">
                <a:solidFill>
                  <a:srgbClr val="000000"/>
                </a:solidFill>
                <a:latin typeface="+mn-lt"/>
                <a:ea typeface="Droid Sans Fallback" pitchFamily="2"/>
                <a:cs typeface="FreeSans" pitchFamily="2"/>
              </a:rPr>
              <a:t>/</a:t>
            </a:r>
            <a:r>
              <a:rPr lang="en-IE" dirty="0" err="1">
                <a:solidFill>
                  <a:srgbClr val="000000"/>
                </a:solidFill>
                <a:latin typeface="+mn-lt"/>
                <a:ea typeface="Droid Sans Fallback" pitchFamily="2"/>
                <a:cs typeface="FreeSans" pitchFamily="2"/>
              </a:rPr>
              <a:t>xhtml+xml,text</a:t>
            </a:r>
            <a:r>
              <a:rPr lang="en-IE" dirty="0">
                <a:solidFill>
                  <a:srgbClr val="000000"/>
                </a:solidFill>
                <a:latin typeface="+mn-lt"/>
                <a:ea typeface="Droid Sans Fallback" pitchFamily="2"/>
                <a:cs typeface="FreeSans" pitchFamily="2"/>
              </a:rPr>
              <a:t>/</a:t>
            </a:r>
            <a:r>
              <a:rPr lang="en-IE" dirty="0" err="1">
                <a:solidFill>
                  <a:srgbClr val="000000"/>
                </a:solidFill>
                <a:latin typeface="+mn-lt"/>
                <a:ea typeface="Droid Sans Fallback" pitchFamily="2"/>
                <a:cs typeface="FreeSans" pitchFamily="2"/>
              </a:rPr>
              <a:t>html;q</a:t>
            </a:r>
            <a:r>
              <a:rPr lang="en-IE" dirty="0">
                <a:solidFill>
                  <a:srgbClr val="000000"/>
                </a:solidFill>
                <a:latin typeface="+mn-lt"/>
                <a:ea typeface="Droid Sans Fallback" pitchFamily="2"/>
                <a:cs typeface="FreeSans" pitchFamily="2"/>
              </a:rPr>
              <a:t>=0.9,text/</a:t>
            </a:r>
            <a:r>
              <a:rPr lang="en-IE" dirty="0" err="1">
                <a:solidFill>
                  <a:srgbClr val="000000"/>
                </a:solidFill>
                <a:latin typeface="+mn-lt"/>
                <a:ea typeface="Droid Sans Fallback" pitchFamily="2"/>
                <a:cs typeface="FreeSans" pitchFamily="2"/>
              </a:rPr>
              <a:t>plain;q</a:t>
            </a:r>
            <a:r>
              <a:rPr lang="en-IE" dirty="0">
                <a:solidFill>
                  <a:srgbClr val="000000"/>
                </a:solidFill>
                <a:latin typeface="+mn-lt"/>
                <a:ea typeface="Droid Sans Fallback" pitchFamily="2"/>
                <a:cs typeface="FreeSans" pitchFamily="2"/>
              </a:rPr>
              <a:t>=0.8,image/</a:t>
            </a:r>
            <a:r>
              <a:rPr lang="en-IE" dirty="0" err="1">
                <a:solidFill>
                  <a:srgbClr val="000000"/>
                </a:solidFill>
                <a:latin typeface="+mn-lt"/>
                <a:ea typeface="Droid Sans Fallback" pitchFamily="2"/>
                <a:cs typeface="FreeSans" pitchFamily="2"/>
              </a:rPr>
              <a:t>png</a:t>
            </a:r>
            <a:r>
              <a:rPr lang="en-IE" dirty="0">
                <a:solidFill>
                  <a:srgbClr val="000000"/>
                </a:solidFill>
                <a:latin typeface="+mn-lt"/>
                <a:ea typeface="Droid Sans Fallback" pitchFamily="2"/>
                <a:cs typeface="FreeSans" pitchFamily="2"/>
              </a:rPr>
              <a:t>,*/*;q=0.5</a:t>
            </a:r>
          </a:p>
          <a:p>
            <a:pPr hangingPunct="1">
              <a:spcBef>
                <a:spcPts val="0"/>
              </a:spcBef>
              <a:spcAft>
                <a:spcPts val="0"/>
              </a:spcAft>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r>
              <a:rPr lang="en-IE" dirty="0">
                <a:solidFill>
                  <a:srgbClr val="000000"/>
                </a:solidFill>
                <a:latin typeface="+mn-lt"/>
                <a:ea typeface="Droid Sans Fallback" pitchFamily="2"/>
                <a:cs typeface="FreeSans" pitchFamily="2"/>
              </a:rPr>
              <a:t>Content-length:25</a:t>
            </a:r>
          </a:p>
          <a:p>
            <a:pPr hangingPunct="1">
              <a:spcBef>
                <a:spcPts val="0"/>
              </a:spcBef>
              <a:spcAft>
                <a:spcPts val="0"/>
              </a:spcAft>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endParaRPr lang="en-IE" dirty="0">
              <a:solidFill>
                <a:srgbClr val="000000"/>
              </a:solidFill>
              <a:latin typeface="+mn-lt"/>
              <a:ea typeface="Droid Sans Fallback" pitchFamily="2"/>
              <a:cs typeface="FreeSans" pitchFamily="2"/>
            </a:endParaRPr>
          </a:p>
          <a:p>
            <a:pPr hangingPunct="1">
              <a:spcBef>
                <a:spcPts val="0"/>
              </a:spcBef>
              <a:spcAft>
                <a:spcPts val="0"/>
              </a:spcAft>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r>
              <a:rPr lang="en-IE" b="1" dirty="0">
                <a:solidFill>
                  <a:srgbClr val="0070C0"/>
                </a:solidFill>
                <a:latin typeface="+mn-lt"/>
                <a:ea typeface="Droid Sans Fallback" pitchFamily="2"/>
                <a:cs typeface="FreeSans" pitchFamily="2"/>
              </a:rPr>
              <a:t>name=</a:t>
            </a:r>
            <a:r>
              <a:rPr lang="en-IE" b="1" dirty="0" err="1">
                <a:solidFill>
                  <a:srgbClr val="0070C0"/>
                </a:solidFill>
                <a:latin typeface="+mn-lt"/>
                <a:ea typeface="Droid Sans Fallback" pitchFamily="2"/>
                <a:cs typeface="FreeSans" pitchFamily="2"/>
              </a:rPr>
              <a:t>paul&amp;address</a:t>
            </a:r>
            <a:r>
              <a:rPr lang="en-IE" b="1" dirty="0">
                <a:solidFill>
                  <a:srgbClr val="0070C0"/>
                </a:solidFill>
                <a:latin typeface="+mn-lt"/>
                <a:ea typeface="Droid Sans Fallback" pitchFamily="2"/>
                <a:cs typeface="FreeSans" pitchFamily="2"/>
              </a:rPr>
              <a:t>=</a:t>
            </a:r>
            <a:r>
              <a:rPr lang="en-IE" b="1" dirty="0" err="1">
                <a:solidFill>
                  <a:srgbClr val="0070C0"/>
                </a:solidFill>
                <a:latin typeface="+mn-lt"/>
                <a:ea typeface="Droid Sans Fallback" pitchFamily="2"/>
                <a:cs typeface="FreeSans" pitchFamily="2"/>
              </a:rPr>
              <a:t>athlone</a:t>
            </a:r>
            <a:endParaRPr lang="en-IE" b="1" dirty="0">
              <a:solidFill>
                <a:srgbClr val="0070C0"/>
              </a:solidFill>
              <a:latin typeface="+mn-lt"/>
              <a:ea typeface="Droid Sans Fallback" pitchFamily="2"/>
              <a:cs typeface="FreeSans" pitchFamily="2"/>
            </a:endParaRPr>
          </a:p>
        </p:txBody>
      </p:sp>
      <p:sp>
        <p:nvSpPr>
          <p:cNvPr id="40968" name="TextBox 8">
            <a:extLst>
              <a:ext uri="{FF2B5EF4-FFF2-40B4-BE49-F238E27FC236}">
                <a16:creationId xmlns:a16="http://schemas.microsoft.com/office/drawing/2014/main" id="{7CFA3F1A-B677-A44D-B6E3-18469727AC10}"/>
              </a:ext>
            </a:extLst>
          </p:cNvPr>
          <p:cNvSpPr txBox="1">
            <a:spLocks noChangeArrowheads="1"/>
          </p:cNvSpPr>
          <p:nvPr/>
        </p:nvSpPr>
        <p:spPr bwMode="auto">
          <a:xfrm>
            <a:off x="-30163" y="1312863"/>
            <a:ext cx="13922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Gothic" panose="020B0609070205080204" pitchFamily="49" charset="-128"/>
              </a:defRPr>
            </a:lvl1pPr>
            <a:lvl2pPr marL="742950" indent="-285750">
              <a:defRPr sz="2400">
                <a:solidFill>
                  <a:schemeClr val="bg1"/>
                </a:solidFill>
                <a:latin typeface="Arial" panose="020B0604020202020204" pitchFamily="34" charset="0"/>
                <a:ea typeface="MS Gothic" panose="020B0609070205080204" pitchFamily="49" charset="-128"/>
              </a:defRPr>
            </a:lvl2pPr>
            <a:lvl3pPr marL="1143000" indent="-228600">
              <a:defRPr sz="2400">
                <a:solidFill>
                  <a:schemeClr val="bg1"/>
                </a:solidFill>
                <a:latin typeface="Arial" panose="020B0604020202020204" pitchFamily="34" charset="0"/>
                <a:ea typeface="MS Gothic" panose="020B0609070205080204" pitchFamily="49" charset="-128"/>
              </a:defRPr>
            </a:lvl3pPr>
            <a:lvl4pPr marL="1600200" indent="-228600">
              <a:defRPr sz="2400">
                <a:solidFill>
                  <a:schemeClr val="bg1"/>
                </a:solidFill>
                <a:latin typeface="Arial" panose="020B0604020202020204" pitchFamily="34" charset="0"/>
                <a:ea typeface="MS Gothic" panose="020B0609070205080204" pitchFamily="49" charset="-128"/>
              </a:defRPr>
            </a:lvl4pPr>
            <a:lvl5pPr marL="2057400" indent="-228600">
              <a:defRPr sz="2400">
                <a:solidFill>
                  <a:schemeClr val="bg1"/>
                </a:solidFill>
                <a:latin typeface="Arial" panose="020B0604020202020204" pitchFamily="34" charset="0"/>
                <a:ea typeface="MS Gothic" panose="020B0609070205080204" pitchFamily="49" charset="-128"/>
              </a:defRPr>
            </a:lvl5pPr>
            <a:lvl6pPr marL="25146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6pPr>
            <a:lvl7pPr marL="29718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7pPr>
            <a:lvl8pPr marL="34290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8pPr>
            <a:lvl9pPr marL="38862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9pPr>
          </a:lstStyle>
          <a:p>
            <a:r>
              <a:rPr lang="en-GB" altLang="en-US" sz="1600">
                <a:solidFill>
                  <a:srgbClr val="0070C0"/>
                </a:solidFill>
              </a:rPr>
              <a:t>Request Line</a:t>
            </a:r>
          </a:p>
        </p:txBody>
      </p:sp>
      <p:sp>
        <p:nvSpPr>
          <p:cNvPr id="40969" name="TextBox 10">
            <a:extLst>
              <a:ext uri="{FF2B5EF4-FFF2-40B4-BE49-F238E27FC236}">
                <a16:creationId xmlns:a16="http://schemas.microsoft.com/office/drawing/2014/main" id="{28DB1AB9-46CD-DC44-BBE1-8497719E766D}"/>
              </a:ext>
            </a:extLst>
          </p:cNvPr>
          <p:cNvSpPr txBox="1">
            <a:spLocks noChangeArrowheads="1"/>
          </p:cNvSpPr>
          <p:nvPr/>
        </p:nvSpPr>
        <p:spPr bwMode="auto">
          <a:xfrm>
            <a:off x="-34925" y="2200275"/>
            <a:ext cx="14589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Gothic" panose="020B0609070205080204" pitchFamily="49" charset="-128"/>
              </a:defRPr>
            </a:lvl1pPr>
            <a:lvl2pPr marL="742950" indent="-285750">
              <a:defRPr sz="2400">
                <a:solidFill>
                  <a:schemeClr val="bg1"/>
                </a:solidFill>
                <a:latin typeface="Arial" panose="020B0604020202020204" pitchFamily="34" charset="0"/>
                <a:ea typeface="MS Gothic" panose="020B0609070205080204" pitchFamily="49" charset="-128"/>
              </a:defRPr>
            </a:lvl2pPr>
            <a:lvl3pPr marL="1143000" indent="-228600">
              <a:defRPr sz="2400">
                <a:solidFill>
                  <a:schemeClr val="bg1"/>
                </a:solidFill>
                <a:latin typeface="Arial" panose="020B0604020202020204" pitchFamily="34" charset="0"/>
                <a:ea typeface="MS Gothic" panose="020B0609070205080204" pitchFamily="49" charset="-128"/>
              </a:defRPr>
            </a:lvl3pPr>
            <a:lvl4pPr marL="1600200" indent="-228600">
              <a:defRPr sz="2400">
                <a:solidFill>
                  <a:schemeClr val="bg1"/>
                </a:solidFill>
                <a:latin typeface="Arial" panose="020B0604020202020204" pitchFamily="34" charset="0"/>
                <a:ea typeface="MS Gothic" panose="020B0609070205080204" pitchFamily="49" charset="-128"/>
              </a:defRPr>
            </a:lvl4pPr>
            <a:lvl5pPr marL="2057400" indent="-228600">
              <a:defRPr sz="2400">
                <a:solidFill>
                  <a:schemeClr val="bg1"/>
                </a:solidFill>
                <a:latin typeface="Arial" panose="020B0604020202020204" pitchFamily="34" charset="0"/>
                <a:ea typeface="MS Gothic" panose="020B0609070205080204" pitchFamily="49" charset="-128"/>
              </a:defRPr>
            </a:lvl5pPr>
            <a:lvl6pPr marL="25146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6pPr>
            <a:lvl7pPr marL="29718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7pPr>
            <a:lvl8pPr marL="34290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8pPr>
            <a:lvl9pPr marL="38862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9pPr>
          </a:lstStyle>
          <a:p>
            <a:r>
              <a:rPr lang="en-GB" altLang="en-US" sz="1600">
                <a:solidFill>
                  <a:srgbClr val="0070C0"/>
                </a:solidFill>
              </a:rPr>
              <a:t>Header Fields</a:t>
            </a:r>
          </a:p>
        </p:txBody>
      </p:sp>
      <p:sp>
        <p:nvSpPr>
          <p:cNvPr id="10" name="Left Brace 9">
            <a:extLst>
              <a:ext uri="{FF2B5EF4-FFF2-40B4-BE49-F238E27FC236}">
                <a16:creationId xmlns:a16="http://schemas.microsoft.com/office/drawing/2014/main" id="{3D43309F-5E4D-E54B-8BA8-9B2B2FEF4AED}"/>
              </a:ext>
            </a:extLst>
          </p:cNvPr>
          <p:cNvSpPr/>
          <p:nvPr/>
        </p:nvSpPr>
        <p:spPr>
          <a:xfrm>
            <a:off x="1336675" y="1757363"/>
            <a:ext cx="244475" cy="1600200"/>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GB"/>
          </a:p>
        </p:txBody>
      </p:sp>
      <p:sp>
        <p:nvSpPr>
          <p:cNvPr id="13" name="Left Brace 12">
            <a:extLst>
              <a:ext uri="{FF2B5EF4-FFF2-40B4-BE49-F238E27FC236}">
                <a16:creationId xmlns:a16="http://schemas.microsoft.com/office/drawing/2014/main" id="{2387F932-E29A-2A42-9DCA-F463F4185FA6}"/>
              </a:ext>
            </a:extLst>
          </p:cNvPr>
          <p:cNvSpPr/>
          <p:nvPr/>
        </p:nvSpPr>
        <p:spPr>
          <a:xfrm>
            <a:off x="1338263" y="1285875"/>
            <a:ext cx="244475" cy="393700"/>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GB"/>
          </a:p>
        </p:txBody>
      </p:sp>
      <p:sp>
        <p:nvSpPr>
          <p:cNvPr id="12" name="Left Brace 11">
            <a:extLst>
              <a:ext uri="{FF2B5EF4-FFF2-40B4-BE49-F238E27FC236}">
                <a16:creationId xmlns:a16="http://schemas.microsoft.com/office/drawing/2014/main" id="{6944FF84-74DB-BB47-B9D2-9F5EC9EF1F4C}"/>
              </a:ext>
            </a:extLst>
          </p:cNvPr>
          <p:cNvSpPr/>
          <p:nvPr/>
        </p:nvSpPr>
        <p:spPr>
          <a:xfrm>
            <a:off x="1336675" y="3422650"/>
            <a:ext cx="244475" cy="393700"/>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GB"/>
          </a:p>
        </p:txBody>
      </p:sp>
      <p:sp>
        <p:nvSpPr>
          <p:cNvPr id="14" name="Left Brace 13">
            <a:extLst>
              <a:ext uri="{FF2B5EF4-FFF2-40B4-BE49-F238E27FC236}">
                <a16:creationId xmlns:a16="http://schemas.microsoft.com/office/drawing/2014/main" id="{4FB60408-BA46-A841-A4D4-4173399B8D31}"/>
              </a:ext>
            </a:extLst>
          </p:cNvPr>
          <p:cNvSpPr/>
          <p:nvPr/>
        </p:nvSpPr>
        <p:spPr>
          <a:xfrm>
            <a:off x="1339850" y="3897313"/>
            <a:ext cx="244475" cy="393700"/>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GB"/>
          </a:p>
        </p:txBody>
      </p:sp>
      <p:sp>
        <p:nvSpPr>
          <p:cNvPr id="40974" name="TextBox 14">
            <a:extLst>
              <a:ext uri="{FF2B5EF4-FFF2-40B4-BE49-F238E27FC236}">
                <a16:creationId xmlns:a16="http://schemas.microsoft.com/office/drawing/2014/main" id="{1DF78722-D54C-584C-8574-7F72E91DFDAF}"/>
              </a:ext>
            </a:extLst>
          </p:cNvPr>
          <p:cNvSpPr txBox="1">
            <a:spLocks noChangeArrowheads="1"/>
          </p:cNvSpPr>
          <p:nvPr/>
        </p:nvSpPr>
        <p:spPr bwMode="auto">
          <a:xfrm>
            <a:off x="150813" y="3455988"/>
            <a:ext cx="12112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Gothic" panose="020B0609070205080204" pitchFamily="49" charset="-128"/>
              </a:defRPr>
            </a:lvl1pPr>
            <a:lvl2pPr marL="742950" indent="-285750">
              <a:defRPr sz="2400">
                <a:solidFill>
                  <a:schemeClr val="bg1"/>
                </a:solidFill>
                <a:latin typeface="Arial" panose="020B0604020202020204" pitchFamily="34" charset="0"/>
                <a:ea typeface="MS Gothic" panose="020B0609070205080204" pitchFamily="49" charset="-128"/>
              </a:defRPr>
            </a:lvl2pPr>
            <a:lvl3pPr marL="1143000" indent="-228600">
              <a:defRPr sz="2400">
                <a:solidFill>
                  <a:schemeClr val="bg1"/>
                </a:solidFill>
                <a:latin typeface="Arial" panose="020B0604020202020204" pitchFamily="34" charset="0"/>
                <a:ea typeface="MS Gothic" panose="020B0609070205080204" pitchFamily="49" charset="-128"/>
              </a:defRPr>
            </a:lvl3pPr>
            <a:lvl4pPr marL="1600200" indent="-228600">
              <a:defRPr sz="2400">
                <a:solidFill>
                  <a:schemeClr val="bg1"/>
                </a:solidFill>
                <a:latin typeface="Arial" panose="020B0604020202020204" pitchFamily="34" charset="0"/>
                <a:ea typeface="MS Gothic" panose="020B0609070205080204" pitchFamily="49" charset="-128"/>
              </a:defRPr>
            </a:lvl4pPr>
            <a:lvl5pPr marL="2057400" indent="-228600">
              <a:defRPr sz="2400">
                <a:solidFill>
                  <a:schemeClr val="bg1"/>
                </a:solidFill>
                <a:latin typeface="Arial" panose="020B0604020202020204" pitchFamily="34" charset="0"/>
                <a:ea typeface="MS Gothic" panose="020B0609070205080204" pitchFamily="49" charset="-128"/>
              </a:defRPr>
            </a:lvl5pPr>
            <a:lvl6pPr marL="25146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6pPr>
            <a:lvl7pPr marL="29718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7pPr>
            <a:lvl8pPr marL="34290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8pPr>
            <a:lvl9pPr marL="38862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9pPr>
          </a:lstStyle>
          <a:p>
            <a:r>
              <a:rPr lang="en-GB" altLang="en-US" sz="1600">
                <a:solidFill>
                  <a:srgbClr val="0070C0"/>
                </a:solidFill>
              </a:rPr>
              <a:t>Empty Line</a:t>
            </a:r>
          </a:p>
        </p:txBody>
      </p:sp>
      <p:sp>
        <p:nvSpPr>
          <p:cNvPr id="40975" name="TextBox 15">
            <a:extLst>
              <a:ext uri="{FF2B5EF4-FFF2-40B4-BE49-F238E27FC236}">
                <a16:creationId xmlns:a16="http://schemas.microsoft.com/office/drawing/2014/main" id="{2D06C747-4044-634E-8139-C746E43C12C7}"/>
              </a:ext>
            </a:extLst>
          </p:cNvPr>
          <p:cNvSpPr txBox="1">
            <a:spLocks noChangeArrowheads="1"/>
          </p:cNvSpPr>
          <p:nvPr/>
        </p:nvSpPr>
        <p:spPr bwMode="auto">
          <a:xfrm>
            <a:off x="685800" y="3895725"/>
            <a:ext cx="6508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Gothic" panose="020B0609070205080204" pitchFamily="49" charset="-128"/>
              </a:defRPr>
            </a:lvl1pPr>
            <a:lvl2pPr marL="742950" indent="-285750">
              <a:defRPr sz="2400">
                <a:solidFill>
                  <a:schemeClr val="bg1"/>
                </a:solidFill>
                <a:latin typeface="Arial" panose="020B0604020202020204" pitchFamily="34" charset="0"/>
                <a:ea typeface="MS Gothic" panose="020B0609070205080204" pitchFamily="49" charset="-128"/>
              </a:defRPr>
            </a:lvl2pPr>
            <a:lvl3pPr marL="1143000" indent="-228600">
              <a:defRPr sz="2400">
                <a:solidFill>
                  <a:schemeClr val="bg1"/>
                </a:solidFill>
                <a:latin typeface="Arial" panose="020B0604020202020204" pitchFamily="34" charset="0"/>
                <a:ea typeface="MS Gothic" panose="020B0609070205080204" pitchFamily="49" charset="-128"/>
              </a:defRPr>
            </a:lvl3pPr>
            <a:lvl4pPr marL="1600200" indent="-228600">
              <a:defRPr sz="2400">
                <a:solidFill>
                  <a:schemeClr val="bg1"/>
                </a:solidFill>
                <a:latin typeface="Arial" panose="020B0604020202020204" pitchFamily="34" charset="0"/>
                <a:ea typeface="MS Gothic" panose="020B0609070205080204" pitchFamily="49" charset="-128"/>
              </a:defRPr>
            </a:lvl4pPr>
            <a:lvl5pPr marL="2057400" indent="-228600">
              <a:defRPr sz="2400">
                <a:solidFill>
                  <a:schemeClr val="bg1"/>
                </a:solidFill>
                <a:latin typeface="Arial" panose="020B0604020202020204" pitchFamily="34" charset="0"/>
                <a:ea typeface="MS Gothic" panose="020B0609070205080204" pitchFamily="49" charset="-128"/>
              </a:defRPr>
            </a:lvl5pPr>
            <a:lvl6pPr marL="25146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6pPr>
            <a:lvl7pPr marL="29718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7pPr>
            <a:lvl8pPr marL="34290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8pPr>
            <a:lvl9pPr marL="38862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9pPr>
          </a:lstStyle>
          <a:p>
            <a:r>
              <a:rPr lang="en-GB" altLang="en-US" sz="1600">
                <a:solidFill>
                  <a:srgbClr val="0070C0"/>
                </a:solidFill>
              </a:rPr>
              <a:t>Body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HTTP Responses</a:t>
            </a:r>
          </a:p>
        </p:txBody>
      </p:sp>
      <p:sp>
        <p:nvSpPr>
          <p:cNvPr id="22531" name="Content Placeholder 2">
            <a:extLst>
              <a:ext uri="{FF2B5EF4-FFF2-40B4-BE49-F238E27FC236}">
                <a16:creationId xmlns:a16="http://schemas.microsoft.com/office/drawing/2014/main" id="{1EBA7A2C-8E0C-5B40-9D7E-CE478DED6131}"/>
              </a:ext>
            </a:extLst>
          </p:cNvPr>
          <p:cNvSpPr>
            <a:spLocks noGrp="1" noChangeArrowheads="1"/>
          </p:cNvSpPr>
          <p:nvPr>
            <p:ph idx="1"/>
          </p:nvPr>
        </p:nvSpPr>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solidFill>
                  <a:srgbClr val="000000"/>
                </a:solidFill>
              </a:rPr>
              <a:t>Status Line</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sz="2500" dirty="0">
                <a:solidFill>
                  <a:srgbClr val="000000"/>
                </a:solidFill>
              </a:rPr>
              <a:t>HTTP/1.1 200 OK</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solidFill>
                  <a:srgbClr val="000000"/>
                </a:solidFill>
              </a:rPr>
              <a:t>Headers (Zero or more header fields followed by CRLF)</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sz="2500" dirty="0">
                <a:solidFill>
                  <a:srgbClr val="000000"/>
                </a:solidFill>
              </a:rPr>
              <a:t>Content-type: text/plain</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sz="2500" dirty="0">
                <a:solidFill>
                  <a:srgbClr val="000000"/>
                </a:solidFill>
              </a:rPr>
              <a:t>Content-length: 19</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solidFill>
                  <a:srgbClr val="000000"/>
                </a:solidFill>
              </a:rPr>
              <a:t>Empty Line with CRLF (Indicates end of header fields)</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IE" altLang="en-US" sz="2500" dirty="0">
                <a:solidFill>
                  <a:srgbClr val="000000"/>
                </a:solidFill>
              </a:rPr>
              <a:t>CRLF refers to the special character elements "Carriage Return" and "Line Feed." These elements are embedded in HTTP headers and other software code to signify an End of Line (EOL) marker</a:t>
            </a:r>
            <a:endParaRPr lang="en-US" altLang="en-US" sz="2500" dirty="0">
              <a:solidFill>
                <a:srgbClr val="000000"/>
              </a:solidFill>
            </a:endParaRP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solidFill>
                  <a:srgbClr val="000000"/>
                </a:solidFill>
              </a:rPr>
              <a:t>Optional Body</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sz="2500" dirty="0">
                <a:solidFill>
                  <a:srgbClr val="000000"/>
                </a:solidFill>
              </a:rPr>
              <a:t>Usually the content (HTML/XML/JSON/Image etc.)</a:t>
            </a: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500" dirty="0">
              <a:solidFill>
                <a:srgbClr val="000000"/>
              </a:solidFill>
            </a:endParaRP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400" dirty="0">
              <a:solidFill>
                <a:srgbClr val="000000"/>
              </a:solidFill>
            </a:endParaRP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2">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13</a:t>
            </a:fld>
            <a:endParaRPr lang="en-GB"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137E6-6BC5-ED46-838F-7108BD969374}"/>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HTTP Response - Example</a:t>
            </a:r>
          </a:p>
        </p:txBody>
      </p:sp>
      <p:sp>
        <p:nvSpPr>
          <p:cNvPr id="4" name="Footer Placeholder 3">
            <a:extLst>
              <a:ext uri="{FF2B5EF4-FFF2-40B4-BE49-F238E27FC236}">
                <a16:creationId xmlns:a16="http://schemas.microsoft.com/office/drawing/2014/main" id="{0AFF62AC-245F-A249-A7F2-FDAFEA589C06}"/>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20D82244-8645-F54E-AAA5-FAE68CE6ED8B}"/>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944242E0-0296-A143-99E9-45BAFC1C060D}"/>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E330F89-B1FB-D54F-A7E2-30715020718B}"/>
              </a:ext>
            </a:extLst>
          </p:cNvPr>
          <p:cNvSpPr>
            <a:spLocks noGrp="1"/>
          </p:cNvSpPr>
          <p:nvPr>
            <p:ph type="sldNum" sz="quarter" idx="12"/>
          </p:nvPr>
        </p:nvSpPr>
        <p:spPr/>
        <p:txBody>
          <a:bodyPr/>
          <a:lstStyle/>
          <a:p>
            <a:pPr>
              <a:defRPr/>
            </a:pPr>
            <a:fld id="{312C6E55-75C4-1144-A1D9-71A40F7F0550}" type="slidenum">
              <a:rPr lang="en-GB" altLang="en-US" smtClean="0"/>
              <a:pPr>
                <a:defRPr/>
              </a:pPr>
              <a:t>14</a:t>
            </a:fld>
            <a:endParaRPr lang="en-GB" altLang="en-US"/>
          </a:p>
        </p:txBody>
      </p:sp>
      <p:sp>
        <p:nvSpPr>
          <p:cNvPr id="8" name="Rectangle 7">
            <a:extLst>
              <a:ext uri="{FF2B5EF4-FFF2-40B4-BE49-F238E27FC236}">
                <a16:creationId xmlns:a16="http://schemas.microsoft.com/office/drawing/2014/main" id="{813D31B7-7128-5F42-ADE0-5386623F7A9D}"/>
              </a:ext>
            </a:extLst>
          </p:cNvPr>
          <p:cNvSpPr/>
          <p:nvPr/>
        </p:nvSpPr>
        <p:spPr>
          <a:xfrm>
            <a:off x="1547813" y="1230313"/>
            <a:ext cx="7685087" cy="3046412"/>
          </a:xfrm>
          <a:prstGeom prst="rect">
            <a:avLst/>
          </a:prstGeom>
        </p:spPr>
        <p:txBody>
          <a:bodyPr>
            <a:spAutoFit/>
          </a:bodyPr>
          <a:lstStyle/>
          <a:p>
            <a:pPr hangingPunct="1">
              <a:spcBef>
                <a:spcPts val="0"/>
              </a:spcBef>
              <a:spcAft>
                <a:spcPts val="0"/>
              </a:spcAft>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r>
              <a:rPr lang="en-IE" dirty="0">
                <a:solidFill>
                  <a:srgbClr val="000000"/>
                </a:solidFill>
                <a:latin typeface="+mn-lt"/>
                <a:ea typeface="Droid Sans Fallback" pitchFamily="2"/>
                <a:cs typeface="FreeSans" pitchFamily="2"/>
              </a:rPr>
              <a:t>HTTP/1.1 200 OK</a:t>
            </a:r>
          </a:p>
          <a:p>
            <a:pPr hangingPunct="1">
              <a:spcBef>
                <a:spcPts val="0"/>
              </a:spcBef>
              <a:spcAft>
                <a:spcPts val="0"/>
              </a:spcAft>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r>
              <a:rPr lang="en-IE" dirty="0" err="1">
                <a:solidFill>
                  <a:srgbClr val="000000"/>
                </a:solidFill>
                <a:latin typeface="+mn-lt"/>
                <a:ea typeface="Droid Sans Fallback" pitchFamily="2"/>
                <a:cs typeface="FreeSans" pitchFamily="2"/>
              </a:rPr>
              <a:t>User-agent:Chrome</a:t>
            </a:r>
            <a:r>
              <a:rPr lang="en-IE" dirty="0">
                <a:solidFill>
                  <a:srgbClr val="000000"/>
                </a:solidFill>
                <a:latin typeface="+mn-lt"/>
                <a:ea typeface="Droid Sans Fallback" pitchFamily="2"/>
                <a:cs typeface="FreeSans" pitchFamily="2"/>
              </a:rPr>
              <a:t>/3.0.195.38</a:t>
            </a:r>
          </a:p>
          <a:p>
            <a:pPr hangingPunct="1">
              <a:spcBef>
                <a:spcPts val="0"/>
              </a:spcBef>
              <a:spcAft>
                <a:spcPts val="0"/>
              </a:spcAft>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r>
              <a:rPr lang="en-IE" dirty="0" err="1">
                <a:solidFill>
                  <a:srgbClr val="000000"/>
                </a:solidFill>
                <a:latin typeface="+mn-lt"/>
                <a:ea typeface="Droid Sans Fallback" pitchFamily="2"/>
                <a:cs typeface="FreeSans" pitchFamily="2"/>
              </a:rPr>
              <a:t>Host:Host</a:t>
            </a:r>
            <a:endParaRPr lang="en-IE" dirty="0">
              <a:solidFill>
                <a:srgbClr val="000000"/>
              </a:solidFill>
              <a:latin typeface="+mn-lt"/>
              <a:ea typeface="Droid Sans Fallback" pitchFamily="2"/>
              <a:cs typeface="FreeSans" pitchFamily="2"/>
            </a:endParaRPr>
          </a:p>
          <a:p>
            <a:pPr hangingPunct="1">
              <a:spcBef>
                <a:spcPts val="0"/>
              </a:spcBef>
              <a:spcAft>
                <a:spcPts val="0"/>
              </a:spcAft>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r>
              <a:rPr lang="en-IE" dirty="0" err="1">
                <a:solidFill>
                  <a:srgbClr val="000000"/>
                </a:solidFill>
                <a:latin typeface="+mn-lt"/>
                <a:ea typeface="Droid Sans Fallback" pitchFamily="2"/>
                <a:cs typeface="FreeSans" pitchFamily="2"/>
              </a:rPr>
              <a:t>Accept:application</a:t>
            </a:r>
            <a:r>
              <a:rPr lang="en-IE" dirty="0">
                <a:solidFill>
                  <a:srgbClr val="000000"/>
                </a:solidFill>
                <a:latin typeface="+mn-lt"/>
                <a:ea typeface="Droid Sans Fallback" pitchFamily="2"/>
                <a:cs typeface="FreeSans" pitchFamily="2"/>
              </a:rPr>
              <a:t>/</a:t>
            </a:r>
            <a:r>
              <a:rPr lang="en-IE" dirty="0" err="1">
                <a:solidFill>
                  <a:srgbClr val="000000"/>
                </a:solidFill>
                <a:latin typeface="+mn-lt"/>
                <a:ea typeface="Droid Sans Fallback" pitchFamily="2"/>
                <a:cs typeface="FreeSans" pitchFamily="2"/>
              </a:rPr>
              <a:t>xml,application</a:t>
            </a:r>
            <a:r>
              <a:rPr lang="en-IE" dirty="0">
                <a:solidFill>
                  <a:srgbClr val="000000"/>
                </a:solidFill>
                <a:latin typeface="+mn-lt"/>
                <a:ea typeface="Droid Sans Fallback" pitchFamily="2"/>
                <a:cs typeface="FreeSans" pitchFamily="2"/>
              </a:rPr>
              <a:t>/</a:t>
            </a:r>
            <a:r>
              <a:rPr lang="en-IE" dirty="0" err="1">
                <a:solidFill>
                  <a:srgbClr val="000000"/>
                </a:solidFill>
                <a:latin typeface="+mn-lt"/>
                <a:ea typeface="Droid Sans Fallback" pitchFamily="2"/>
                <a:cs typeface="FreeSans" pitchFamily="2"/>
              </a:rPr>
              <a:t>xhtml+xml,text</a:t>
            </a:r>
            <a:r>
              <a:rPr lang="en-IE" dirty="0">
                <a:solidFill>
                  <a:srgbClr val="000000"/>
                </a:solidFill>
                <a:latin typeface="+mn-lt"/>
                <a:ea typeface="Droid Sans Fallback" pitchFamily="2"/>
                <a:cs typeface="FreeSans" pitchFamily="2"/>
              </a:rPr>
              <a:t>/</a:t>
            </a:r>
            <a:r>
              <a:rPr lang="en-IE" dirty="0" err="1">
                <a:solidFill>
                  <a:srgbClr val="000000"/>
                </a:solidFill>
                <a:latin typeface="+mn-lt"/>
                <a:ea typeface="Droid Sans Fallback" pitchFamily="2"/>
                <a:cs typeface="FreeSans" pitchFamily="2"/>
              </a:rPr>
              <a:t>html;q</a:t>
            </a:r>
            <a:r>
              <a:rPr lang="en-IE" dirty="0">
                <a:solidFill>
                  <a:srgbClr val="000000"/>
                </a:solidFill>
                <a:latin typeface="+mn-lt"/>
                <a:ea typeface="Droid Sans Fallback" pitchFamily="2"/>
                <a:cs typeface="FreeSans" pitchFamily="2"/>
              </a:rPr>
              <a:t>=0.9,text/</a:t>
            </a:r>
            <a:r>
              <a:rPr lang="en-IE" dirty="0" err="1">
                <a:solidFill>
                  <a:srgbClr val="000000"/>
                </a:solidFill>
                <a:latin typeface="+mn-lt"/>
                <a:ea typeface="Droid Sans Fallback" pitchFamily="2"/>
                <a:cs typeface="FreeSans" pitchFamily="2"/>
              </a:rPr>
              <a:t>plain;q</a:t>
            </a:r>
            <a:r>
              <a:rPr lang="en-IE" dirty="0">
                <a:solidFill>
                  <a:srgbClr val="000000"/>
                </a:solidFill>
                <a:latin typeface="+mn-lt"/>
                <a:ea typeface="Droid Sans Fallback" pitchFamily="2"/>
                <a:cs typeface="FreeSans" pitchFamily="2"/>
              </a:rPr>
              <a:t>=0.8,image/</a:t>
            </a:r>
            <a:r>
              <a:rPr lang="en-IE" dirty="0" err="1">
                <a:solidFill>
                  <a:srgbClr val="000000"/>
                </a:solidFill>
                <a:latin typeface="+mn-lt"/>
                <a:ea typeface="Droid Sans Fallback" pitchFamily="2"/>
                <a:cs typeface="FreeSans" pitchFamily="2"/>
              </a:rPr>
              <a:t>png</a:t>
            </a:r>
            <a:r>
              <a:rPr lang="en-IE" dirty="0">
                <a:solidFill>
                  <a:srgbClr val="000000"/>
                </a:solidFill>
                <a:latin typeface="+mn-lt"/>
                <a:ea typeface="Droid Sans Fallback" pitchFamily="2"/>
                <a:cs typeface="FreeSans" pitchFamily="2"/>
              </a:rPr>
              <a:t>,*/*;q=0.5</a:t>
            </a:r>
          </a:p>
          <a:p>
            <a:pPr hangingPunct="1">
              <a:spcBef>
                <a:spcPts val="0"/>
              </a:spcBef>
              <a:spcAft>
                <a:spcPts val="0"/>
              </a:spcAft>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r>
              <a:rPr lang="en-IE" dirty="0">
                <a:solidFill>
                  <a:srgbClr val="000000"/>
                </a:solidFill>
                <a:latin typeface="+mn-lt"/>
                <a:ea typeface="Droid Sans Fallback" pitchFamily="2"/>
                <a:cs typeface="FreeSans" pitchFamily="2"/>
              </a:rPr>
              <a:t>Content-length:25</a:t>
            </a:r>
          </a:p>
          <a:p>
            <a:pPr hangingPunct="1">
              <a:spcBef>
                <a:spcPts val="0"/>
              </a:spcBef>
              <a:spcAft>
                <a:spcPts val="0"/>
              </a:spcAft>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endParaRPr lang="en-IE" dirty="0">
              <a:solidFill>
                <a:srgbClr val="000000"/>
              </a:solidFill>
              <a:latin typeface="+mn-lt"/>
              <a:ea typeface="Droid Sans Fallback" pitchFamily="2"/>
              <a:cs typeface="FreeSans" pitchFamily="2"/>
            </a:endParaRPr>
          </a:p>
          <a:p>
            <a:pPr hangingPunct="1">
              <a:spcBef>
                <a:spcPts val="0"/>
              </a:spcBef>
              <a:spcAft>
                <a:spcPts val="0"/>
              </a:spcAft>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a:pPr>
            <a:r>
              <a:rPr lang="en-IE" b="1" dirty="0">
                <a:solidFill>
                  <a:srgbClr val="0070C0"/>
                </a:solidFill>
                <a:latin typeface="+mn-lt"/>
                <a:ea typeface="Droid Sans Fallback" pitchFamily="2"/>
                <a:cs typeface="FreeSans" pitchFamily="2"/>
              </a:rPr>
              <a:t>&lt;html&gt;&lt;body&gt;&lt;h1&gt;Hello World&lt;/h1&gt;&lt;/body&gt;&lt;/html&gt;</a:t>
            </a:r>
          </a:p>
        </p:txBody>
      </p:sp>
      <p:sp>
        <p:nvSpPr>
          <p:cNvPr id="40968" name="TextBox 8">
            <a:extLst>
              <a:ext uri="{FF2B5EF4-FFF2-40B4-BE49-F238E27FC236}">
                <a16:creationId xmlns:a16="http://schemas.microsoft.com/office/drawing/2014/main" id="{7CFA3F1A-B677-A44D-B6E3-18469727AC10}"/>
              </a:ext>
            </a:extLst>
          </p:cNvPr>
          <p:cNvSpPr txBox="1">
            <a:spLocks noChangeArrowheads="1"/>
          </p:cNvSpPr>
          <p:nvPr/>
        </p:nvSpPr>
        <p:spPr bwMode="auto">
          <a:xfrm>
            <a:off x="-30163" y="1312863"/>
            <a:ext cx="12105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Gothic" panose="020B0609070205080204" pitchFamily="49" charset="-128"/>
              </a:defRPr>
            </a:lvl1pPr>
            <a:lvl2pPr marL="742950" indent="-285750">
              <a:defRPr sz="2400">
                <a:solidFill>
                  <a:schemeClr val="bg1"/>
                </a:solidFill>
                <a:latin typeface="Arial" panose="020B0604020202020204" pitchFamily="34" charset="0"/>
                <a:ea typeface="MS Gothic" panose="020B0609070205080204" pitchFamily="49" charset="-128"/>
              </a:defRPr>
            </a:lvl2pPr>
            <a:lvl3pPr marL="1143000" indent="-228600">
              <a:defRPr sz="2400">
                <a:solidFill>
                  <a:schemeClr val="bg1"/>
                </a:solidFill>
                <a:latin typeface="Arial" panose="020B0604020202020204" pitchFamily="34" charset="0"/>
                <a:ea typeface="MS Gothic" panose="020B0609070205080204" pitchFamily="49" charset="-128"/>
              </a:defRPr>
            </a:lvl3pPr>
            <a:lvl4pPr marL="1600200" indent="-228600">
              <a:defRPr sz="2400">
                <a:solidFill>
                  <a:schemeClr val="bg1"/>
                </a:solidFill>
                <a:latin typeface="Arial" panose="020B0604020202020204" pitchFamily="34" charset="0"/>
                <a:ea typeface="MS Gothic" panose="020B0609070205080204" pitchFamily="49" charset="-128"/>
              </a:defRPr>
            </a:lvl4pPr>
            <a:lvl5pPr marL="2057400" indent="-228600">
              <a:defRPr sz="2400">
                <a:solidFill>
                  <a:schemeClr val="bg1"/>
                </a:solidFill>
                <a:latin typeface="Arial" panose="020B0604020202020204" pitchFamily="34" charset="0"/>
                <a:ea typeface="MS Gothic" panose="020B0609070205080204" pitchFamily="49" charset="-128"/>
              </a:defRPr>
            </a:lvl5pPr>
            <a:lvl6pPr marL="25146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6pPr>
            <a:lvl7pPr marL="29718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7pPr>
            <a:lvl8pPr marL="34290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8pPr>
            <a:lvl9pPr marL="38862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9pPr>
          </a:lstStyle>
          <a:p>
            <a:r>
              <a:rPr lang="en-GB" altLang="en-US" sz="1600" dirty="0">
                <a:solidFill>
                  <a:srgbClr val="0070C0"/>
                </a:solidFill>
              </a:rPr>
              <a:t>Status Line</a:t>
            </a:r>
          </a:p>
        </p:txBody>
      </p:sp>
      <p:sp>
        <p:nvSpPr>
          <p:cNvPr id="40969" name="TextBox 10">
            <a:extLst>
              <a:ext uri="{FF2B5EF4-FFF2-40B4-BE49-F238E27FC236}">
                <a16:creationId xmlns:a16="http://schemas.microsoft.com/office/drawing/2014/main" id="{28DB1AB9-46CD-DC44-BBE1-8497719E766D}"/>
              </a:ext>
            </a:extLst>
          </p:cNvPr>
          <p:cNvSpPr txBox="1">
            <a:spLocks noChangeArrowheads="1"/>
          </p:cNvSpPr>
          <p:nvPr/>
        </p:nvSpPr>
        <p:spPr bwMode="auto">
          <a:xfrm>
            <a:off x="-34925" y="2200275"/>
            <a:ext cx="14589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Gothic" panose="020B0609070205080204" pitchFamily="49" charset="-128"/>
              </a:defRPr>
            </a:lvl1pPr>
            <a:lvl2pPr marL="742950" indent="-285750">
              <a:defRPr sz="2400">
                <a:solidFill>
                  <a:schemeClr val="bg1"/>
                </a:solidFill>
                <a:latin typeface="Arial" panose="020B0604020202020204" pitchFamily="34" charset="0"/>
                <a:ea typeface="MS Gothic" panose="020B0609070205080204" pitchFamily="49" charset="-128"/>
              </a:defRPr>
            </a:lvl2pPr>
            <a:lvl3pPr marL="1143000" indent="-228600">
              <a:defRPr sz="2400">
                <a:solidFill>
                  <a:schemeClr val="bg1"/>
                </a:solidFill>
                <a:latin typeface="Arial" panose="020B0604020202020204" pitchFamily="34" charset="0"/>
                <a:ea typeface="MS Gothic" panose="020B0609070205080204" pitchFamily="49" charset="-128"/>
              </a:defRPr>
            </a:lvl3pPr>
            <a:lvl4pPr marL="1600200" indent="-228600">
              <a:defRPr sz="2400">
                <a:solidFill>
                  <a:schemeClr val="bg1"/>
                </a:solidFill>
                <a:latin typeface="Arial" panose="020B0604020202020204" pitchFamily="34" charset="0"/>
                <a:ea typeface="MS Gothic" panose="020B0609070205080204" pitchFamily="49" charset="-128"/>
              </a:defRPr>
            </a:lvl4pPr>
            <a:lvl5pPr marL="2057400" indent="-228600">
              <a:defRPr sz="2400">
                <a:solidFill>
                  <a:schemeClr val="bg1"/>
                </a:solidFill>
                <a:latin typeface="Arial" panose="020B0604020202020204" pitchFamily="34" charset="0"/>
                <a:ea typeface="MS Gothic" panose="020B0609070205080204" pitchFamily="49" charset="-128"/>
              </a:defRPr>
            </a:lvl5pPr>
            <a:lvl6pPr marL="25146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6pPr>
            <a:lvl7pPr marL="29718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7pPr>
            <a:lvl8pPr marL="34290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8pPr>
            <a:lvl9pPr marL="38862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9pPr>
          </a:lstStyle>
          <a:p>
            <a:r>
              <a:rPr lang="en-GB" altLang="en-US" sz="1600">
                <a:solidFill>
                  <a:srgbClr val="0070C0"/>
                </a:solidFill>
              </a:rPr>
              <a:t>Header Fields</a:t>
            </a:r>
          </a:p>
        </p:txBody>
      </p:sp>
      <p:sp>
        <p:nvSpPr>
          <p:cNvPr id="10" name="Left Brace 9">
            <a:extLst>
              <a:ext uri="{FF2B5EF4-FFF2-40B4-BE49-F238E27FC236}">
                <a16:creationId xmlns:a16="http://schemas.microsoft.com/office/drawing/2014/main" id="{3D43309F-5E4D-E54B-8BA8-9B2B2FEF4AED}"/>
              </a:ext>
            </a:extLst>
          </p:cNvPr>
          <p:cNvSpPr/>
          <p:nvPr/>
        </p:nvSpPr>
        <p:spPr>
          <a:xfrm>
            <a:off x="1336675" y="1757363"/>
            <a:ext cx="244475" cy="1600200"/>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GB"/>
          </a:p>
        </p:txBody>
      </p:sp>
      <p:sp>
        <p:nvSpPr>
          <p:cNvPr id="13" name="Left Brace 12">
            <a:extLst>
              <a:ext uri="{FF2B5EF4-FFF2-40B4-BE49-F238E27FC236}">
                <a16:creationId xmlns:a16="http://schemas.microsoft.com/office/drawing/2014/main" id="{2387F932-E29A-2A42-9DCA-F463F4185FA6}"/>
              </a:ext>
            </a:extLst>
          </p:cNvPr>
          <p:cNvSpPr/>
          <p:nvPr/>
        </p:nvSpPr>
        <p:spPr>
          <a:xfrm>
            <a:off x="1338263" y="1285875"/>
            <a:ext cx="244475" cy="393700"/>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GB"/>
          </a:p>
        </p:txBody>
      </p:sp>
      <p:sp>
        <p:nvSpPr>
          <p:cNvPr id="12" name="Left Brace 11">
            <a:extLst>
              <a:ext uri="{FF2B5EF4-FFF2-40B4-BE49-F238E27FC236}">
                <a16:creationId xmlns:a16="http://schemas.microsoft.com/office/drawing/2014/main" id="{6944FF84-74DB-BB47-B9D2-9F5EC9EF1F4C}"/>
              </a:ext>
            </a:extLst>
          </p:cNvPr>
          <p:cNvSpPr/>
          <p:nvPr/>
        </p:nvSpPr>
        <p:spPr>
          <a:xfrm>
            <a:off x="1336675" y="3422650"/>
            <a:ext cx="244475" cy="393700"/>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GB"/>
          </a:p>
        </p:txBody>
      </p:sp>
      <p:sp>
        <p:nvSpPr>
          <p:cNvPr id="14" name="Left Brace 13">
            <a:extLst>
              <a:ext uri="{FF2B5EF4-FFF2-40B4-BE49-F238E27FC236}">
                <a16:creationId xmlns:a16="http://schemas.microsoft.com/office/drawing/2014/main" id="{4FB60408-BA46-A841-A4D4-4173399B8D31}"/>
              </a:ext>
            </a:extLst>
          </p:cNvPr>
          <p:cNvSpPr/>
          <p:nvPr/>
        </p:nvSpPr>
        <p:spPr>
          <a:xfrm>
            <a:off x="1339850" y="3897313"/>
            <a:ext cx="244475" cy="393700"/>
          </a:xfrm>
          <a:prstGeom prst="leftBrace">
            <a:avLst/>
          </a:prstGeom>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GB"/>
          </a:p>
        </p:txBody>
      </p:sp>
      <p:sp>
        <p:nvSpPr>
          <p:cNvPr id="40974" name="TextBox 14">
            <a:extLst>
              <a:ext uri="{FF2B5EF4-FFF2-40B4-BE49-F238E27FC236}">
                <a16:creationId xmlns:a16="http://schemas.microsoft.com/office/drawing/2014/main" id="{1DF78722-D54C-584C-8574-7F72E91DFDAF}"/>
              </a:ext>
            </a:extLst>
          </p:cNvPr>
          <p:cNvSpPr txBox="1">
            <a:spLocks noChangeArrowheads="1"/>
          </p:cNvSpPr>
          <p:nvPr/>
        </p:nvSpPr>
        <p:spPr bwMode="auto">
          <a:xfrm>
            <a:off x="150813" y="3455988"/>
            <a:ext cx="12112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Gothic" panose="020B0609070205080204" pitchFamily="49" charset="-128"/>
              </a:defRPr>
            </a:lvl1pPr>
            <a:lvl2pPr marL="742950" indent="-285750">
              <a:defRPr sz="2400">
                <a:solidFill>
                  <a:schemeClr val="bg1"/>
                </a:solidFill>
                <a:latin typeface="Arial" panose="020B0604020202020204" pitchFamily="34" charset="0"/>
                <a:ea typeface="MS Gothic" panose="020B0609070205080204" pitchFamily="49" charset="-128"/>
              </a:defRPr>
            </a:lvl2pPr>
            <a:lvl3pPr marL="1143000" indent="-228600">
              <a:defRPr sz="2400">
                <a:solidFill>
                  <a:schemeClr val="bg1"/>
                </a:solidFill>
                <a:latin typeface="Arial" panose="020B0604020202020204" pitchFamily="34" charset="0"/>
                <a:ea typeface="MS Gothic" panose="020B0609070205080204" pitchFamily="49" charset="-128"/>
              </a:defRPr>
            </a:lvl3pPr>
            <a:lvl4pPr marL="1600200" indent="-228600">
              <a:defRPr sz="2400">
                <a:solidFill>
                  <a:schemeClr val="bg1"/>
                </a:solidFill>
                <a:latin typeface="Arial" panose="020B0604020202020204" pitchFamily="34" charset="0"/>
                <a:ea typeface="MS Gothic" panose="020B0609070205080204" pitchFamily="49" charset="-128"/>
              </a:defRPr>
            </a:lvl4pPr>
            <a:lvl5pPr marL="2057400" indent="-228600">
              <a:defRPr sz="2400">
                <a:solidFill>
                  <a:schemeClr val="bg1"/>
                </a:solidFill>
                <a:latin typeface="Arial" panose="020B0604020202020204" pitchFamily="34" charset="0"/>
                <a:ea typeface="MS Gothic" panose="020B0609070205080204" pitchFamily="49" charset="-128"/>
              </a:defRPr>
            </a:lvl5pPr>
            <a:lvl6pPr marL="25146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6pPr>
            <a:lvl7pPr marL="29718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7pPr>
            <a:lvl8pPr marL="34290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8pPr>
            <a:lvl9pPr marL="38862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9pPr>
          </a:lstStyle>
          <a:p>
            <a:r>
              <a:rPr lang="en-GB" altLang="en-US" sz="1600" dirty="0">
                <a:solidFill>
                  <a:srgbClr val="0070C0"/>
                </a:solidFill>
              </a:rPr>
              <a:t>Empty Line</a:t>
            </a:r>
          </a:p>
        </p:txBody>
      </p:sp>
      <p:sp>
        <p:nvSpPr>
          <p:cNvPr id="40975" name="TextBox 15">
            <a:extLst>
              <a:ext uri="{FF2B5EF4-FFF2-40B4-BE49-F238E27FC236}">
                <a16:creationId xmlns:a16="http://schemas.microsoft.com/office/drawing/2014/main" id="{2D06C747-4044-634E-8139-C746E43C12C7}"/>
              </a:ext>
            </a:extLst>
          </p:cNvPr>
          <p:cNvSpPr txBox="1">
            <a:spLocks noChangeArrowheads="1"/>
          </p:cNvSpPr>
          <p:nvPr/>
        </p:nvSpPr>
        <p:spPr bwMode="auto">
          <a:xfrm>
            <a:off x="685800" y="3895725"/>
            <a:ext cx="6508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bg1"/>
                </a:solidFill>
                <a:latin typeface="Arial" panose="020B0604020202020204" pitchFamily="34" charset="0"/>
                <a:ea typeface="MS Gothic" panose="020B0609070205080204" pitchFamily="49" charset="-128"/>
              </a:defRPr>
            </a:lvl1pPr>
            <a:lvl2pPr marL="742950" indent="-285750">
              <a:defRPr sz="2400">
                <a:solidFill>
                  <a:schemeClr val="bg1"/>
                </a:solidFill>
                <a:latin typeface="Arial" panose="020B0604020202020204" pitchFamily="34" charset="0"/>
                <a:ea typeface="MS Gothic" panose="020B0609070205080204" pitchFamily="49" charset="-128"/>
              </a:defRPr>
            </a:lvl2pPr>
            <a:lvl3pPr marL="1143000" indent="-228600">
              <a:defRPr sz="2400">
                <a:solidFill>
                  <a:schemeClr val="bg1"/>
                </a:solidFill>
                <a:latin typeface="Arial" panose="020B0604020202020204" pitchFamily="34" charset="0"/>
                <a:ea typeface="MS Gothic" panose="020B0609070205080204" pitchFamily="49" charset="-128"/>
              </a:defRPr>
            </a:lvl3pPr>
            <a:lvl4pPr marL="1600200" indent="-228600">
              <a:defRPr sz="2400">
                <a:solidFill>
                  <a:schemeClr val="bg1"/>
                </a:solidFill>
                <a:latin typeface="Arial" panose="020B0604020202020204" pitchFamily="34" charset="0"/>
                <a:ea typeface="MS Gothic" panose="020B0609070205080204" pitchFamily="49" charset="-128"/>
              </a:defRPr>
            </a:lvl4pPr>
            <a:lvl5pPr marL="2057400" indent="-228600">
              <a:defRPr sz="2400">
                <a:solidFill>
                  <a:schemeClr val="bg1"/>
                </a:solidFill>
                <a:latin typeface="Arial" panose="020B0604020202020204" pitchFamily="34" charset="0"/>
                <a:ea typeface="MS Gothic" panose="020B0609070205080204" pitchFamily="49" charset="-128"/>
              </a:defRPr>
            </a:lvl5pPr>
            <a:lvl6pPr marL="25146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6pPr>
            <a:lvl7pPr marL="29718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7pPr>
            <a:lvl8pPr marL="34290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8pPr>
            <a:lvl9pPr marL="3886200" indent="-228600" defTabSz="449263" eaLnBrk="0" fontAlgn="base" hangingPunct="0">
              <a:spcBef>
                <a:spcPct val="0"/>
              </a:spcBef>
              <a:spcAft>
                <a:spcPct val="0"/>
              </a:spcAft>
              <a:defRPr sz="2400">
                <a:solidFill>
                  <a:schemeClr val="bg1"/>
                </a:solidFill>
                <a:latin typeface="Arial" panose="020B0604020202020204" pitchFamily="34" charset="0"/>
                <a:ea typeface="MS Gothic" panose="020B0609070205080204" pitchFamily="49" charset="-128"/>
              </a:defRPr>
            </a:lvl9pPr>
          </a:lstStyle>
          <a:p>
            <a:r>
              <a:rPr lang="en-GB" altLang="en-US" sz="1600" dirty="0">
                <a:solidFill>
                  <a:srgbClr val="0070C0"/>
                </a:solidFill>
              </a:rPr>
              <a:t>Body</a:t>
            </a:r>
          </a:p>
        </p:txBody>
      </p:sp>
    </p:spTree>
    <p:extLst>
      <p:ext uri="{BB962C8B-B14F-4D97-AF65-F5344CB8AC3E}">
        <p14:creationId xmlns:p14="http://schemas.microsoft.com/office/powerpoint/2010/main" val="357631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HTTP Request Methods</a:t>
            </a:r>
          </a:p>
        </p:txBody>
      </p:sp>
      <p:sp>
        <p:nvSpPr>
          <p:cNvPr id="22531" name="Content Placeholder 2">
            <a:extLst>
              <a:ext uri="{FF2B5EF4-FFF2-40B4-BE49-F238E27FC236}">
                <a16:creationId xmlns:a16="http://schemas.microsoft.com/office/drawing/2014/main" id="{1EBA7A2C-8E0C-5B40-9D7E-CE478DED6131}"/>
              </a:ext>
            </a:extLst>
          </p:cNvPr>
          <p:cNvSpPr>
            <a:spLocks noGrp="1" noChangeArrowheads="1"/>
          </p:cNvSpPr>
          <p:nvPr>
            <p:ph idx="1"/>
          </p:nvPr>
        </p:nvSpPr>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solidFill>
                  <a:srgbClr val="000000"/>
                </a:solidFill>
              </a:rPr>
              <a:t>HTTP defines methods (sometimes referred to as "</a:t>
            </a:r>
            <a:r>
              <a:rPr lang="en-US" altLang="en-US" sz="2800" b="1" dirty="0">
                <a:solidFill>
                  <a:srgbClr val="000000"/>
                </a:solidFill>
              </a:rPr>
              <a:t>verbs</a:t>
            </a:r>
            <a:r>
              <a:rPr lang="en-US" altLang="en-US" sz="2800" dirty="0">
                <a:solidFill>
                  <a:srgbClr val="000000"/>
                </a:solidFill>
              </a:rPr>
              <a:t>") indicating the desired action to be performed on the identified </a:t>
            </a:r>
            <a:r>
              <a:rPr lang="en-US" altLang="en-US" sz="2800" b="1" u="sng" dirty="0">
                <a:solidFill>
                  <a:srgbClr val="000000"/>
                </a:solidFill>
              </a:rPr>
              <a:t>resource </a:t>
            </a:r>
            <a:endParaRPr lang="en-US" altLang="en-US" sz="2800" dirty="0">
              <a:solidFill>
                <a:srgbClr val="000000"/>
              </a:solidFill>
            </a:endParaRP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b="1" dirty="0">
                <a:solidFill>
                  <a:srgbClr val="000000"/>
                </a:solidFill>
              </a:rPr>
              <a:t>HEAD</a:t>
            </a:r>
            <a:r>
              <a:rPr lang="en-US" altLang="en-US" dirty="0">
                <a:solidFill>
                  <a:srgbClr val="000000"/>
                </a:solidFill>
              </a:rPr>
              <a:t> – similar to </a:t>
            </a:r>
            <a:r>
              <a:rPr lang="en-IE" altLang="en-US" dirty="0">
                <a:solidFill>
                  <a:srgbClr val="000000"/>
                </a:solidFill>
              </a:rPr>
              <a:t>GET , but without the response body</a:t>
            </a:r>
            <a:endParaRPr lang="en-US" altLang="en-US" dirty="0">
              <a:solidFill>
                <a:srgbClr val="000000"/>
              </a:solidFill>
            </a:endParaRP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b="1" dirty="0">
                <a:solidFill>
                  <a:srgbClr val="0070C0"/>
                </a:solidFill>
              </a:rPr>
              <a:t>GET - </a:t>
            </a:r>
            <a:r>
              <a:rPr lang="en-IE" altLang="en-US" b="1" dirty="0">
                <a:solidFill>
                  <a:srgbClr val="0070C0"/>
                </a:solidFill>
              </a:rPr>
              <a:t>should only retrieve data</a:t>
            </a:r>
            <a:endParaRPr lang="en-US" altLang="en-US" b="1" dirty="0">
              <a:solidFill>
                <a:srgbClr val="0070C0"/>
              </a:solidFill>
            </a:endParaRP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b="1" dirty="0">
                <a:solidFill>
                  <a:srgbClr val="0070C0"/>
                </a:solidFill>
              </a:rPr>
              <a:t>POST - </a:t>
            </a:r>
            <a:r>
              <a:rPr lang="en-IE" altLang="en-US" b="1" dirty="0">
                <a:solidFill>
                  <a:srgbClr val="0070C0"/>
                </a:solidFill>
              </a:rPr>
              <a:t>submit an entity to the specified resource</a:t>
            </a:r>
            <a:endParaRPr lang="en-US" altLang="en-US" b="1" dirty="0">
              <a:solidFill>
                <a:srgbClr val="0070C0"/>
              </a:solidFill>
            </a:endParaRP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b="1" dirty="0">
                <a:solidFill>
                  <a:srgbClr val="000000"/>
                </a:solidFill>
              </a:rPr>
              <a:t>PUT</a:t>
            </a:r>
            <a:r>
              <a:rPr lang="en-US" altLang="en-US" dirty="0">
                <a:solidFill>
                  <a:srgbClr val="000000"/>
                </a:solidFill>
              </a:rPr>
              <a:t> - </a:t>
            </a:r>
            <a:r>
              <a:rPr lang="en-IE" b="0" i="0" dirty="0">
                <a:solidFill>
                  <a:srgbClr val="333333"/>
                </a:solidFill>
                <a:effectLst/>
                <a:latin typeface="Arial" panose="020B0604020202020204" pitchFamily="34" charset="0"/>
              </a:rPr>
              <a:t>replaces all current representations of the target resource with the request payload</a:t>
            </a:r>
            <a:endParaRPr lang="en-US" altLang="en-US" dirty="0">
              <a:solidFill>
                <a:srgbClr val="000000"/>
              </a:solidFill>
            </a:endParaRP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b="1" dirty="0">
                <a:solidFill>
                  <a:srgbClr val="000000"/>
                </a:solidFill>
              </a:rPr>
              <a:t>DELETE</a:t>
            </a:r>
            <a:r>
              <a:rPr lang="en-US" altLang="en-US" dirty="0">
                <a:solidFill>
                  <a:srgbClr val="000000"/>
                </a:solidFill>
              </a:rPr>
              <a:t> - deletes the specified resource</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b="1" dirty="0">
                <a:solidFill>
                  <a:srgbClr val="000000"/>
                </a:solidFill>
              </a:rPr>
              <a:t>TRACE</a:t>
            </a:r>
            <a:r>
              <a:rPr lang="en-US" altLang="en-US" dirty="0">
                <a:solidFill>
                  <a:srgbClr val="000000"/>
                </a:solidFill>
              </a:rPr>
              <a:t> - </a:t>
            </a:r>
            <a:r>
              <a:rPr lang="en-IE" altLang="en-US" dirty="0">
                <a:solidFill>
                  <a:srgbClr val="000000"/>
                </a:solidFill>
              </a:rPr>
              <a:t>performs a message loop-back test along the path to the target resource</a:t>
            </a:r>
            <a:endParaRPr lang="en-US" altLang="en-US" dirty="0">
              <a:solidFill>
                <a:srgbClr val="000000"/>
              </a:solidFill>
            </a:endParaRP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b="1" dirty="0">
                <a:solidFill>
                  <a:srgbClr val="000000"/>
                </a:solidFill>
              </a:rPr>
              <a:t>OPTIONS</a:t>
            </a:r>
            <a:r>
              <a:rPr lang="en-US" altLang="en-US" dirty="0">
                <a:solidFill>
                  <a:srgbClr val="000000"/>
                </a:solidFill>
              </a:rPr>
              <a:t> - </a:t>
            </a:r>
            <a:r>
              <a:rPr lang="en-IE" altLang="en-US" dirty="0">
                <a:solidFill>
                  <a:srgbClr val="000000"/>
                </a:solidFill>
              </a:rPr>
              <a:t>used to describe the communication options for the target resource</a:t>
            </a:r>
            <a:endParaRPr lang="en-US" altLang="en-US" dirty="0">
              <a:solidFill>
                <a:srgbClr val="000000"/>
              </a:solidFill>
            </a:endParaRP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b="1" dirty="0">
                <a:solidFill>
                  <a:srgbClr val="000000"/>
                </a:solidFill>
              </a:rPr>
              <a:t>CONNECT</a:t>
            </a:r>
            <a:r>
              <a:rPr lang="en-US" altLang="en-US" dirty="0">
                <a:solidFill>
                  <a:srgbClr val="000000"/>
                </a:solidFill>
              </a:rPr>
              <a:t> - </a:t>
            </a:r>
            <a:r>
              <a:rPr lang="en-IE" altLang="en-US" dirty="0">
                <a:solidFill>
                  <a:srgbClr val="000000"/>
                </a:solidFill>
              </a:rPr>
              <a:t>establishes a tunnel to the server identified by the target resource</a:t>
            </a:r>
            <a:endParaRPr lang="en-US" altLang="en-US" dirty="0">
              <a:solidFill>
                <a:srgbClr val="000000"/>
              </a:solidFill>
            </a:endParaRPr>
          </a:p>
          <a:p>
            <a:pPr marL="342900" lvl="1" indent="0" eaLnBrk="1" hangingPunct="1">
              <a:lnSpc>
                <a:spcPct val="100000"/>
              </a:lnSpc>
              <a:spcBef>
                <a:spcPct val="20000"/>
              </a:spcBef>
              <a:buClr>
                <a:srgbClr val="000000"/>
              </a:buClr>
              <a:buNone/>
            </a:pPr>
            <a:endParaRPr lang="en-US" altLang="en-US" sz="2000" dirty="0">
              <a:solidFill>
                <a:srgbClr val="000000"/>
              </a:solidFill>
            </a:endParaRPr>
          </a:p>
          <a:p>
            <a:pPr marL="342900" lvl="1" indent="0" eaLnBrk="1" hangingPunct="1">
              <a:lnSpc>
                <a:spcPct val="100000"/>
              </a:lnSpc>
              <a:spcBef>
                <a:spcPct val="20000"/>
              </a:spcBef>
              <a:buClr>
                <a:srgbClr val="000000"/>
              </a:buClr>
              <a:buNone/>
            </a:pPr>
            <a:r>
              <a:rPr lang="en-US" altLang="en-US" sz="2000" dirty="0">
                <a:solidFill>
                  <a:srgbClr val="000000"/>
                </a:solidFill>
              </a:rPr>
              <a:t>See </a:t>
            </a:r>
            <a:r>
              <a:rPr lang="en-US" altLang="en-US" sz="2000" dirty="0">
                <a:solidFill>
                  <a:srgbClr val="000000"/>
                </a:solidFill>
                <a:hlinkClick r:id="rId3"/>
              </a:rPr>
              <a:t>https://developer.mozilla.org/en-US/docs/Web/HTTP</a:t>
            </a:r>
            <a:endParaRPr lang="en-US" altLang="en-US" sz="2000" dirty="0">
              <a:solidFill>
                <a:srgbClr val="000000"/>
              </a:solidFill>
            </a:endParaRP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400" dirty="0">
              <a:solidFill>
                <a:srgbClr val="000000"/>
              </a:solidFill>
            </a:endParaRP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4">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15</a:t>
            </a:fld>
            <a:endParaRPr lang="en-GB" altLang="en-US" dirty="0"/>
          </a:p>
        </p:txBody>
      </p:sp>
    </p:spTree>
    <p:extLst>
      <p:ext uri="{BB962C8B-B14F-4D97-AF65-F5344CB8AC3E}">
        <p14:creationId xmlns:p14="http://schemas.microsoft.com/office/powerpoint/2010/main" val="21847412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HTTP Request – Safe Methods</a:t>
            </a:r>
          </a:p>
        </p:txBody>
      </p:sp>
      <p:sp>
        <p:nvSpPr>
          <p:cNvPr id="22531" name="Content Placeholder 2">
            <a:extLst>
              <a:ext uri="{FF2B5EF4-FFF2-40B4-BE49-F238E27FC236}">
                <a16:creationId xmlns:a16="http://schemas.microsoft.com/office/drawing/2014/main" id="{1EBA7A2C-8E0C-5B40-9D7E-CE478DED6131}"/>
              </a:ext>
            </a:extLst>
          </p:cNvPr>
          <p:cNvSpPr>
            <a:spLocks noGrp="1" noChangeArrowheads="1"/>
          </p:cNvSpPr>
          <p:nvPr>
            <p:ph idx="1"/>
          </p:nvPr>
        </p:nvSpPr>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b="1" dirty="0">
                <a:solidFill>
                  <a:srgbClr val="0070C0"/>
                </a:solidFill>
              </a:rPr>
              <a:t>HEAD, GET, OPTIONS </a:t>
            </a:r>
            <a:r>
              <a:rPr lang="en-US" altLang="en-US" sz="2800" dirty="0">
                <a:solidFill>
                  <a:srgbClr val="000000"/>
                </a:solidFill>
              </a:rPr>
              <a:t>and </a:t>
            </a:r>
            <a:r>
              <a:rPr lang="en-US" altLang="en-US" sz="2800" b="1" dirty="0">
                <a:solidFill>
                  <a:srgbClr val="0070C0"/>
                </a:solidFill>
              </a:rPr>
              <a:t>TRACE</a:t>
            </a:r>
            <a:r>
              <a:rPr lang="en-US" altLang="en-US" sz="2800" dirty="0">
                <a:solidFill>
                  <a:srgbClr val="000000"/>
                </a:solidFill>
              </a:rPr>
              <a:t> are defined as </a:t>
            </a:r>
            <a:r>
              <a:rPr lang="en-US" altLang="en-US" sz="2800" b="1" i="1" dirty="0">
                <a:solidFill>
                  <a:srgbClr val="000000"/>
                </a:solidFill>
              </a:rPr>
              <a:t>safe</a:t>
            </a:r>
            <a:r>
              <a:rPr lang="en-US" altLang="en-US" sz="2800" dirty="0">
                <a:solidFill>
                  <a:srgbClr val="000000"/>
                </a:solidFill>
              </a:rPr>
              <a:t> (no side effects)</a:t>
            </a:r>
          </a:p>
          <a:p>
            <a:pPr marL="0" indent="0" eaLnBrk="1" hangingPunct="1">
              <a:lnSpc>
                <a:spcPct val="100000"/>
              </a:lnSpc>
              <a:spcBef>
                <a:spcPct val="20000"/>
              </a:spcBef>
              <a:buClr>
                <a:srgbClr val="000000"/>
              </a:buClr>
              <a:buNone/>
            </a:pPr>
            <a:endParaRPr lang="en-US" altLang="en-US" sz="2800" dirty="0">
              <a:solidFill>
                <a:srgbClr val="000000"/>
              </a:solidFill>
            </a:endParaRP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b="1" dirty="0">
                <a:solidFill>
                  <a:srgbClr val="0070C0"/>
                </a:solidFill>
              </a:rPr>
              <a:t>POST, PUT </a:t>
            </a:r>
            <a:r>
              <a:rPr lang="en-US" altLang="en-US" sz="2800" dirty="0">
                <a:solidFill>
                  <a:srgbClr val="000000"/>
                </a:solidFill>
              </a:rPr>
              <a:t>and </a:t>
            </a:r>
            <a:r>
              <a:rPr lang="en-US" altLang="en-US" sz="2800" b="1" dirty="0">
                <a:solidFill>
                  <a:srgbClr val="0070C0"/>
                </a:solidFill>
              </a:rPr>
              <a:t>DELETE</a:t>
            </a:r>
            <a:r>
              <a:rPr lang="en-US" altLang="en-US" sz="2800" dirty="0">
                <a:solidFill>
                  <a:srgbClr val="000000"/>
                </a:solidFill>
              </a:rPr>
              <a:t> are intended for actions which may cause side effects either on the server, and therefore defined as </a:t>
            </a:r>
            <a:r>
              <a:rPr lang="en-US" altLang="en-US" sz="2800" b="1" i="1" dirty="0">
                <a:solidFill>
                  <a:srgbClr val="000000"/>
                </a:solidFill>
              </a:rPr>
              <a:t>unsafe</a:t>
            </a:r>
            <a:endParaRPr lang="en-US" altLang="en-US" sz="2800" dirty="0">
              <a:solidFill>
                <a:srgbClr val="000000"/>
              </a:solidFill>
            </a:endParaRP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500" dirty="0">
              <a:solidFill>
                <a:srgbClr val="000000"/>
              </a:solidFill>
            </a:endParaRP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400" dirty="0">
              <a:solidFill>
                <a:srgbClr val="000000"/>
              </a:solidFill>
            </a:endParaRP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2">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16</a:t>
            </a:fld>
            <a:endParaRPr lang="en-GB" altLang="en-US"/>
          </a:p>
        </p:txBody>
      </p:sp>
    </p:spTree>
    <p:extLst>
      <p:ext uri="{BB962C8B-B14F-4D97-AF65-F5344CB8AC3E}">
        <p14:creationId xmlns:p14="http://schemas.microsoft.com/office/powerpoint/2010/main" val="21187048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HTTP Status Codes</a:t>
            </a:r>
          </a:p>
        </p:txBody>
      </p:sp>
      <p:sp>
        <p:nvSpPr>
          <p:cNvPr id="22531" name="Content Placeholder 2">
            <a:extLst>
              <a:ext uri="{FF2B5EF4-FFF2-40B4-BE49-F238E27FC236}">
                <a16:creationId xmlns:a16="http://schemas.microsoft.com/office/drawing/2014/main" id="{1EBA7A2C-8E0C-5B40-9D7E-CE478DED6131}"/>
              </a:ext>
            </a:extLst>
          </p:cNvPr>
          <p:cNvSpPr>
            <a:spLocks noGrp="1" noChangeArrowheads="1"/>
          </p:cNvSpPr>
          <p:nvPr>
            <p:ph idx="1"/>
          </p:nvPr>
        </p:nvSpPr>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200" dirty="0"/>
              <a:t>The first line of the HTTP response is called the </a:t>
            </a:r>
            <a:r>
              <a:rPr lang="en-US" altLang="en-US" sz="3200" b="1" i="1" dirty="0">
                <a:solidFill>
                  <a:schemeClr val="accent5">
                    <a:lumMod val="75000"/>
                  </a:schemeClr>
                </a:solidFill>
              </a:rPr>
              <a:t>status line</a:t>
            </a:r>
            <a:endParaRPr lang="en-US" altLang="en-US" sz="3200" dirty="0"/>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200" dirty="0"/>
              <a:t>The way the client handles the response primarily depends on the code and secondarily on the response headers</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200" dirty="0"/>
              <a:t>Success: 2xx</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200" dirty="0"/>
              <a:t>Redirection: 3xx</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200" dirty="0"/>
              <a:t>Client-Side Error: 4xx</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200" dirty="0"/>
              <a:t>Server-Side Error: 5xx</a:t>
            </a: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800" dirty="0">
              <a:solidFill>
                <a:srgbClr val="000000"/>
              </a:solidFill>
            </a:endParaRP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800" dirty="0">
              <a:solidFill>
                <a:srgbClr val="000000"/>
              </a:solidFill>
            </a:endParaRP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17</a:t>
            </a:fld>
            <a:endParaRPr lang="en-GB" altLang="en-US"/>
          </a:p>
        </p:txBody>
      </p:sp>
    </p:spTree>
    <p:extLst>
      <p:ext uri="{BB962C8B-B14F-4D97-AF65-F5344CB8AC3E}">
        <p14:creationId xmlns:p14="http://schemas.microsoft.com/office/powerpoint/2010/main" val="16508255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HTTP Session State</a:t>
            </a:r>
          </a:p>
        </p:txBody>
      </p:sp>
      <p:sp>
        <p:nvSpPr>
          <p:cNvPr id="22531" name="Content Placeholder 2">
            <a:extLst>
              <a:ext uri="{FF2B5EF4-FFF2-40B4-BE49-F238E27FC236}">
                <a16:creationId xmlns:a16="http://schemas.microsoft.com/office/drawing/2014/main" id="{1EBA7A2C-8E0C-5B40-9D7E-CE478DED6131}"/>
              </a:ext>
            </a:extLst>
          </p:cNvPr>
          <p:cNvSpPr>
            <a:spLocks noGrp="1" noChangeArrowheads="1"/>
          </p:cNvSpPr>
          <p:nvPr>
            <p:ph idx="1"/>
          </p:nvPr>
        </p:nvSpPr>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HTTP is a </a:t>
            </a:r>
            <a:r>
              <a:rPr lang="en-US" altLang="en-US" sz="2800" b="1" dirty="0"/>
              <a:t>stateless</a:t>
            </a:r>
            <a:r>
              <a:rPr lang="en-US" altLang="en-US" sz="2800" dirty="0"/>
              <a:t> protocol</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Hosts do not need to retain information about users between requests</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b="1" dirty="0"/>
              <a:t>Statelessness</a:t>
            </a:r>
            <a:r>
              <a:rPr lang="en-US" altLang="en-US" sz="2800" dirty="0"/>
              <a:t> is a </a:t>
            </a:r>
            <a:r>
              <a:rPr lang="en-US" altLang="en-US" sz="2800" b="1" dirty="0"/>
              <a:t>scalability</a:t>
            </a:r>
            <a:r>
              <a:rPr lang="en-US" altLang="en-US" sz="2800" dirty="0"/>
              <a:t> property</a:t>
            </a:r>
          </a:p>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For example, when a host needs to customize the content of a website for a user, popular solutions:</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sz="2400" dirty="0"/>
              <a:t>Cookies</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sz="2400" dirty="0"/>
              <a:t>Sessions</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sz="2400" dirty="0"/>
              <a:t>Hidden variables (when the current page is a form)</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sz="2400" dirty="0"/>
              <a:t>URL encoded parameters e.g. </a:t>
            </a:r>
            <a:r>
              <a:rPr lang="en-US" altLang="en-US" sz="2400" dirty="0">
                <a:solidFill>
                  <a:srgbClr val="0070C0"/>
                </a:solidFill>
                <a:latin typeface="+mj-lt"/>
              </a:rPr>
              <a:t>/</a:t>
            </a:r>
            <a:r>
              <a:rPr lang="en-US" altLang="en-US" sz="2400" dirty="0" err="1">
                <a:solidFill>
                  <a:srgbClr val="0070C0"/>
                </a:solidFill>
                <a:latin typeface="+mj-lt"/>
              </a:rPr>
              <a:t>index.php?session_id</a:t>
            </a:r>
            <a:r>
              <a:rPr lang="en-US" altLang="en-US" sz="2400" dirty="0">
                <a:solidFill>
                  <a:srgbClr val="0070C0"/>
                </a:solidFill>
                <a:latin typeface="+mj-lt"/>
              </a:rPr>
              <a:t>=</a:t>
            </a:r>
            <a:r>
              <a:rPr lang="en-US" altLang="en-US" sz="2400" dirty="0" err="1">
                <a:solidFill>
                  <a:srgbClr val="0070C0"/>
                </a:solidFill>
                <a:latin typeface="+mj-lt"/>
              </a:rPr>
              <a:t>some_unique_session_code</a:t>
            </a:r>
            <a:endParaRPr lang="en-US" altLang="en-US" sz="2400" dirty="0">
              <a:solidFill>
                <a:srgbClr val="0070C0"/>
              </a:solidFill>
              <a:latin typeface="+mj-lt"/>
            </a:endParaRP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400" dirty="0">
              <a:solidFill>
                <a:srgbClr val="000000"/>
              </a:solidFill>
            </a:endParaRP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400" dirty="0">
              <a:solidFill>
                <a:srgbClr val="000000"/>
              </a:solidFill>
            </a:endParaRP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18</a:t>
            </a:fld>
            <a:endParaRPr lang="en-GB" altLang="en-US"/>
          </a:p>
        </p:txBody>
      </p:sp>
    </p:spTree>
    <p:extLst>
      <p:ext uri="{BB962C8B-B14F-4D97-AF65-F5344CB8AC3E}">
        <p14:creationId xmlns:p14="http://schemas.microsoft.com/office/powerpoint/2010/main" val="40581385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Traditional uses of JavaScript</a:t>
            </a:r>
          </a:p>
        </p:txBody>
      </p:sp>
      <p:sp>
        <p:nvSpPr>
          <p:cNvPr id="22531" name="Content Placeholder 2">
            <a:extLst>
              <a:ext uri="{FF2B5EF4-FFF2-40B4-BE49-F238E27FC236}">
                <a16:creationId xmlns:a16="http://schemas.microsoft.com/office/drawing/2014/main" id="{1EBA7A2C-8E0C-5B40-9D7E-CE478DED6131}"/>
              </a:ext>
            </a:extLst>
          </p:cNvPr>
          <p:cNvSpPr>
            <a:spLocks noGrp="1" noChangeArrowheads="1"/>
          </p:cNvSpPr>
          <p:nvPr>
            <p:ph idx="1"/>
          </p:nvPr>
        </p:nvSpPr>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200" dirty="0"/>
              <a:t>JavaScript is a scripting language designed for creating dynamic, interactive Web applications that link together objects and resources on both clients and servers</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Getting your Web page to respond or react directly to user interaction with form elements and hypertext links</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Preprocessing data on the client before submission to a server</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sz="2800" dirty="0"/>
              <a:t>Changing content and styles</a:t>
            </a:r>
            <a:endParaRPr lang="en-US" altLang="en-US" sz="2400" dirty="0">
              <a:solidFill>
                <a:srgbClr val="000000"/>
              </a:solidFill>
            </a:endParaRP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800" dirty="0">
              <a:solidFill>
                <a:srgbClr val="000000"/>
              </a:solidFill>
            </a:endParaRP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19</a:t>
            </a:fld>
            <a:endParaRPr lang="en-GB" altLang="en-US"/>
          </a:p>
        </p:txBody>
      </p:sp>
    </p:spTree>
    <p:extLst>
      <p:ext uri="{BB962C8B-B14F-4D97-AF65-F5344CB8AC3E}">
        <p14:creationId xmlns:p14="http://schemas.microsoft.com/office/powerpoint/2010/main" val="1376510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Traditional Server-Side Processing</a:t>
            </a:r>
          </a:p>
        </p:txBody>
      </p:sp>
      <p:sp>
        <p:nvSpPr>
          <p:cNvPr id="22531" name="Content Placeholder 2">
            <a:extLst>
              <a:ext uri="{FF2B5EF4-FFF2-40B4-BE49-F238E27FC236}">
                <a16:creationId xmlns:a16="http://schemas.microsoft.com/office/drawing/2014/main" id="{1EBA7A2C-8E0C-5B40-9D7E-CE478DED6131}"/>
              </a:ext>
            </a:extLst>
          </p:cNvPr>
          <p:cNvSpPr>
            <a:spLocks noGrp="1" noChangeArrowheads="1"/>
          </p:cNvSpPr>
          <p:nvPr>
            <p:ph idx="1"/>
          </p:nvPr>
        </p:nvSpPr>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600" dirty="0"/>
              <a:t>In server-side processing, the Web server:</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sz="3200" dirty="0"/>
              <a:t>Receives the dynamic Web page request</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sz="3200" dirty="0"/>
              <a:t>Performs all the processing necessary to create the dynamic Web page</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sz="3200" dirty="0"/>
              <a:t>Sends the finished Web page to the client for display in the client’s browser</a:t>
            </a: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3200" dirty="0">
              <a:solidFill>
                <a:srgbClr val="000000"/>
              </a:solidFill>
            </a:endParaRP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20</a:t>
            </a:fld>
            <a:endParaRPr lang="en-GB" altLang="en-US"/>
          </a:p>
        </p:txBody>
      </p:sp>
    </p:spTree>
    <p:extLst>
      <p:ext uri="{BB962C8B-B14F-4D97-AF65-F5344CB8AC3E}">
        <p14:creationId xmlns:p14="http://schemas.microsoft.com/office/powerpoint/2010/main" val="973375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Traditional Client-Side Processing</a:t>
            </a:r>
          </a:p>
        </p:txBody>
      </p:sp>
      <p:sp>
        <p:nvSpPr>
          <p:cNvPr id="22531" name="Content Placeholder 2">
            <a:extLst>
              <a:ext uri="{FF2B5EF4-FFF2-40B4-BE49-F238E27FC236}">
                <a16:creationId xmlns:a16="http://schemas.microsoft.com/office/drawing/2014/main" id="{1EBA7A2C-8E0C-5B40-9D7E-CE478DED6131}"/>
              </a:ext>
            </a:extLst>
          </p:cNvPr>
          <p:cNvSpPr>
            <a:spLocks noGrp="1" noChangeArrowheads="1"/>
          </p:cNvSpPr>
          <p:nvPr>
            <p:ph idx="1"/>
          </p:nvPr>
        </p:nvSpPr>
        <p:spPr/>
        <p:txBody>
          <a:bodyPr/>
          <a:lstStyle/>
          <a:p>
            <a:pPr marL="342900" indent="-342900" eaLnBrk="1" hangingPunct="1">
              <a:lnSpc>
                <a:spcPct val="100000"/>
              </a:lnSpc>
              <a:spcBef>
                <a:spcPct val="20000"/>
              </a:spcBef>
              <a:buClr>
                <a:srgbClr val="000000"/>
              </a:buClr>
              <a:buFont typeface="Times New Roman" panose="02020603050405020304" pitchFamily="18" charset="0"/>
              <a:buChar char="•"/>
            </a:pPr>
            <a:r>
              <a:rPr lang="en-US" altLang="en-US" sz="3600" dirty="0"/>
              <a:t>Client-side processing</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sz="3300" dirty="0"/>
              <a:t>Some processing needs to be “executed” by the browser, either to form the request for the dynamic Web page or to create or display the dynamic Web page.</a:t>
            </a:r>
          </a:p>
          <a:p>
            <a:pPr marL="685800" lvl="1" indent="-342900" eaLnBrk="1" hangingPunct="1">
              <a:lnSpc>
                <a:spcPct val="100000"/>
              </a:lnSpc>
              <a:spcBef>
                <a:spcPct val="20000"/>
              </a:spcBef>
              <a:buClr>
                <a:srgbClr val="000000"/>
              </a:buClr>
              <a:buFont typeface="Times New Roman" panose="02020603050405020304" pitchFamily="18" charset="0"/>
              <a:buChar char="•"/>
            </a:pPr>
            <a:r>
              <a:rPr lang="en-US" altLang="en-US" sz="3300" dirty="0" err="1"/>
              <a:t>Eg.</a:t>
            </a:r>
            <a:r>
              <a:rPr lang="en-US" altLang="en-US" sz="3300" dirty="0"/>
              <a:t> </a:t>
            </a:r>
            <a:r>
              <a:rPr lang="en-US" altLang="en-US" sz="3300" dirty="0" err="1"/>
              <a:t>Javascript</a:t>
            </a:r>
            <a:r>
              <a:rPr lang="en-US" altLang="en-US" sz="3300" dirty="0"/>
              <a:t> code to validate user input</a:t>
            </a:r>
            <a:endParaRPr lang="en-US" altLang="en-US" sz="2900" dirty="0">
              <a:solidFill>
                <a:srgbClr val="000000"/>
              </a:solidFill>
            </a:endParaRP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21</a:t>
            </a:fld>
            <a:endParaRPr lang="en-GB" altLang="en-US"/>
          </a:p>
        </p:txBody>
      </p:sp>
    </p:spTree>
    <p:extLst>
      <p:ext uri="{BB962C8B-B14F-4D97-AF65-F5344CB8AC3E}">
        <p14:creationId xmlns:p14="http://schemas.microsoft.com/office/powerpoint/2010/main" val="30168894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Rich Internet Applications</a:t>
            </a:r>
          </a:p>
        </p:txBody>
      </p:sp>
      <p:sp>
        <p:nvSpPr>
          <p:cNvPr id="22531" name="Content Placeholder 2">
            <a:extLst>
              <a:ext uri="{FF2B5EF4-FFF2-40B4-BE49-F238E27FC236}">
                <a16:creationId xmlns:a16="http://schemas.microsoft.com/office/drawing/2014/main" id="{1EBA7A2C-8E0C-5B40-9D7E-CE478DED6131}"/>
              </a:ext>
            </a:extLst>
          </p:cNvPr>
          <p:cNvSpPr>
            <a:spLocks noGrp="1" noChangeArrowheads="1"/>
          </p:cNvSpPr>
          <p:nvPr>
            <p:ph idx="1"/>
          </p:nvPr>
        </p:nvSpPr>
        <p:spPr/>
        <p:txBody>
          <a:bodyPr/>
          <a:lstStyle/>
          <a:p>
            <a:pPr eaLnBrk="1" hangingPunct="1"/>
            <a:r>
              <a:rPr lang="en-US" altLang="en-US" sz="3600" dirty="0"/>
              <a:t>More Processing on the client</a:t>
            </a:r>
          </a:p>
          <a:p>
            <a:pPr eaLnBrk="1" hangingPunct="1"/>
            <a:r>
              <a:rPr lang="en-US" altLang="en-US" sz="3600" dirty="0"/>
              <a:t>The server can return </a:t>
            </a:r>
            <a:r>
              <a:rPr lang="en-US" altLang="en-US" sz="3600" b="1" dirty="0"/>
              <a:t>data</a:t>
            </a:r>
            <a:r>
              <a:rPr lang="en-US" altLang="en-US" sz="3600" dirty="0"/>
              <a:t> (instead of a finished HTML page)</a:t>
            </a:r>
          </a:p>
          <a:p>
            <a:pPr eaLnBrk="1" hangingPunct="1"/>
            <a:r>
              <a:rPr lang="en-US" altLang="en-US" sz="3600" dirty="0"/>
              <a:t>The client will use </a:t>
            </a:r>
            <a:r>
              <a:rPr lang="en-US" altLang="en-US" sz="3600" b="1" dirty="0" err="1"/>
              <a:t>Javascript</a:t>
            </a:r>
            <a:r>
              <a:rPr lang="en-US" altLang="en-US" sz="3600" dirty="0"/>
              <a:t> (with libraries like jQuery and </a:t>
            </a:r>
            <a:r>
              <a:rPr lang="en-US" altLang="en-US" sz="3600" dirty="0" err="1"/>
              <a:t>jQueryUI</a:t>
            </a:r>
            <a:r>
              <a:rPr lang="en-US" altLang="en-US" sz="3600" dirty="0"/>
              <a:t> ) to update the User Interface in the browser</a:t>
            </a:r>
          </a:p>
          <a:p>
            <a:pPr eaLnBrk="1" hangingPunct="1"/>
            <a:r>
              <a:rPr lang="en-US" altLang="en-US" sz="3600" dirty="0"/>
              <a:t>Ajax allows for </a:t>
            </a:r>
            <a:r>
              <a:rPr lang="en-US" altLang="en-US" sz="3600" dirty="0" err="1"/>
              <a:t>HTTPRequests</a:t>
            </a:r>
            <a:r>
              <a:rPr lang="en-US" altLang="en-US" sz="3600" dirty="0"/>
              <a:t> to be sent </a:t>
            </a:r>
            <a:r>
              <a:rPr lang="en-US" altLang="en-US" sz="3600" b="1" i="1" dirty="0"/>
              <a:t>asynchronously</a:t>
            </a:r>
            <a:endParaRPr lang="en-US" altLang="en-US" sz="3600" dirty="0"/>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900" dirty="0">
              <a:solidFill>
                <a:srgbClr val="000000"/>
              </a:solidFill>
            </a:endParaRP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22</a:t>
            </a:fld>
            <a:endParaRPr lang="en-GB" altLang="en-US" dirty="0"/>
          </a:p>
        </p:txBody>
      </p:sp>
    </p:spTree>
    <p:extLst>
      <p:ext uri="{BB962C8B-B14F-4D97-AF65-F5344CB8AC3E}">
        <p14:creationId xmlns:p14="http://schemas.microsoft.com/office/powerpoint/2010/main" val="11155493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Server and Client Side processing</a:t>
            </a:r>
          </a:p>
        </p:txBody>
      </p:sp>
      <p:sp>
        <p:nvSpPr>
          <p:cNvPr id="22531" name="Content Placeholder 2">
            <a:extLst>
              <a:ext uri="{FF2B5EF4-FFF2-40B4-BE49-F238E27FC236}">
                <a16:creationId xmlns:a16="http://schemas.microsoft.com/office/drawing/2014/main" id="{1EBA7A2C-8E0C-5B40-9D7E-CE478DED6131}"/>
              </a:ext>
            </a:extLst>
          </p:cNvPr>
          <p:cNvSpPr>
            <a:spLocks noGrp="1" noChangeArrowheads="1"/>
          </p:cNvSpPr>
          <p:nvPr>
            <p:ph idx="1"/>
          </p:nvPr>
        </p:nvSpPr>
        <p:spPr>
          <a:xfrm>
            <a:off x="157163" y="1052513"/>
            <a:ext cx="4270821" cy="5124450"/>
          </a:xfrm>
        </p:spPr>
        <p:txBody>
          <a:bodyPr/>
          <a:lstStyle/>
          <a:p>
            <a:pPr eaLnBrk="1" hangingPunct="1"/>
            <a:r>
              <a:rPr lang="en-US" altLang="en-US" sz="3200" dirty="0"/>
              <a:t>Server-side processing</a:t>
            </a:r>
          </a:p>
          <a:p>
            <a:pPr lvl="1" eaLnBrk="1" hangingPunct="1"/>
            <a:r>
              <a:rPr lang="en-US" altLang="en-US" sz="2800" dirty="0"/>
              <a:t>PHP</a:t>
            </a:r>
          </a:p>
          <a:p>
            <a:pPr lvl="1" eaLnBrk="1" hangingPunct="1"/>
            <a:r>
              <a:rPr lang="en-US" altLang="en-US" sz="2800" dirty="0"/>
              <a:t>ASP</a:t>
            </a:r>
          </a:p>
          <a:p>
            <a:pPr lvl="1" eaLnBrk="1" hangingPunct="1"/>
            <a:r>
              <a:rPr lang="en-US" altLang="en-US" sz="2800" dirty="0"/>
              <a:t>ASP.NET</a:t>
            </a:r>
          </a:p>
          <a:p>
            <a:pPr lvl="1" eaLnBrk="1" hangingPunct="1"/>
            <a:r>
              <a:rPr lang="en-US" altLang="en-US" sz="2800" dirty="0"/>
              <a:t>JavaScript, e.g. node.js</a:t>
            </a:r>
          </a:p>
          <a:p>
            <a:pPr lvl="1" eaLnBrk="1" hangingPunct="1"/>
            <a:r>
              <a:rPr lang="en-US" altLang="en-US" sz="2800" dirty="0"/>
              <a:t>Jakarta EE/J2EE (JSP/Servlets)</a:t>
            </a:r>
          </a:p>
          <a:p>
            <a:pPr lvl="1" eaLnBrk="1" hangingPunct="1"/>
            <a:r>
              <a:rPr lang="en-US" altLang="en-US" sz="2800" dirty="0"/>
              <a:t>Python, e.g. Django</a:t>
            </a:r>
          </a:p>
          <a:p>
            <a:pPr lvl="1" eaLnBrk="1" hangingPunct="1"/>
            <a:r>
              <a:rPr lang="en-US" altLang="en-US" sz="2800" dirty="0"/>
              <a:t>Ruby, e.g. Ruby on Rails</a:t>
            </a:r>
          </a:p>
          <a:p>
            <a:pPr lvl="1" eaLnBrk="1" hangingPunct="1"/>
            <a:r>
              <a:rPr lang="en-US" altLang="en-US" sz="2800" dirty="0"/>
              <a:t>ColdFusion</a:t>
            </a: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900" dirty="0">
              <a:solidFill>
                <a:srgbClr val="000000"/>
              </a:solidFill>
            </a:endParaRP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23</a:t>
            </a:fld>
            <a:endParaRPr lang="en-GB" altLang="en-US" dirty="0"/>
          </a:p>
        </p:txBody>
      </p:sp>
      <p:sp>
        <p:nvSpPr>
          <p:cNvPr id="9" name="Content Placeholder 2">
            <a:extLst>
              <a:ext uri="{FF2B5EF4-FFF2-40B4-BE49-F238E27FC236}">
                <a16:creationId xmlns:a16="http://schemas.microsoft.com/office/drawing/2014/main" id="{949F25C6-D477-4F93-B75C-F7BFBCF79CE8}"/>
              </a:ext>
            </a:extLst>
          </p:cNvPr>
          <p:cNvSpPr txBox="1">
            <a:spLocks noChangeArrowheads="1"/>
          </p:cNvSpPr>
          <p:nvPr/>
        </p:nvSpPr>
        <p:spPr bwMode="auto">
          <a:xfrm>
            <a:off x="4605437" y="1064420"/>
            <a:ext cx="4270821" cy="3948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eaLnBrk="1" hangingPunct="1"/>
            <a:r>
              <a:rPr lang="en-US" altLang="en-US" sz="3200" dirty="0"/>
              <a:t>Client-side processing</a:t>
            </a:r>
          </a:p>
          <a:p>
            <a:pPr lvl="1" eaLnBrk="1" hangingPunct="1"/>
            <a:r>
              <a:rPr lang="en-US" altLang="en-US" sz="2800" dirty="0"/>
              <a:t>CSS</a:t>
            </a:r>
          </a:p>
          <a:p>
            <a:pPr lvl="1" eaLnBrk="1" hangingPunct="1"/>
            <a:r>
              <a:rPr lang="en-US" altLang="en-US" sz="2800" dirty="0"/>
              <a:t>HTML</a:t>
            </a:r>
          </a:p>
          <a:p>
            <a:pPr lvl="1" eaLnBrk="1" hangingPunct="1"/>
            <a:r>
              <a:rPr lang="en-US" altLang="en-US" sz="2800" dirty="0"/>
              <a:t>JavaScript</a:t>
            </a:r>
          </a:p>
          <a:p>
            <a:pPr lvl="1" eaLnBrk="1" hangingPunct="1"/>
            <a:r>
              <a:rPr lang="en-US" altLang="en-US" sz="2800" dirty="0"/>
              <a:t>Angular</a:t>
            </a:r>
          </a:p>
          <a:p>
            <a:pPr lvl="1" eaLnBrk="1" hangingPunct="1"/>
            <a:r>
              <a:rPr lang="en-US" altLang="en-US" sz="2800" dirty="0"/>
              <a:t>Ember</a:t>
            </a:r>
          </a:p>
          <a:p>
            <a:pPr lvl="1" eaLnBrk="1" hangingPunct="1"/>
            <a:r>
              <a:rPr lang="en-US" altLang="en-US" sz="2800" dirty="0"/>
              <a:t>JavaFX</a:t>
            </a:r>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900" dirty="0">
              <a:solidFill>
                <a:srgbClr val="000000"/>
              </a:solidFill>
            </a:endParaRPr>
          </a:p>
        </p:txBody>
      </p:sp>
      <p:sp>
        <p:nvSpPr>
          <p:cNvPr id="7" name="TextBox 6">
            <a:extLst>
              <a:ext uri="{FF2B5EF4-FFF2-40B4-BE49-F238E27FC236}">
                <a16:creationId xmlns:a16="http://schemas.microsoft.com/office/drawing/2014/main" id="{EC528358-5991-43C9-8BC8-E9DB9426D4A7}"/>
              </a:ext>
            </a:extLst>
          </p:cNvPr>
          <p:cNvSpPr txBox="1"/>
          <p:nvPr/>
        </p:nvSpPr>
        <p:spPr>
          <a:xfrm>
            <a:off x="395536" y="5523322"/>
            <a:ext cx="8480722" cy="369332"/>
          </a:xfrm>
          <a:prstGeom prst="rect">
            <a:avLst/>
          </a:prstGeom>
          <a:noFill/>
        </p:spPr>
        <p:txBody>
          <a:bodyPr wrap="square" rtlCol="0">
            <a:spAutoFit/>
          </a:bodyPr>
          <a:lstStyle/>
          <a:p>
            <a:r>
              <a:rPr lang="en-IE" sz="1800" dirty="0">
                <a:solidFill>
                  <a:schemeClr val="tx1"/>
                </a:solidFill>
              </a:rPr>
              <a:t>See </a:t>
            </a:r>
            <a:r>
              <a:rPr lang="en-IE" sz="1800" dirty="0">
                <a:solidFill>
                  <a:schemeClr val="tx1"/>
                </a:solidFill>
                <a:hlinkClick r:id="rId4"/>
              </a:rPr>
              <a:t>https://en.wikipedia.org/wiki/List_of_rich_Internet_application_frameworks</a:t>
            </a:r>
            <a:endParaRPr lang="en-IE" sz="1800" dirty="0">
              <a:solidFill>
                <a:schemeClr val="tx1"/>
              </a:solidFill>
            </a:endParaRPr>
          </a:p>
        </p:txBody>
      </p:sp>
    </p:spTree>
    <p:extLst>
      <p:ext uri="{BB962C8B-B14F-4D97-AF65-F5344CB8AC3E}">
        <p14:creationId xmlns:p14="http://schemas.microsoft.com/office/powerpoint/2010/main" val="2450525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Classic vs. AJAX web application</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24</a:t>
            </a:fld>
            <a:endParaRPr lang="en-GB" altLang="en-US" dirty="0"/>
          </a:p>
        </p:txBody>
      </p:sp>
      <p:pic>
        <p:nvPicPr>
          <p:cNvPr id="10" name="Picture 5" descr="Ajax Overview 1">
            <a:hlinkClick r:id="rId4"/>
            <a:extLst>
              <a:ext uri="{FF2B5EF4-FFF2-40B4-BE49-F238E27FC236}">
                <a16:creationId xmlns:a16="http://schemas.microsoft.com/office/drawing/2014/main" id="{41D183D2-51E4-4E80-8575-8D7925476D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86900" y="950442"/>
            <a:ext cx="5299937" cy="5220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2">
            <a:extLst>
              <a:ext uri="{FF2B5EF4-FFF2-40B4-BE49-F238E27FC236}">
                <a16:creationId xmlns:a16="http://schemas.microsoft.com/office/drawing/2014/main" id="{BAFD2781-0EDE-4C38-B88E-860A49EDDC73}"/>
              </a:ext>
            </a:extLst>
          </p:cNvPr>
          <p:cNvSpPr>
            <a:spLocks noGrp="1" noChangeArrowheads="1"/>
          </p:cNvSpPr>
          <p:nvPr>
            <p:ph idx="1"/>
          </p:nvPr>
        </p:nvSpPr>
        <p:spPr>
          <a:xfrm>
            <a:off x="157163" y="1052513"/>
            <a:ext cx="3529737" cy="5040783"/>
          </a:xfrm>
        </p:spPr>
        <p:txBody>
          <a:bodyPr/>
          <a:lstStyle/>
          <a:p>
            <a:pPr eaLnBrk="1" hangingPunct="1"/>
            <a:r>
              <a:rPr lang="en-US" altLang="en-US" sz="3200" dirty="0"/>
              <a:t>Classic application:</a:t>
            </a:r>
          </a:p>
          <a:p>
            <a:pPr lvl="1" eaLnBrk="1" hangingPunct="1"/>
            <a:r>
              <a:rPr lang="en-US" altLang="en-US" sz="2400" dirty="0"/>
              <a:t>Client receives HTML and CSS directly from Server</a:t>
            </a:r>
            <a:endParaRPr lang="en-US" altLang="en-US" sz="3200" dirty="0"/>
          </a:p>
          <a:p>
            <a:pPr eaLnBrk="1" hangingPunct="1"/>
            <a:r>
              <a:rPr lang="en-US" altLang="en-US" sz="3200" dirty="0"/>
              <a:t>AXAJ application:</a:t>
            </a:r>
          </a:p>
          <a:p>
            <a:pPr lvl="1" eaLnBrk="1" hangingPunct="1"/>
            <a:r>
              <a:rPr lang="en-US" altLang="en-US" sz="2400" dirty="0"/>
              <a:t>Server sends Data (XML/JSON) to client side AJAX Engine</a:t>
            </a:r>
          </a:p>
          <a:p>
            <a:pPr lvl="1" eaLnBrk="1" hangingPunct="1"/>
            <a:r>
              <a:rPr lang="en-US" altLang="en-US" sz="2400" dirty="0"/>
              <a:t>Client receives HTML and CSS from AJAX Engine once its finished processing on client</a:t>
            </a:r>
          </a:p>
          <a:p>
            <a:pPr eaLnBrk="1" hangingPunct="1"/>
            <a:endParaRPr lang="en-US" altLang="en-US" sz="2800" dirty="0"/>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900" dirty="0">
              <a:solidFill>
                <a:srgbClr val="000000"/>
              </a:solidFill>
            </a:endParaRPr>
          </a:p>
        </p:txBody>
      </p:sp>
    </p:spTree>
    <p:extLst>
      <p:ext uri="{BB962C8B-B14F-4D97-AF65-F5344CB8AC3E}">
        <p14:creationId xmlns:p14="http://schemas.microsoft.com/office/powerpoint/2010/main" val="31529878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Classic vs. AJAX web application</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25</a:t>
            </a:fld>
            <a:endParaRPr lang="en-GB" altLang="en-US" dirty="0"/>
          </a:p>
        </p:txBody>
      </p:sp>
      <p:sp>
        <p:nvSpPr>
          <p:cNvPr id="11" name="Content Placeholder 2">
            <a:extLst>
              <a:ext uri="{FF2B5EF4-FFF2-40B4-BE49-F238E27FC236}">
                <a16:creationId xmlns:a16="http://schemas.microsoft.com/office/drawing/2014/main" id="{BAFD2781-0EDE-4C38-B88E-860A49EDDC73}"/>
              </a:ext>
            </a:extLst>
          </p:cNvPr>
          <p:cNvSpPr>
            <a:spLocks noGrp="1" noChangeArrowheads="1"/>
          </p:cNvSpPr>
          <p:nvPr>
            <p:ph idx="1"/>
          </p:nvPr>
        </p:nvSpPr>
        <p:spPr>
          <a:xfrm>
            <a:off x="198043" y="908608"/>
            <a:ext cx="3529737" cy="5040783"/>
          </a:xfrm>
        </p:spPr>
        <p:txBody>
          <a:bodyPr/>
          <a:lstStyle/>
          <a:p>
            <a:pPr eaLnBrk="1" hangingPunct="1"/>
            <a:r>
              <a:rPr lang="en-US" altLang="en-US" sz="3200" dirty="0"/>
              <a:t>Classic application:</a:t>
            </a:r>
          </a:p>
          <a:p>
            <a:pPr lvl="1" eaLnBrk="1" hangingPunct="1"/>
            <a:r>
              <a:rPr lang="en-US" altLang="en-US" sz="2400" dirty="0"/>
              <a:t>Communication completely synchronous. </a:t>
            </a:r>
          </a:p>
          <a:p>
            <a:pPr lvl="1" eaLnBrk="1" hangingPunct="1"/>
            <a:r>
              <a:rPr lang="en-US" altLang="en-US" sz="2400" dirty="0"/>
              <a:t>Client must wait for server to finish processing</a:t>
            </a:r>
            <a:endParaRPr lang="en-US" altLang="en-US" sz="3200" dirty="0"/>
          </a:p>
          <a:p>
            <a:pPr eaLnBrk="1" hangingPunct="1"/>
            <a:r>
              <a:rPr lang="en-US" altLang="en-US" sz="3200" dirty="0"/>
              <a:t>AXAJ application:</a:t>
            </a:r>
          </a:p>
          <a:p>
            <a:pPr lvl="1" eaLnBrk="1" hangingPunct="1"/>
            <a:r>
              <a:rPr lang="en-US" altLang="en-US" sz="2400" dirty="0"/>
              <a:t>Communication asynchronous</a:t>
            </a:r>
          </a:p>
          <a:p>
            <a:pPr lvl="1" eaLnBrk="1" hangingPunct="1"/>
            <a:r>
              <a:rPr lang="en-US" altLang="en-US" sz="2400" dirty="0"/>
              <a:t>Client can continue to interact with user and receive callback when server processing finished</a:t>
            </a:r>
          </a:p>
          <a:p>
            <a:pPr eaLnBrk="1" hangingPunct="1"/>
            <a:endParaRPr lang="en-US" altLang="en-US" sz="2800" dirty="0"/>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900" dirty="0">
              <a:solidFill>
                <a:srgbClr val="000000"/>
              </a:solidFill>
            </a:endParaRPr>
          </a:p>
        </p:txBody>
      </p:sp>
      <p:pic>
        <p:nvPicPr>
          <p:cNvPr id="9" name="Picture 5" descr="Ajax Overview 2">
            <a:hlinkClick r:id="rId4"/>
            <a:extLst>
              <a:ext uri="{FF2B5EF4-FFF2-40B4-BE49-F238E27FC236}">
                <a16:creationId xmlns:a16="http://schemas.microsoft.com/office/drawing/2014/main" id="{935A03E7-1E63-4722-A0AB-7AC0003D97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55976" y="764704"/>
            <a:ext cx="4589981" cy="5688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294257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Web Services</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26</a:t>
            </a:fld>
            <a:endParaRPr lang="en-GB" altLang="en-US" dirty="0"/>
          </a:p>
        </p:txBody>
      </p:sp>
      <p:sp>
        <p:nvSpPr>
          <p:cNvPr id="11" name="Content Placeholder 2">
            <a:extLst>
              <a:ext uri="{FF2B5EF4-FFF2-40B4-BE49-F238E27FC236}">
                <a16:creationId xmlns:a16="http://schemas.microsoft.com/office/drawing/2014/main" id="{BAFD2781-0EDE-4C38-B88E-860A49EDDC73}"/>
              </a:ext>
            </a:extLst>
          </p:cNvPr>
          <p:cNvSpPr>
            <a:spLocks noGrp="1" noChangeArrowheads="1"/>
          </p:cNvSpPr>
          <p:nvPr>
            <p:ph idx="1"/>
          </p:nvPr>
        </p:nvSpPr>
        <p:spPr>
          <a:xfrm>
            <a:off x="198043" y="908608"/>
            <a:ext cx="8766445" cy="5040783"/>
          </a:xfrm>
        </p:spPr>
        <p:txBody>
          <a:bodyPr/>
          <a:lstStyle/>
          <a:p>
            <a:pPr eaLnBrk="1" hangingPunct="1"/>
            <a:r>
              <a:rPr lang="en-US" altLang="en-US" sz="3200" dirty="0"/>
              <a:t>A Web Service is a software system designed to support machine-to-machine interaction over a network </a:t>
            </a:r>
          </a:p>
          <a:p>
            <a:pPr eaLnBrk="1" hangingPunct="1"/>
            <a:r>
              <a:rPr lang="en-US" altLang="en-US" sz="3200" dirty="0"/>
              <a:t>Web services are frequently just Internet Application Programming Interfaces (API’s) that can be accessed over a network</a:t>
            </a:r>
          </a:p>
          <a:p>
            <a:pPr eaLnBrk="1" hangingPunct="1"/>
            <a:endParaRPr lang="en-US" altLang="en-US" sz="2800" dirty="0"/>
          </a:p>
          <a:p>
            <a:pPr marL="685800" lvl="1" indent="-342900" eaLnBrk="1" hangingPunct="1">
              <a:lnSpc>
                <a:spcPct val="100000"/>
              </a:lnSpc>
              <a:spcBef>
                <a:spcPct val="20000"/>
              </a:spcBef>
              <a:buClr>
                <a:srgbClr val="000000"/>
              </a:buClr>
              <a:buFont typeface="Times New Roman" panose="02020603050405020304" pitchFamily="18" charset="0"/>
              <a:buChar char="•"/>
            </a:pPr>
            <a:endParaRPr lang="en-US" altLang="en-US" sz="2900" dirty="0">
              <a:solidFill>
                <a:srgbClr val="000000"/>
              </a:solidFill>
            </a:endParaRPr>
          </a:p>
        </p:txBody>
      </p:sp>
      <p:pic>
        <p:nvPicPr>
          <p:cNvPr id="10" name="Picture 4">
            <a:extLst>
              <a:ext uri="{FF2B5EF4-FFF2-40B4-BE49-F238E27FC236}">
                <a16:creationId xmlns:a16="http://schemas.microsoft.com/office/drawing/2014/main" id="{D1B28CC7-8865-47B6-8F63-A8B8B101EF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648" y="4005064"/>
            <a:ext cx="6123464" cy="20374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94354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Web Services</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27</a:t>
            </a:fld>
            <a:endParaRPr lang="en-GB" altLang="en-US" dirty="0"/>
          </a:p>
        </p:txBody>
      </p:sp>
      <p:sp>
        <p:nvSpPr>
          <p:cNvPr id="11" name="Content Placeholder 2">
            <a:extLst>
              <a:ext uri="{FF2B5EF4-FFF2-40B4-BE49-F238E27FC236}">
                <a16:creationId xmlns:a16="http://schemas.microsoft.com/office/drawing/2014/main" id="{BAFD2781-0EDE-4C38-B88E-860A49EDDC73}"/>
              </a:ext>
            </a:extLst>
          </p:cNvPr>
          <p:cNvSpPr>
            <a:spLocks noGrp="1" noChangeArrowheads="1"/>
          </p:cNvSpPr>
          <p:nvPr>
            <p:ph idx="1"/>
          </p:nvPr>
        </p:nvSpPr>
        <p:spPr>
          <a:xfrm>
            <a:off x="198043" y="908608"/>
            <a:ext cx="8766445" cy="5040783"/>
          </a:xfrm>
        </p:spPr>
        <p:txBody>
          <a:bodyPr/>
          <a:lstStyle/>
          <a:p>
            <a:pPr eaLnBrk="1" hangingPunct="1"/>
            <a:r>
              <a:rPr lang="en-US" altLang="en-US" sz="3200" dirty="0"/>
              <a:t>Web Services are platform-independent and language-independent, since they use standard XML languages</a:t>
            </a:r>
          </a:p>
          <a:p>
            <a:pPr eaLnBrk="1" hangingPunct="1"/>
            <a:r>
              <a:rPr lang="en-US" altLang="en-US" sz="3200" dirty="0"/>
              <a:t>Most Web Services use HTTP for transmitting messages (such as the service request and response)</a:t>
            </a:r>
          </a:p>
          <a:p>
            <a:pPr eaLnBrk="1" hangingPunct="1"/>
            <a:r>
              <a:rPr lang="en-US" altLang="en-US" sz="3200" dirty="0"/>
              <a:t>Style of Use</a:t>
            </a:r>
          </a:p>
          <a:p>
            <a:pPr lvl="1" eaLnBrk="1" hangingPunct="1"/>
            <a:r>
              <a:rPr lang="en-US" altLang="en-US" sz="2900" dirty="0"/>
              <a:t>RPC – </a:t>
            </a:r>
            <a:r>
              <a:rPr lang="en-US" altLang="en-US" sz="2900" dirty="0" err="1"/>
              <a:t>Corba</a:t>
            </a:r>
            <a:r>
              <a:rPr lang="en-US" altLang="en-US" sz="2900" dirty="0"/>
              <a:t>, Remote Method Invocation (RMI)</a:t>
            </a:r>
          </a:p>
          <a:p>
            <a:pPr lvl="1" eaLnBrk="1" hangingPunct="1"/>
            <a:r>
              <a:rPr lang="en-US" altLang="en-US" sz="2900" dirty="0"/>
              <a:t>SOAP – Simple Object Access Protocol (XML based)</a:t>
            </a:r>
          </a:p>
          <a:p>
            <a:pPr lvl="1" eaLnBrk="1" hangingPunct="1"/>
            <a:r>
              <a:rPr lang="en-US" altLang="en-US" sz="2900" b="1" dirty="0"/>
              <a:t>REST - Representational State Transfer (XML or more commonly JSON)</a:t>
            </a:r>
          </a:p>
          <a:p>
            <a:pPr marL="0" indent="0" eaLnBrk="1" hangingPunct="1">
              <a:buNone/>
            </a:pPr>
            <a:endParaRPr lang="en-US" altLang="en-US" sz="2800" dirty="0"/>
          </a:p>
        </p:txBody>
      </p:sp>
    </p:spTree>
    <p:extLst>
      <p:ext uri="{BB962C8B-B14F-4D97-AF65-F5344CB8AC3E}">
        <p14:creationId xmlns:p14="http://schemas.microsoft.com/office/powerpoint/2010/main" val="7171730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CRUD, HTTP, SQL Mappings</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28</a:t>
            </a:fld>
            <a:endParaRPr lang="en-GB" altLang="en-US" dirty="0"/>
          </a:p>
        </p:txBody>
      </p:sp>
      <p:graphicFrame>
        <p:nvGraphicFramePr>
          <p:cNvPr id="8" name="Table 8">
            <a:extLst>
              <a:ext uri="{FF2B5EF4-FFF2-40B4-BE49-F238E27FC236}">
                <a16:creationId xmlns:a16="http://schemas.microsoft.com/office/drawing/2014/main" id="{CD317CF2-A2AC-487A-A049-54A1E03CD936}"/>
              </a:ext>
            </a:extLst>
          </p:cNvPr>
          <p:cNvGraphicFramePr>
            <a:graphicFrameLocks noGrp="1"/>
          </p:cNvGraphicFramePr>
          <p:nvPr>
            <p:extLst>
              <p:ext uri="{D42A27DB-BD31-4B8C-83A1-F6EECF244321}">
                <p14:modId xmlns:p14="http://schemas.microsoft.com/office/powerpoint/2010/main" val="2635151956"/>
              </p:ext>
            </p:extLst>
          </p:nvPr>
        </p:nvGraphicFramePr>
        <p:xfrm>
          <a:off x="251520" y="1015901"/>
          <a:ext cx="8496945" cy="4213300"/>
        </p:xfrm>
        <a:graphic>
          <a:graphicData uri="http://schemas.openxmlformats.org/drawingml/2006/table">
            <a:tbl>
              <a:tblPr firstRow="1" bandRow="1">
                <a:tableStyleId>{7DF18680-E054-41AD-8BC1-D1AEF772440D}</a:tableStyleId>
              </a:tblPr>
              <a:tblGrid>
                <a:gridCol w="2832315">
                  <a:extLst>
                    <a:ext uri="{9D8B030D-6E8A-4147-A177-3AD203B41FA5}">
                      <a16:colId xmlns:a16="http://schemas.microsoft.com/office/drawing/2014/main" val="2056318150"/>
                    </a:ext>
                  </a:extLst>
                </a:gridCol>
                <a:gridCol w="2832315">
                  <a:extLst>
                    <a:ext uri="{9D8B030D-6E8A-4147-A177-3AD203B41FA5}">
                      <a16:colId xmlns:a16="http://schemas.microsoft.com/office/drawing/2014/main" val="3388638421"/>
                    </a:ext>
                  </a:extLst>
                </a:gridCol>
                <a:gridCol w="2832315">
                  <a:extLst>
                    <a:ext uri="{9D8B030D-6E8A-4147-A177-3AD203B41FA5}">
                      <a16:colId xmlns:a16="http://schemas.microsoft.com/office/drawing/2014/main" val="3379292230"/>
                    </a:ext>
                  </a:extLst>
                </a:gridCol>
              </a:tblGrid>
              <a:tr h="842660">
                <a:tc>
                  <a:txBody>
                    <a:bodyPr/>
                    <a:lstStyle/>
                    <a:p>
                      <a:pPr algn="ctr"/>
                      <a:r>
                        <a:rPr lang="en-IE" sz="3200" dirty="0"/>
                        <a:t>Action</a:t>
                      </a:r>
                    </a:p>
                  </a:txBody>
                  <a:tcPr anchor="ctr"/>
                </a:tc>
                <a:tc>
                  <a:txBody>
                    <a:bodyPr/>
                    <a:lstStyle/>
                    <a:p>
                      <a:pPr algn="ctr"/>
                      <a:r>
                        <a:rPr lang="en-IE" sz="3200" dirty="0"/>
                        <a:t>SQL</a:t>
                      </a:r>
                    </a:p>
                  </a:txBody>
                  <a:tcPr anchor="ctr"/>
                </a:tc>
                <a:tc>
                  <a:txBody>
                    <a:bodyPr/>
                    <a:lstStyle/>
                    <a:p>
                      <a:pPr algn="ctr"/>
                      <a:r>
                        <a:rPr lang="en-IE" sz="3200" dirty="0"/>
                        <a:t>HTTP Method</a:t>
                      </a:r>
                    </a:p>
                  </a:txBody>
                  <a:tcPr anchor="ctr"/>
                </a:tc>
                <a:extLst>
                  <a:ext uri="{0D108BD9-81ED-4DB2-BD59-A6C34878D82A}">
                    <a16:rowId xmlns:a16="http://schemas.microsoft.com/office/drawing/2014/main" val="1569266498"/>
                  </a:ext>
                </a:extLst>
              </a:tr>
              <a:tr h="842660">
                <a:tc>
                  <a:txBody>
                    <a:bodyPr/>
                    <a:lstStyle/>
                    <a:p>
                      <a:pPr algn="ctr"/>
                      <a:r>
                        <a:rPr lang="en-IE" sz="3200" dirty="0"/>
                        <a:t>Create</a:t>
                      </a:r>
                    </a:p>
                  </a:txBody>
                  <a:tcPr anchor="ctr"/>
                </a:tc>
                <a:tc>
                  <a:txBody>
                    <a:bodyPr/>
                    <a:lstStyle/>
                    <a:p>
                      <a:pPr algn="ctr"/>
                      <a:r>
                        <a:rPr lang="en-IE" sz="3200" dirty="0"/>
                        <a:t>Insert</a:t>
                      </a:r>
                    </a:p>
                  </a:txBody>
                  <a:tcPr anchor="ctr"/>
                </a:tc>
                <a:tc>
                  <a:txBody>
                    <a:bodyPr/>
                    <a:lstStyle/>
                    <a:p>
                      <a:pPr algn="ctr"/>
                      <a:r>
                        <a:rPr lang="en-IE" sz="3200" dirty="0"/>
                        <a:t>Post</a:t>
                      </a:r>
                    </a:p>
                  </a:txBody>
                  <a:tcPr anchor="ctr"/>
                </a:tc>
                <a:extLst>
                  <a:ext uri="{0D108BD9-81ED-4DB2-BD59-A6C34878D82A}">
                    <a16:rowId xmlns:a16="http://schemas.microsoft.com/office/drawing/2014/main" val="2621703050"/>
                  </a:ext>
                </a:extLst>
              </a:tr>
              <a:tr h="842660">
                <a:tc>
                  <a:txBody>
                    <a:bodyPr/>
                    <a:lstStyle/>
                    <a:p>
                      <a:pPr algn="ctr"/>
                      <a:r>
                        <a:rPr lang="en-IE" sz="3200" dirty="0"/>
                        <a:t>Read</a:t>
                      </a:r>
                    </a:p>
                  </a:txBody>
                  <a:tcPr anchor="ctr"/>
                </a:tc>
                <a:tc>
                  <a:txBody>
                    <a:bodyPr/>
                    <a:lstStyle/>
                    <a:p>
                      <a:pPr algn="ctr"/>
                      <a:r>
                        <a:rPr lang="en-IE" sz="3200" dirty="0"/>
                        <a:t>Select</a:t>
                      </a:r>
                    </a:p>
                  </a:txBody>
                  <a:tcPr anchor="ctr"/>
                </a:tc>
                <a:tc>
                  <a:txBody>
                    <a:bodyPr/>
                    <a:lstStyle/>
                    <a:p>
                      <a:pPr algn="ctr"/>
                      <a:r>
                        <a:rPr lang="en-IE" sz="3200" dirty="0"/>
                        <a:t>Get</a:t>
                      </a:r>
                    </a:p>
                  </a:txBody>
                  <a:tcPr anchor="ctr"/>
                </a:tc>
                <a:extLst>
                  <a:ext uri="{0D108BD9-81ED-4DB2-BD59-A6C34878D82A}">
                    <a16:rowId xmlns:a16="http://schemas.microsoft.com/office/drawing/2014/main" val="253753948"/>
                  </a:ext>
                </a:extLst>
              </a:tr>
              <a:tr h="842660">
                <a:tc>
                  <a:txBody>
                    <a:bodyPr/>
                    <a:lstStyle/>
                    <a:p>
                      <a:pPr algn="ctr"/>
                      <a:r>
                        <a:rPr lang="en-IE" sz="3200" dirty="0"/>
                        <a:t>Update</a:t>
                      </a:r>
                    </a:p>
                  </a:txBody>
                  <a:tcPr anchor="ctr"/>
                </a:tc>
                <a:tc>
                  <a:txBody>
                    <a:bodyPr/>
                    <a:lstStyle/>
                    <a:p>
                      <a:pPr algn="ctr"/>
                      <a:r>
                        <a:rPr lang="en-IE" sz="3200" dirty="0"/>
                        <a:t>Update</a:t>
                      </a:r>
                    </a:p>
                  </a:txBody>
                  <a:tcPr anchor="ctr"/>
                </a:tc>
                <a:tc>
                  <a:txBody>
                    <a:bodyPr/>
                    <a:lstStyle/>
                    <a:p>
                      <a:pPr algn="ctr"/>
                      <a:r>
                        <a:rPr lang="en-IE" sz="3200" dirty="0"/>
                        <a:t>Put</a:t>
                      </a:r>
                    </a:p>
                  </a:txBody>
                  <a:tcPr anchor="ctr"/>
                </a:tc>
                <a:extLst>
                  <a:ext uri="{0D108BD9-81ED-4DB2-BD59-A6C34878D82A}">
                    <a16:rowId xmlns:a16="http://schemas.microsoft.com/office/drawing/2014/main" val="2124107181"/>
                  </a:ext>
                </a:extLst>
              </a:tr>
              <a:tr h="842660">
                <a:tc>
                  <a:txBody>
                    <a:bodyPr/>
                    <a:lstStyle/>
                    <a:p>
                      <a:pPr algn="ctr"/>
                      <a:r>
                        <a:rPr lang="en-IE" sz="3200" dirty="0"/>
                        <a:t>Delete</a:t>
                      </a:r>
                    </a:p>
                  </a:txBody>
                  <a:tcPr anchor="ctr"/>
                </a:tc>
                <a:tc>
                  <a:txBody>
                    <a:bodyPr/>
                    <a:lstStyle/>
                    <a:p>
                      <a:pPr algn="ctr"/>
                      <a:r>
                        <a:rPr lang="en-IE" sz="3200" dirty="0"/>
                        <a:t>Delete</a:t>
                      </a:r>
                    </a:p>
                  </a:txBody>
                  <a:tcPr anchor="ctr"/>
                </a:tc>
                <a:tc>
                  <a:txBody>
                    <a:bodyPr/>
                    <a:lstStyle/>
                    <a:p>
                      <a:pPr algn="ctr"/>
                      <a:r>
                        <a:rPr lang="en-IE" sz="3200" dirty="0"/>
                        <a:t>Delete</a:t>
                      </a:r>
                    </a:p>
                  </a:txBody>
                  <a:tcPr anchor="ctr"/>
                </a:tc>
                <a:extLst>
                  <a:ext uri="{0D108BD9-81ED-4DB2-BD59-A6C34878D82A}">
                    <a16:rowId xmlns:a16="http://schemas.microsoft.com/office/drawing/2014/main" val="3839535212"/>
                  </a:ext>
                </a:extLst>
              </a:tr>
            </a:tbl>
          </a:graphicData>
        </a:graphic>
      </p:graphicFrame>
    </p:spTree>
    <p:extLst>
      <p:ext uri="{BB962C8B-B14F-4D97-AF65-F5344CB8AC3E}">
        <p14:creationId xmlns:p14="http://schemas.microsoft.com/office/powerpoint/2010/main" val="40910683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REST URI Examples</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29</a:t>
            </a:fld>
            <a:endParaRPr lang="en-GB" altLang="en-US" dirty="0"/>
          </a:p>
        </p:txBody>
      </p:sp>
      <p:graphicFrame>
        <p:nvGraphicFramePr>
          <p:cNvPr id="8" name="Table 8">
            <a:extLst>
              <a:ext uri="{FF2B5EF4-FFF2-40B4-BE49-F238E27FC236}">
                <a16:creationId xmlns:a16="http://schemas.microsoft.com/office/drawing/2014/main" id="{CD317CF2-A2AC-487A-A049-54A1E03CD936}"/>
              </a:ext>
            </a:extLst>
          </p:cNvPr>
          <p:cNvGraphicFramePr>
            <a:graphicFrameLocks noGrp="1"/>
          </p:cNvGraphicFramePr>
          <p:nvPr>
            <p:extLst>
              <p:ext uri="{D42A27DB-BD31-4B8C-83A1-F6EECF244321}">
                <p14:modId xmlns:p14="http://schemas.microsoft.com/office/powerpoint/2010/main" val="2181307618"/>
              </p:ext>
            </p:extLst>
          </p:nvPr>
        </p:nvGraphicFramePr>
        <p:xfrm>
          <a:off x="251520" y="1015901"/>
          <a:ext cx="8496945" cy="4213300"/>
        </p:xfrm>
        <a:graphic>
          <a:graphicData uri="http://schemas.openxmlformats.org/drawingml/2006/table">
            <a:tbl>
              <a:tblPr firstRow="1" bandRow="1">
                <a:tableStyleId>{BDBED569-4797-4DF1-A0F4-6AAB3CD982D8}</a:tableStyleId>
              </a:tblPr>
              <a:tblGrid>
                <a:gridCol w="1296144">
                  <a:extLst>
                    <a:ext uri="{9D8B030D-6E8A-4147-A177-3AD203B41FA5}">
                      <a16:colId xmlns:a16="http://schemas.microsoft.com/office/drawing/2014/main" val="2056318150"/>
                    </a:ext>
                  </a:extLst>
                </a:gridCol>
                <a:gridCol w="4824536">
                  <a:extLst>
                    <a:ext uri="{9D8B030D-6E8A-4147-A177-3AD203B41FA5}">
                      <a16:colId xmlns:a16="http://schemas.microsoft.com/office/drawing/2014/main" val="3388638421"/>
                    </a:ext>
                  </a:extLst>
                </a:gridCol>
                <a:gridCol w="2376265">
                  <a:extLst>
                    <a:ext uri="{9D8B030D-6E8A-4147-A177-3AD203B41FA5}">
                      <a16:colId xmlns:a16="http://schemas.microsoft.com/office/drawing/2014/main" val="3379292230"/>
                    </a:ext>
                  </a:extLst>
                </a:gridCol>
              </a:tblGrid>
              <a:tr h="842660">
                <a:tc>
                  <a:txBody>
                    <a:bodyPr/>
                    <a:lstStyle/>
                    <a:p>
                      <a:pPr algn="ctr"/>
                      <a:r>
                        <a:rPr lang="en-IE" sz="1800" b="0" dirty="0"/>
                        <a:t>GET</a:t>
                      </a:r>
                    </a:p>
                  </a:txBody>
                  <a:tcPr anchor="ctr"/>
                </a:tc>
                <a:tc>
                  <a:txBody>
                    <a:bodyPr/>
                    <a:lstStyle/>
                    <a:p>
                      <a:pPr algn="l"/>
                      <a:r>
                        <a:rPr lang="en-IE" sz="1800" b="0" dirty="0"/>
                        <a:t>http://www.example.com/v1/employees</a:t>
                      </a:r>
                    </a:p>
                  </a:txBody>
                  <a:tcPr anchor="ctr"/>
                </a:tc>
                <a:tc>
                  <a:txBody>
                    <a:bodyPr/>
                    <a:lstStyle/>
                    <a:p>
                      <a:pPr algn="ctr"/>
                      <a:r>
                        <a:rPr lang="en-IE" sz="1800" b="0" dirty="0"/>
                        <a:t>Get all Employees</a:t>
                      </a:r>
                    </a:p>
                  </a:txBody>
                  <a:tcPr anchor="ctr"/>
                </a:tc>
                <a:extLst>
                  <a:ext uri="{0D108BD9-81ED-4DB2-BD59-A6C34878D82A}">
                    <a16:rowId xmlns:a16="http://schemas.microsoft.com/office/drawing/2014/main" val="1569266498"/>
                  </a:ext>
                </a:extLst>
              </a:tr>
              <a:tr h="842660">
                <a:tc>
                  <a:txBody>
                    <a:bodyPr/>
                    <a:lstStyle/>
                    <a:p>
                      <a:pPr algn="ctr"/>
                      <a:r>
                        <a:rPr lang="en-IE" sz="1800" dirty="0"/>
                        <a:t>GET</a:t>
                      </a: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E" sz="1800" b="0" dirty="0"/>
                        <a:t>http://www.example.com/v1/employees/1824</a:t>
                      </a:r>
                    </a:p>
                  </a:txBody>
                  <a:tcPr anchor="ctr"/>
                </a:tc>
                <a:tc>
                  <a:txBody>
                    <a:bodyPr/>
                    <a:lstStyle/>
                    <a:p>
                      <a:pPr algn="ctr"/>
                      <a:r>
                        <a:rPr lang="en-IE" sz="1800" dirty="0"/>
                        <a:t>Get Employee with id 1824</a:t>
                      </a:r>
                    </a:p>
                  </a:txBody>
                  <a:tcPr anchor="ctr"/>
                </a:tc>
                <a:extLst>
                  <a:ext uri="{0D108BD9-81ED-4DB2-BD59-A6C34878D82A}">
                    <a16:rowId xmlns:a16="http://schemas.microsoft.com/office/drawing/2014/main" val="2621703050"/>
                  </a:ext>
                </a:extLst>
              </a:tr>
              <a:tr h="842660">
                <a:tc>
                  <a:txBody>
                    <a:bodyPr/>
                    <a:lstStyle/>
                    <a:p>
                      <a:pPr algn="ctr"/>
                      <a:r>
                        <a:rPr lang="en-IE" sz="1800" dirty="0"/>
                        <a:t>POST</a:t>
                      </a: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E" sz="1800" b="0" dirty="0"/>
                        <a:t>http://www.example.com/v1/employees</a:t>
                      </a:r>
                    </a:p>
                  </a:txBody>
                  <a:tcPr anchor="ctr"/>
                </a:tc>
                <a:tc>
                  <a:txBody>
                    <a:bodyPr/>
                    <a:lstStyle/>
                    <a:p>
                      <a:pPr algn="ctr"/>
                      <a:r>
                        <a:rPr lang="en-IE" sz="1800" dirty="0"/>
                        <a:t>Create employee from data in HTTP Body</a:t>
                      </a:r>
                    </a:p>
                  </a:txBody>
                  <a:tcPr anchor="ctr"/>
                </a:tc>
                <a:extLst>
                  <a:ext uri="{0D108BD9-81ED-4DB2-BD59-A6C34878D82A}">
                    <a16:rowId xmlns:a16="http://schemas.microsoft.com/office/drawing/2014/main" val="253753948"/>
                  </a:ext>
                </a:extLst>
              </a:tr>
              <a:tr h="842660">
                <a:tc>
                  <a:txBody>
                    <a:bodyPr/>
                    <a:lstStyle/>
                    <a:p>
                      <a:pPr algn="ctr"/>
                      <a:r>
                        <a:rPr lang="en-IE" sz="1800" dirty="0"/>
                        <a:t>PUT</a:t>
                      </a: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E" sz="1800" b="0" dirty="0"/>
                        <a:t>http://www.example.com/v1/employees/1513</a:t>
                      </a:r>
                    </a:p>
                  </a:txBody>
                  <a:tcPr anchor="ctr"/>
                </a:tc>
                <a:tc>
                  <a:txBody>
                    <a:bodyPr/>
                    <a:lstStyle/>
                    <a:p>
                      <a:pPr algn="ctr"/>
                      <a:r>
                        <a:rPr lang="en-IE" sz="1800" dirty="0"/>
                        <a:t>Update Employee 1513 data in HTTP Body</a:t>
                      </a:r>
                    </a:p>
                  </a:txBody>
                  <a:tcPr anchor="ctr"/>
                </a:tc>
                <a:extLst>
                  <a:ext uri="{0D108BD9-81ED-4DB2-BD59-A6C34878D82A}">
                    <a16:rowId xmlns:a16="http://schemas.microsoft.com/office/drawing/2014/main" val="2124107181"/>
                  </a:ext>
                </a:extLst>
              </a:tr>
              <a:tr h="842660">
                <a:tc>
                  <a:txBody>
                    <a:bodyPr/>
                    <a:lstStyle/>
                    <a:p>
                      <a:pPr algn="ctr"/>
                      <a:r>
                        <a:rPr lang="en-IE" sz="1800" dirty="0"/>
                        <a:t>DELETE</a:t>
                      </a:r>
                    </a:p>
                  </a:txBody>
                  <a:tcPr anchor="ct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E" sz="1800" b="0" dirty="0"/>
                        <a:t>http://www.example.com/v1/employees/1222</a:t>
                      </a:r>
                    </a:p>
                  </a:txBody>
                  <a:tcPr anchor="ctr"/>
                </a:tc>
                <a:tc>
                  <a:txBody>
                    <a:bodyPr/>
                    <a:lstStyle/>
                    <a:p>
                      <a:pPr algn="ctr"/>
                      <a:r>
                        <a:rPr lang="en-IE" sz="1800" dirty="0"/>
                        <a:t>Remove Employee 1222</a:t>
                      </a:r>
                    </a:p>
                  </a:txBody>
                  <a:tcPr anchor="ctr"/>
                </a:tc>
                <a:extLst>
                  <a:ext uri="{0D108BD9-81ED-4DB2-BD59-A6C34878D82A}">
                    <a16:rowId xmlns:a16="http://schemas.microsoft.com/office/drawing/2014/main" val="3839535212"/>
                  </a:ext>
                </a:extLst>
              </a:tr>
            </a:tbl>
          </a:graphicData>
        </a:graphic>
      </p:graphicFrame>
    </p:spTree>
    <p:extLst>
      <p:ext uri="{BB962C8B-B14F-4D97-AF65-F5344CB8AC3E}">
        <p14:creationId xmlns:p14="http://schemas.microsoft.com/office/powerpoint/2010/main" val="26218004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REST – Identifying Resources</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30</a:t>
            </a:fld>
            <a:endParaRPr lang="en-GB" altLang="en-US" dirty="0"/>
          </a:p>
        </p:txBody>
      </p:sp>
      <p:sp>
        <p:nvSpPr>
          <p:cNvPr id="9" name="Content Placeholder 2">
            <a:extLst>
              <a:ext uri="{FF2B5EF4-FFF2-40B4-BE49-F238E27FC236}">
                <a16:creationId xmlns:a16="http://schemas.microsoft.com/office/drawing/2014/main" id="{371F201E-E4D4-4E2D-82E8-06C1FB4FC972}"/>
              </a:ext>
            </a:extLst>
          </p:cNvPr>
          <p:cNvSpPr>
            <a:spLocks noGrp="1" noChangeArrowheads="1"/>
          </p:cNvSpPr>
          <p:nvPr>
            <p:ph idx="1"/>
          </p:nvPr>
        </p:nvSpPr>
        <p:spPr>
          <a:xfrm>
            <a:off x="198043" y="908608"/>
            <a:ext cx="8766445" cy="5040783"/>
          </a:xfrm>
        </p:spPr>
        <p:txBody>
          <a:bodyPr/>
          <a:lstStyle/>
          <a:p>
            <a:pPr eaLnBrk="1" hangingPunct="1"/>
            <a:r>
              <a:rPr lang="en-US" altLang="en-US" sz="3200" dirty="0"/>
              <a:t>Any THING – person, concept, artifact</a:t>
            </a:r>
          </a:p>
          <a:p>
            <a:pPr eaLnBrk="1" hangingPunct="1"/>
            <a:r>
              <a:rPr lang="en-US" altLang="en-US" sz="3200" dirty="0"/>
              <a:t>Anything you can point to</a:t>
            </a:r>
          </a:p>
          <a:p>
            <a:pPr eaLnBrk="1" hangingPunct="1"/>
            <a:r>
              <a:rPr lang="en-US" altLang="en-US" sz="3200" dirty="0"/>
              <a:t>Explicit Request and Response – No State</a:t>
            </a:r>
          </a:p>
          <a:p>
            <a:pPr eaLnBrk="1" hangingPunct="1"/>
            <a:r>
              <a:rPr lang="en-US" altLang="en-US" sz="3200" dirty="0"/>
              <a:t>Use nouns and NOT the verbs:</a:t>
            </a:r>
          </a:p>
          <a:p>
            <a:pPr lvl="1" eaLnBrk="1" hangingPunct="1"/>
            <a:r>
              <a:rPr lang="en-US" sz="2400" dirty="0"/>
              <a:t>Common mistake. Developers forget that we have HTTP methods to describe the APIs, instead they end up using verbs in the API URLs. </a:t>
            </a:r>
          </a:p>
          <a:p>
            <a:pPr lvl="1" eaLnBrk="1" hangingPunct="1"/>
            <a:r>
              <a:rPr lang="en-US" sz="2400" dirty="0"/>
              <a:t>For instance, API to get all products should be:</a:t>
            </a:r>
          </a:p>
          <a:p>
            <a:pPr lvl="1" eaLnBrk="1" hangingPunct="1"/>
            <a:endParaRPr lang="en-US" altLang="en-US" sz="2400" dirty="0"/>
          </a:p>
          <a:p>
            <a:pPr lvl="1" eaLnBrk="1" hangingPunct="1"/>
            <a:endParaRPr lang="en-US" altLang="en-US" sz="2400" dirty="0"/>
          </a:p>
          <a:p>
            <a:pPr marL="342900" lvl="1" indent="0" eaLnBrk="1" hangingPunct="1">
              <a:buNone/>
            </a:pPr>
            <a:r>
              <a:rPr lang="en-US" altLang="en-US" sz="2400" dirty="0"/>
              <a:t>	not</a:t>
            </a:r>
            <a:endParaRPr lang="en-US" altLang="en-US" sz="3600" dirty="0"/>
          </a:p>
          <a:p>
            <a:pPr marL="0" indent="0" eaLnBrk="1" hangingPunct="1">
              <a:buNone/>
            </a:pPr>
            <a:endParaRPr lang="en-US" altLang="en-US" sz="2800" dirty="0"/>
          </a:p>
        </p:txBody>
      </p:sp>
      <p:sp>
        <p:nvSpPr>
          <p:cNvPr id="7" name="Rectangle 6">
            <a:extLst>
              <a:ext uri="{FF2B5EF4-FFF2-40B4-BE49-F238E27FC236}">
                <a16:creationId xmlns:a16="http://schemas.microsoft.com/office/drawing/2014/main" id="{D117C6D9-EFBF-4619-8E89-E4558533F2C5}"/>
              </a:ext>
            </a:extLst>
          </p:cNvPr>
          <p:cNvSpPr/>
          <p:nvPr/>
        </p:nvSpPr>
        <p:spPr>
          <a:xfrm>
            <a:off x="755576" y="4653136"/>
            <a:ext cx="5992713" cy="461665"/>
          </a:xfrm>
          <a:prstGeom prst="rect">
            <a:avLst/>
          </a:prstGeom>
        </p:spPr>
        <p:txBody>
          <a:bodyPr wrap="square">
            <a:spAutoFit/>
          </a:bodyPr>
          <a:lstStyle/>
          <a:p>
            <a:r>
              <a:rPr lang="en-IE" dirty="0">
                <a:solidFill>
                  <a:srgbClr val="0070C0"/>
                </a:solidFill>
              </a:rPr>
              <a:t>http://www.example.com/v1/employees</a:t>
            </a:r>
          </a:p>
        </p:txBody>
      </p:sp>
      <p:sp>
        <p:nvSpPr>
          <p:cNvPr id="10" name="Rectangle 9">
            <a:extLst>
              <a:ext uri="{FF2B5EF4-FFF2-40B4-BE49-F238E27FC236}">
                <a16:creationId xmlns:a16="http://schemas.microsoft.com/office/drawing/2014/main" id="{BFFFC502-AAB8-46AF-88B3-906EA44758E9}"/>
              </a:ext>
            </a:extLst>
          </p:cNvPr>
          <p:cNvSpPr/>
          <p:nvPr/>
        </p:nvSpPr>
        <p:spPr>
          <a:xfrm>
            <a:off x="755575" y="5656452"/>
            <a:ext cx="6480721" cy="461665"/>
          </a:xfrm>
          <a:prstGeom prst="rect">
            <a:avLst/>
          </a:prstGeom>
        </p:spPr>
        <p:txBody>
          <a:bodyPr wrap="square">
            <a:spAutoFit/>
          </a:bodyPr>
          <a:lstStyle/>
          <a:p>
            <a:r>
              <a:rPr lang="en-IE" dirty="0">
                <a:solidFill>
                  <a:srgbClr val="0070C0"/>
                </a:solidFill>
              </a:rPr>
              <a:t>http://www.example.com/v1/getAllEmployees</a:t>
            </a:r>
          </a:p>
        </p:txBody>
      </p:sp>
      <p:sp>
        <p:nvSpPr>
          <p:cNvPr id="11" name="Arrow: Right 12">
            <a:extLst>
              <a:ext uri="{FF2B5EF4-FFF2-40B4-BE49-F238E27FC236}">
                <a16:creationId xmlns:a16="http://schemas.microsoft.com/office/drawing/2014/main" id="{ECF6FE42-C658-4046-8D0E-270C7D456A6F}"/>
              </a:ext>
            </a:extLst>
          </p:cNvPr>
          <p:cNvSpPr/>
          <p:nvPr/>
        </p:nvSpPr>
        <p:spPr>
          <a:xfrm rot="10800000">
            <a:off x="7135631" y="4741398"/>
            <a:ext cx="377399" cy="365124"/>
          </a:xfrm>
          <a:prstGeom prst="rightArrow">
            <a:avLst>
              <a:gd name="adj1" fmla="val 43495"/>
              <a:gd name="adj2" fmla="val 50000"/>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IE"/>
          </a:p>
        </p:txBody>
      </p:sp>
      <p:sp>
        <p:nvSpPr>
          <p:cNvPr id="12" name="TextBox 11">
            <a:extLst>
              <a:ext uri="{FF2B5EF4-FFF2-40B4-BE49-F238E27FC236}">
                <a16:creationId xmlns:a16="http://schemas.microsoft.com/office/drawing/2014/main" id="{B5C914AB-DD3D-4E4D-84A4-9C7131A0D4B2}"/>
              </a:ext>
            </a:extLst>
          </p:cNvPr>
          <p:cNvSpPr txBox="1"/>
          <p:nvPr/>
        </p:nvSpPr>
        <p:spPr>
          <a:xfrm>
            <a:off x="7520364" y="4508462"/>
            <a:ext cx="1453415" cy="830997"/>
          </a:xfrm>
          <a:prstGeom prst="rect">
            <a:avLst/>
          </a:prstGeom>
          <a:noFill/>
        </p:spPr>
        <p:txBody>
          <a:bodyPr wrap="square">
            <a:spAutoFit/>
          </a:bodyPr>
          <a:lstStyle/>
          <a:p>
            <a:pPr algn="ctr">
              <a:defRPr/>
            </a:pPr>
            <a:r>
              <a:rPr lang="en-GB" dirty="0">
                <a:solidFill>
                  <a:schemeClr val="accent6">
                    <a:lumMod val="75000"/>
                  </a:schemeClr>
                </a:solidFill>
                <a:latin typeface="+mn-lt"/>
              </a:rPr>
              <a:t>GOOD REST API</a:t>
            </a:r>
          </a:p>
        </p:txBody>
      </p:sp>
      <p:sp>
        <p:nvSpPr>
          <p:cNvPr id="14" name="TextBox 13">
            <a:extLst>
              <a:ext uri="{FF2B5EF4-FFF2-40B4-BE49-F238E27FC236}">
                <a16:creationId xmlns:a16="http://schemas.microsoft.com/office/drawing/2014/main" id="{365FE480-AD8F-47BF-9CC4-5E73FD7F612D}"/>
              </a:ext>
            </a:extLst>
          </p:cNvPr>
          <p:cNvSpPr txBox="1"/>
          <p:nvPr/>
        </p:nvSpPr>
        <p:spPr>
          <a:xfrm>
            <a:off x="7511073" y="5423360"/>
            <a:ext cx="1453415" cy="830997"/>
          </a:xfrm>
          <a:prstGeom prst="rect">
            <a:avLst/>
          </a:prstGeom>
          <a:noFill/>
        </p:spPr>
        <p:txBody>
          <a:bodyPr wrap="square">
            <a:spAutoFit/>
          </a:bodyPr>
          <a:lstStyle/>
          <a:p>
            <a:pPr algn="ctr">
              <a:defRPr/>
            </a:pPr>
            <a:r>
              <a:rPr lang="en-GB" dirty="0">
                <a:solidFill>
                  <a:srgbClr val="C00000"/>
                </a:solidFill>
                <a:latin typeface="+mn-lt"/>
              </a:rPr>
              <a:t>BAD </a:t>
            </a:r>
          </a:p>
          <a:p>
            <a:pPr algn="ctr">
              <a:defRPr/>
            </a:pPr>
            <a:r>
              <a:rPr lang="en-GB" dirty="0">
                <a:solidFill>
                  <a:srgbClr val="C00000"/>
                </a:solidFill>
                <a:latin typeface="+mn-lt"/>
              </a:rPr>
              <a:t>REST API</a:t>
            </a:r>
          </a:p>
        </p:txBody>
      </p:sp>
      <p:sp>
        <p:nvSpPr>
          <p:cNvPr id="15" name="Arrow: Right 12">
            <a:extLst>
              <a:ext uri="{FF2B5EF4-FFF2-40B4-BE49-F238E27FC236}">
                <a16:creationId xmlns:a16="http://schemas.microsoft.com/office/drawing/2014/main" id="{00A1DBCD-2C62-4FF6-918A-5738EDBA86D3}"/>
              </a:ext>
            </a:extLst>
          </p:cNvPr>
          <p:cNvSpPr/>
          <p:nvPr/>
        </p:nvSpPr>
        <p:spPr>
          <a:xfrm rot="10800000">
            <a:off x="7142965" y="5749417"/>
            <a:ext cx="377399" cy="365124"/>
          </a:xfrm>
          <a:prstGeom prst="rightArrow">
            <a:avLst>
              <a:gd name="adj1" fmla="val 43495"/>
              <a:gd name="adj2" fmla="val 50000"/>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IE"/>
          </a:p>
        </p:txBody>
      </p:sp>
    </p:spTree>
    <p:extLst>
      <p:ext uri="{BB962C8B-B14F-4D97-AF65-F5344CB8AC3E}">
        <p14:creationId xmlns:p14="http://schemas.microsoft.com/office/powerpoint/2010/main" val="33900027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REST – Representations of Resources</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31</a:t>
            </a:fld>
            <a:endParaRPr lang="en-GB" altLang="en-US" dirty="0"/>
          </a:p>
        </p:txBody>
      </p:sp>
      <p:sp>
        <p:nvSpPr>
          <p:cNvPr id="9" name="Content Placeholder 2">
            <a:extLst>
              <a:ext uri="{FF2B5EF4-FFF2-40B4-BE49-F238E27FC236}">
                <a16:creationId xmlns:a16="http://schemas.microsoft.com/office/drawing/2014/main" id="{371F201E-E4D4-4E2D-82E8-06C1FB4FC972}"/>
              </a:ext>
            </a:extLst>
          </p:cNvPr>
          <p:cNvSpPr>
            <a:spLocks noGrp="1" noChangeArrowheads="1"/>
          </p:cNvSpPr>
          <p:nvPr>
            <p:ph idx="1"/>
          </p:nvPr>
        </p:nvSpPr>
        <p:spPr>
          <a:xfrm>
            <a:off x="198043" y="908608"/>
            <a:ext cx="8766445" cy="5040783"/>
          </a:xfrm>
        </p:spPr>
        <p:txBody>
          <a:bodyPr/>
          <a:lstStyle/>
          <a:p>
            <a:pPr eaLnBrk="1" hangingPunct="1"/>
            <a:r>
              <a:rPr lang="en-US" altLang="en-US" sz="3600" dirty="0"/>
              <a:t>A serializable description of a Resource</a:t>
            </a:r>
          </a:p>
          <a:p>
            <a:pPr eaLnBrk="1" hangingPunct="1"/>
            <a:r>
              <a:rPr lang="en-US" altLang="en-US" sz="3600" dirty="0"/>
              <a:t>Resources are modifiable through Representations</a:t>
            </a:r>
          </a:p>
          <a:p>
            <a:pPr eaLnBrk="1" hangingPunct="1"/>
            <a:r>
              <a:rPr lang="en-US" altLang="en-US" sz="3600" dirty="0"/>
              <a:t>Common Candidates</a:t>
            </a:r>
          </a:p>
          <a:p>
            <a:pPr lvl="1" eaLnBrk="1" hangingPunct="1"/>
            <a:r>
              <a:rPr lang="en-US" altLang="en-US" sz="3200" dirty="0"/>
              <a:t>XML – traditional (support schema validation)</a:t>
            </a:r>
          </a:p>
          <a:p>
            <a:pPr lvl="1" eaLnBrk="1" hangingPunct="1"/>
            <a:r>
              <a:rPr lang="en-US" altLang="en-US" sz="3200" dirty="0"/>
              <a:t>JSON – widely used (possible to support schema validation with additional libraries)</a:t>
            </a:r>
          </a:p>
          <a:p>
            <a:pPr lvl="1" eaLnBrk="1" hangingPunct="1"/>
            <a:r>
              <a:rPr lang="en-US" altLang="en-US" sz="3200" dirty="0"/>
              <a:t>Binary Formats (jpg, gif, mpeg etc.)</a:t>
            </a:r>
          </a:p>
          <a:p>
            <a:pPr marL="0" indent="0" eaLnBrk="1" hangingPunct="1">
              <a:buNone/>
            </a:pPr>
            <a:endParaRPr lang="en-US" altLang="en-US" sz="3200" dirty="0"/>
          </a:p>
        </p:txBody>
      </p:sp>
    </p:spTree>
    <p:extLst>
      <p:ext uri="{BB962C8B-B14F-4D97-AF65-F5344CB8AC3E}">
        <p14:creationId xmlns:p14="http://schemas.microsoft.com/office/powerpoint/2010/main" val="502496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REST – JSON</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32</a:t>
            </a:fld>
            <a:endParaRPr lang="en-GB" altLang="en-US" dirty="0"/>
          </a:p>
        </p:txBody>
      </p:sp>
      <p:sp>
        <p:nvSpPr>
          <p:cNvPr id="9" name="Content Placeholder 2">
            <a:extLst>
              <a:ext uri="{FF2B5EF4-FFF2-40B4-BE49-F238E27FC236}">
                <a16:creationId xmlns:a16="http://schemas.microsoft.com/office/drawing/2014/main" id="{371F201E-E4D4-4E2D-82E8-06C1FB4FC972}"/>
              </a:ext>
            </a:extLst>
          </p:cNvPr>
          <p:cNvSpPr>
            <a:spLocks noGrp="1" noChangeArrowheads="1"/>
          </p:cNvSpPr>
          <p:nvPr>
            <p:ph idx="1"/>
          </p:nvPr>
        </p:nvSpPr>
        <p:spPr>
          <a:xfrm>
            <a:off x="198043" y="908608"/>
            <a:ext cx="8766445" cy="5040783"/>
          </a:xfrm>
        </p:spPr>
        <p:txBody>
          <a:bodyPr/>
          <a:lstStyle/>
          <a:p>
            <a:pPr eaLnBrk="1" hangingPunct="1"/>
            <a:r>
              <a:rPr lang="en-US" altLang="en-US" sz="3600" dirty="0"/>
              <a:t>JSON provides an easy way to create and store data structures for use with JavaScript</a:t>
            </a:r>
          </a:p>
          <a:p>
            <a:pPr eaLnBrk="1" hangingPunct="1"/>
            <a:r>
              <a:rPr lang="en-US" altLang="en-US" sz="3600" dirty="0"/>
              <a:t>Data encoded with JSON can be read into a JavaScript variable which creates an object.</a:t>
            </a:r>
          </a:p>
          <a:p>
            <a:pPr eaLnBrk="1" hangingPunct="1"/>
            <a:r>
              <a:rPr lang="en-US" altLang="en-US" sz="3600" dirty="0">
                <a:hlinkClick r:id="rId4"/>
              </a:rPr>
              <a:t>www.json.org/js.htm</a:t>
            </a:r>
            <a:endParaRPr lang="en-US" altLang="en-US" sz="3600" dirty="0"/>
          </a:p>
          <a:p>
            <a:pPr eaLnBrk="1" hangingPunct="1"/>
            <a:endParaRPr lang="en-US" altLang="en-US" sz="3600" dirty="0"/>
          </a:p>
          <a:p>
            <a:pPr marL="0" indent="0" eaLnBrk="1" hangingPunct="1">
              <a:buNone/>
            </a:pPr>
            <a:endParaRPr lang="en-US" altLang="en-US" sz="3200" dirty="0"/>
          </a:p>
        </p:txBody>
      </p:sp>
    </p:spTree>
    <p:extLst>
      <p:ext uri="{BB962C8B-B14F-4D97-AF65-F5344CB8AC3E}">
        <p14:creationId xmlns:p14="http://schemas.microsoft.com/office/powerpoint/2010/main" val="24196558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REST – JSON Syntax</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33</a:t>
            </a:fld>
            <a:endParaRPr lang="en-GB" altLang="en-US" dirty="0"/>
          </a:p>
        </p:txBody>
      </p:sp>
      <p:sp>
        <p:nvSpPr>
          <p:cNvPr id="9" name="Content Placeholder 2">
            <a:extLst>
              <a:ext uri="{FF2B5EF4-FFF2-40B4-BE49-F238E27FC236}">
                <a16:creationId xmlns:a16="http://schemas.microsoft.com/office/drawing/2014/main" id="{371F201E-E4D4-4E2D-82E8-06C1FB4FC972}"/>
              </a:ext>
            </a:extLst>
          </p:cNvPr>
          <p:cNvSpPr>
            <a:spLocks noGrp="1" noChangeArrowheads="1"/>
          </p:cNvSpPr>
          <p:nvPr>
            <p:ph idx="1"/>
          </p:nvPr>
        </p:nvSpPr>
        <p:spPr>
          <a:xfrm>
            <a:off x="198043" y="908608"/>
            <a:ext cx="8766445" cy="5040783"/>
          </a:xfrm>
        </p:spPr>
        <p:txBody>
          <a:bodyPr/>
          <a:lstStyle/>
          <a:p>
            <a:r>
              <a:rPr lang="en-IE" altLang="en-US" sz="3600" dirty="0"/>
              <a:t>Data is represented in name/value pairs</a:t>
            </a:r>
          </a:p>
          <a:p>
            <a:r>
              <a:rPr lang="en-IE" altLang="en-US" sz="3600" dirty="0"/>
              <a:t>Curly braces hold objects</a:t>
            </a:r>
          </a:p>
          <a:p>
            <a:r>
              <a:rPr lang="en-IE" altLang="en-US" sz="3600" dirty="0"/>
              <a:t>Each name is followed by ':‘ (colon)</a:t>
            </a:r>
          </a:p>
          <a:p>
            <a:r>
              <a:rPr lang="en-IE" altLang="en-US" sz="3600" dirty="0"/>
              <a:t>Name/value pairs are separated by , (comma).</a:t>
            </a:r>
          </a:p>
          <a:p>
            <a:r>
              <a:rPr lang="en-IE" altLang="en-US" sz="3600" dirty="0"/>
              <a:t>Arrays are represented by []</a:t>
            </a:r>
          </a:p>
          <a:p>
            <a:pPr eaLnBrk="1" hangingPunct="1"/>
            <a:endParaRPr lang="en-US" altLang="en-US" sz="3600" dirty="0"/>
          </a:p>
          <a:p>
            <a:pPr marL="0" indent="0" eaLnBrk="1" hangingPunct="1">
              <a:buNone/>
            </a:pPr>
            <a:endParaRPr lang="en-US" altLang="en-US" sz="3200" dirty="0"/>
          </a:p>
        </p:txBody>
      </p:sp>
    </p:spTree>
    <p:extLst>
      <p:ext uri="{BB962C8B-B14F-4D97-AF65-F5344CB8AC3E}">
        <p14:creationId xmlns:p14="http://schemas.microsoft.com/office/powerpoint/2010/main" val="10206690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REST – JSON Example</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34</a:t>
            </a:fld>
            <a:endParaRPr lang="en-GB" altLang="en-US" dirty="0"/>
          </a:p>
        </p:txBody>
      </p:sp>
      <p:pic>
        <p:nvPicPr>
          <p:cNvPr id="10" name="Picture 2">
            <a:extLst>
              <a:ext uri="{FF2B5EF4-FFF2-40B4-BE49-F238E27FC236}">
                <a16:creationId xmlns:a16="http://schemas.microsoft.com/office/drawing/2014/main" id="{A060F662-887B-4D75-97AE-31361B02F5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20" y="1067594"/>
            <a:ext cx="7063596" cy="48965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sp>
        <p:nvSpPr>
          <p:cNvPr id="11" name="Arrow: Right 12">
            <a:extLst>
              <a:ext uri="{FF2B5EF4-FFF2-40B4-BE49-F238E27FC236}">
                <a16:creationId xmlns:a16="http://schemas.microsoft.com/office/drawing/2014/main" id="{6D5DCAE3-4D76-4A47-A047-FE19B886376F}"/>
              </a:ext>
            </a:extLst>
          </p:cNvPr>
          <p:cNvSpPr/>
          <p:nvPr/>
        </p:nvSpPr>
        <p:spPr>
          <a:xfrm rot="10800000">
            <a:off x="6269250" y="2636912"/>
            <a:ext cx="377399" cy="365124"/>
          </a:xfrm>
          <a:prstGeom prst="rightArrow">
            <a:avLst>
              <a:gd name="adj1" fmla="val 43495"/>
              <a:gd name="adj2" fmla="val 50000"/>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IE"/>
          </a:p>
        </p:txBody>
      </p:sp>
      <p:sp>
        <p:nvSpPr>
          <p:cNvPr id="12" name="TextBox 11">
            <a:extLst>
              <a:ext uri="{FF2B5EF4-FFF2-40B4-BE49-F238E27FC236}">
                <a16:creationId xmlns:a16="http://schemas.microsoft.com/office/drawing/2014/main" id="{469E3382-3500-452C-A16C-85C4B784482F}"/>
              </a:ext>
            </a:extLst>
          </p:cNvPr>
          <p:cNvSpPr txBox="1"/>
          <p:nvPr/>
        </p:nvSpPr>
        <p:spPr>
          <a:xfrm>
            <a:off x="6876256" y="2228671"/>
            <a:ext cx="1759134" cy="1200329"/>
          </a:xfrm>
          <a:prstGeom prst="rect">
            <a:avLst/>
          </a:prstGeom>
          <a:noFill/>
        </p:spPr>
        <p:txBody>
          <a:bodyPr wrap="square">
            <a:spAutoFit/>
          </a:bodyPr>
          <a:lstStyle/>
          <a:p>
            <a:pPr algn="ctr">
              <a:defRPr/>
            </a:pPr>
            <a:r>
              <a:rPr lang="en-GB" dirty="0">
                <a:solidFill>
                  <a:srgbClr val="0070C0"/>
                </a:solidFill>
                <a:latin typeface="+mn-lt"/>
              </a:rPr>
              <a:t>Object representing a book</a:t>
            </a:r>
          </a:p>
        </p:txBody>
      </p:sp>
      <p:sp>
        <p:nvSpPr>
          <p:cNvPr id="13" name="TextBox 12">
            <a:extLst>
              <a:ext uri="{FF2B5EF4-FFF2-40B4-BE49-F238E27FC236}">
                <a16:creationId xmlns:a16="http://schemas.microsoft.com/office/drawing/2014/main" id="{50FA66A0-E412-43E5-BE15-67780D33C35E}"/>
              </a:ext>
            </a:extLst>
          </p:cNvPr>
          <p:cNvSpPr txBox="1"/>
          <p:nvPr/>
        </p:nvSpPr>
        <p:spPr>
          <a:xfrm>
            <a:off x="3183141" y="1337419"/>
            <a:ext cx="4135398" cy="461665"/>
          </a:xfrm>
          <a:prstGeom prst="rect">
            <a:avLst/>
          </a:prstGeom>
          <a:noFill/>
        </p:spPr>
        <p:txBody>
          <a:bodyPr wrap="square">
            <a:spAutoFit/>
          </a:bodyPr>
          <a:lstStyle/>
          <a:p>
            <a:pPr algn="ctr">
              <a:defRPr/>
            </a:pPr>
            <a:r>
              <a:rPr lang="en-GB" dirty="0">
                <a:solidFill>
                  <a:srgbClr val="0070C0"/>
                </a:solidFill>
                <a:latin typeface="+mn-lt"/>
              </a:rPr>
              <a:t>Array of book objects</a:t>
            </a:r>
          </a:p>
        </p:txBody>
      </p:sp>
      <p:sp>
        <p:nvSpPr>
          <p:cNvPr id="14" name="Arrow: Right 12">
            <a:extLst>
              <a:ext uri="{FF2B5EF4-FFF2-40B4-BE49-F238E27FC236}">
                <a16:creationId xmlns:a16="http://schemas.microsoft.com/office/drawing/2014/main" id="{5B04CC12-8379-4D5C-BA2A-3C7657A010E8}"/>
              </a:ext>
            </a:extLst>
          </p:cNvPr>
          <p:cNvSpPr/>
          <p:nvPr/>
        </p:nvSpPr>
        <p:spPr>
          <a:xfrm rot="10800000">
            <a:off x="3347864" y="1385690"/>
            <a:ext cx="377399" cy="365124"/>
          </a:xfrm>
          <a:prstGeom prst="rightArrow">
            <a:avLst>
              <a:gd name="adj1" fmla="val 43495"/>
              <a:gd name="adj2" fmla="val 50000"/>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IE"/>
          </a:p>
        </p:txBody>
      </p:sp>
      <p:sp>
        <p:nvSpPr>
          <p:cNvPr id="15" name="TextBox 14">
            <a:extLst>
              <a:ext uri="{FF2B5EF4-FFF2-40B4-BE49-F238E27FC236}">
                <a16:creationId xmlns:a16="http://schemas.microsoft.com/office/drawing/2014/main" id="{174EADAA-F369-437A-8882-6794F2F2C6AC}"/>
              </a:ext>
            </a:extLst>
          </p:cNvPr>
          <p:cNvSpPr txBox="1"/>
          <p:nvPr/>
        </p:nvSpPr>
        <p:spPr>
          <a:xfrm>
            <a:off x="1763688" y="5550744"/>
            <a:ext cx="2119174" cy="461665"/>
          </a:xfrm>
          <a:prstGeom prst="rect">
            <a:avLst/>
          </a:prstGeom>
          <a:noFill/>
        </p:spPr>
        <p:txBody>
          <a:bodyPr wrap="square">
            <a:spAutoFit/>
          </a:bodyPr>
          <a:lstStyle/>
          <a:p>
            <a:pPr algn="ctr">
              <a:defRPr/>
            </a:pPr>
            <a:r>
              <a:rPr lang="en-GB" dirty="0">
                <a:solidFill>
                  <a:srgbClr val="0070C0"/>
                </a:solidFill>
                <a:latin typeface="+mn-lt"/>
              </a:rPr>
              <a:t>Root Object</a:t>
            </a:r>
          </a:p>
        </p:txBody>
      </p:sp>
      <p:sp>
        <p:nvSpPr>
          <p:cNvPr id="16" name="Arrow: Right 12">
            <a:extLst>
              <a:ext uri="{FF2B5EF4-FFF2-40B4-BE49-F238E27FC236}">
                <a16:creationId xmlns:a16="http://schemas.microsoft.com/office/drawing/2014/main" id="{BB1EC89E-8636-4DD1-AABC-F338C8666876}"/>
              </a:ext>
            </a:extLst>
          </p:cNvPr>
          <p:cNvSpPr/>
          <p:nvPr/>
        </p:nvSpPr>
        <p:spPr>
          <a:xfrm rot="10800000">
            <a:off x="1496363" y="5599015"/>
            <a:ext cx="377399" cy="365124"/>
          </a:xfrm>
          <a:prstGeom prst="rightArrow">
            <a:avLst>
              <a:gd name="adj1" fmla="val 43495"/>
              <a:gd name="adj2" fmla="val 50000"/>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IE"/>
          </a:p>
        </p:txBody>
      </p:sp>
    </p:spTree>
    <p:extLst>
      <p:ext uri="{BB962C8B-B14F-4D97-AF65-F5344CB8AC3E}">
        <p14:creationId xmlns:p14="http://schemas.microsoft.com/office/powerpoint/2010/main" val="16652702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a:t>REST – JSON Objects Another Example</a:t>
            </a:r>
            <a:endParaRPr lang="en-IE" dirty="0"/>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a:xfrm>
            <a:off x="3028950" y="6356350"/>
            <a:ext cx="3086100" cy="365125"/>
          </a:xfrm>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a:xfrm>
            <a:off x="628650" y="6356350"/>
            <a:ext cx="2057400" cy="365125"/>
          </a:xfrm>
        </p:spPr>
        <p:txBody>
          <a:bodyPr/>
          <a:lstStyle/>
          <a:p>
            <a:pPr>
              <a:defRPr/>
            </a:pPr>
            <a:fld id="{46E6891B-15A0-5E41-A998-A75162B34ED2}" type="datetime1">
              <a:rPr lang="en-IE" smtClean="0"/>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a:xfrm>
            <a:off x="6457950" y="6356350"/>
            <a:ext cx="2057400" cy="365125"/>
          </a:xfrm>
        </p:spPr>
        <p:txBody>
          <a:bodyPr/>
          <a:lstStyle/>
          <a:p>
            <a:pPr>
              <a:defRPr/>
            </a:pPr>
            <a:fld id="{C45812F7-FCBD-B04C-8A4C-B0062CB737B5}" type="slidenum">
              <a:rPr lang="en-GB" altLang="en-US" smtClean="0"/>
              <a:pPr>
                <a:defRPr/>
              </a:pPr>
              <a:t>35</a:t>
            </a:fld>
            <a:endParaRPr lang="en-GB" altLang="en-US" dirty="0"/>
          </a:p>
        </p:txBody>
      </p:sp>
      <p:pic>
        <p:nvPicPr>
          <p:cNvPr id="12" name="Picture 3">
            <a:extLst>
              <a:ext uri="{FF2B5EF4-FFF2-40B4-BE49-F238E27FC236}">
                <a16:creationId xmlns:a16="http://schemas.microsoft.com/office/drawing/2014/main" id="{FF1152F2-BA7B-4CB1-9D92-E6D205908B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20" y="980728"/>
            <a:ext cx="8351837" cy="1998662"/>
          </a:xfrm>
          <a:prstGeom prst="rect">
            <a:avLst/>
          </a:prstGeom>
          <a:noFill/>
          <a:ln>
            <a:noFill/>
          </a:ln>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lgn="ctr">
                <a:solidFill>
                  <a:schemeClr val="tx1"/>
                </a:solidFill>
                <a:miter lim="800000"/>
                <a:headEnd/>
                <a:tailEnd/>
              </a14:hiddenLine>
            </a:ext>
          </a:extLst>
        </p:spPr>
      </p:pic>
    </p:spTree>
    <p:extLst>
      <p:ext uri="{BB962C8B-B14F-4D97-AF65-F5344CB8AC3E}">
        <p14:creationId xmlns:p14="http://schemas.microsoft.com/office/powerpoint/2010/main" val="39946977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REST – JSON Collection of Objects</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a:xfrm>
            <a:off x="3028950" y="6356350"/>
            <a:ext cx="3086100" cy="365125"/>
          </a:xfrm>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a:xfrm>
            <a:off x="628650" y="6356350"/>
            <a:ext cx="2057400" cy="365125"/>
          </a:xfrm>
        </p:spPr>
        <p:txBody>
          <a:bodyPr/>
          <a:lstStyle/>
          <a:p>
            <a:pPr>
              <a:defRPr/>
            </a:pPr>
            <a:fld id="{46E6891B-15A0-5E41-A998-A75162B34ED2}" type="datetime1">
              <a:rPr lang="en-IE" smtClean="0"/>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a:xfrm>
            <a:off x="6457950" y="6356350"/>
            <a:ext cx="2057400" cy="365125"/>
          </a:xfrm>
        </p:spPr>
        <p:txBody>
          <a:bodyPr/>
          <a:lstStyle/>
          <a:p>
            <a:pPr>
              <a:defRPr/>
            </a:pPr>
            <a:fld id="{C45812F7-FCBD-B04C-8A4C-B0062CB737B5}" type="slidenum">
              <a:rPr lang="en-GB" altLang="en-US" smtClean="0"/>
              <a:pPr>
                <a:defRPr/>
              </a:pPr>
              <a:t>36</a:t>
            </a:fld>
            <a:endParaRPr lang="en-GB" altLang="en-US" dirty="0"/>
          </a:p>
        </p:txBody>
      </p:sp>
      <p:pic>
        <p:nvPicPr>
          <p:cNvPr id="8" name="Picture 2">
            <a:extLst>
              <a:ext uri="{FF2B5EF4-FFF2-40B4-BE49-F238E27FC236}">
                <a16:creationId xmlns:a16="http://schemas.microsoft.com/office/drawing/2014/main" id="{B02BEE09-E5C7-4A80-ABB6-1660CB7B1C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19" y="908720"/>
            <a:ext cx="8432473" cy="5256584"/>
          </a:xfrm>
          <a:prstGeom prst="rect">
            <a:avLst/>
          </a:prstGeom>
          <a:noFill/>
          <a:ln>
            <a:noFill/>
          </a:ln>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lgn="ctr">
                <a:solidFill>
                  <a:schemeClr val="tx1"/>
                </a:solidFill>
                <a:miter lim="800000"/>
                <a:headEnd/>
                <a:tailEnd/>
              </a14:hiddenLine>
            </a:ext>
          </a:extLst>
        </p:spPr>
      </p:pic>
    </p:spTree>
    <p:extLst>
      <p:ext uri="{BB962C8B-B14F-4D97-AF65-F5344CB8AC3E}">
        <p14:creationId xmlns:p14="http://schemas.microsoft.com/office/powerpoint/2010/main" val="39522021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REST – JSON </a:t>
            </a:r>
            <a:r>
              <a:rPr lang="en-IE" dirty="0" err="1"/>
              <a:t>DataTypes</a:t>
            </a:r>
            <a:endParaRPr lang="en-IE" dirty="0"/>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a:xfrm>
            <a:off x="3028950" y="6356350"/>
            <a:ext cx="3086100" cy="365125"/>
          </a:xfrm>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a:xfrm>
            <a:off x="628650" y="6356350"/>
            <a:ext cx="2057400" cy="365125"/>
          </a:xfrm>
        </p:spPr>
        <p:txBody>
          <a:bodyPr/>
          <a:lstStyle/>
          <a:p>
            <a:pPr>
              <a:defRPr/>
            </a:pPr>
            <a:fld id="{46E6891B-15A0-5E41-A998-A75162B34ED2}" type="datetime1">
              <a:rPr lang="en-IE" smtClean="0"/>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a:xfrm>
            <a:off x="6457950" y="6356350"/>
            <a:ext cx="2057400" cy="365125"/>
          </a:xfrm>
        </p:spPr>
        <p:txBody>
          <a:bodyPr/>
          <a:lstStyle/>
          <a:p>
            <a:pPr>
              <a:defRPr/>
            </a:pPr>
            <a:fld id="{C45812F7-FCBD-B04C-8A4C-B0062CB737B5}" type="slidenum">
              <a:rPr lang="en-GB" altLang="en-US" smtClean="0"/>
              <a:pPr>
                <a:defRPr/>
              </a:pPr>
              <a:t>37</a:t>
            </a:fld>
            <a:endParaRPr lang="en-GB" altLang="en-US" dirty="0"/>
          </a:p>
        </p:txBody>
      </p:sp>
      <p:sp>
        <p:nvSpPr>
          <p:cNvPr id="9" name="Content Placeholder 2">
            <a:extLst>
              <a:ext uri="{FF2B5EF4-FFF2-40B4-BE49-F238E27FC236}">
                <a16:creationId xmlns:a16="http://schemas.microsoft.com/office/drawing/2014/main" id="{51752752-B127-4774-A190-9E583197B5D0}"/>
              </a:ext>
            </a:extLst>
          </p:cNvPr>
          <p:cNvSpPr>
            <a:spLocks noGrp="1" noChangeArrowheads="1"/>
          </p:cNvSpPr>
          <p:nvPr>
            <p:ph idx="1"/>
          </p:nvPr>
        </p:nvSpPr>
        <p:spPr>
          <a:xfrm>
            <a:off x="198043" y="908608"/>
            <a:ext cx="8766445" cy="5040783"/>
          </a:xfrm>
        </p:spPr>
        <p:txBody>
          <a:bodyPr/>
          <a:lstStyle/>
          <a:p>
            <a:r>
              <a:rPr lang="en-IE" altLang="en-US" sz="3600" dirty="0"/>
              <a:t>Number – no quotes</a:t>
            </a:r>
          </a:p>
          <a:p>
            <a:r>
              <a:rPr lang="en-IE" altLang="en-US" sz="3600" dirty="0"/>
              <a:t>String - quotes</a:t>
            </a:r>
          </a:p>
          <a:p>
            <a:r>
              <a:rPr lang="en-IE" altLang="en-US" sz="3600" dirty="0"/>
              <a:t>Boolean – </a:t>
            </a:r>
            <a:r>
              <a:rPr lang="en-IE" altLang="en-US" sz="3600" b="1" dirty="0"/>
              <a:t>true</a:t>
            </a:r>
            <a:r>
              <a:rPr lang="en-IE" altLang="en-US" sz="3600" dirty="0"/>
              <a:t> or </a:t>
            </a:r>
            <a:r>
              <a:rPr lang="en-IE" altLang="en-US" sz="3600" b="1" dirty="0"/>
              <a:t>false</a:t>
            </a:r>
          </a:p>
          <a:p>
            <a:pPr eaLnBrk="1" hangingPunct="1"/>
            <a:endParaRPr lang="en-US" altLang="en-US" sz="3600" dirty="0"/>
          </a:p>
          <a:p>
            <a:pPr marL="0" indent="0" eaLnBrk="1" hangingPunct="1">
              <a:buNone/>
            </a:pPr>
            <a:endParaRPr lang="en-US" altLang="en-US" sz="3200" dirty="0"/>
          </a:p>
        </p:txBody>
      </p:sp>
      <p:pic>
        <p:nvPicPr>
          <p:cNvPr id="10" name="Picture 2">
            <a:extLst>
              <a:ext uri="{FF2B5EF4-FFF2-40B4-BE49-F238E27FC236}">
                <a16:creationId xmlns:a16="http://schemas.microsoft.com/office/drawing/2014/main" id="{230554F2-F10E-4DDD-B53F-C5D753A7F6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4" y="2780928"/>
            <a:ext cx="3789363" cy="3025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pic>
    </p:spTree>
    <p:extLst>
      <p:ext uri="{BB962C8B-B14F-4D97-AF65-F5344CB8AC3E}">
        <p14:creationId xmlns:p14="http://schemas.microsoft.com/office/powerpoint/2010/main" val="105016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REST – JSON Collection of Objects in PHP</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a:xfrm>
            <a:off x="3028950" y="6356350"/>
            <a:ext cx="3086100" cy="365125"/>
          </a:xfrm>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a:xfrm>
            <a:off x="628650" y="6356350"/>
            <a:ext cx="2057400" cy="365125"/>
          </a:xfrm>
        </p:spPr>
        <p:txBody>
          <a:bodyPr/>
          <a:lstStyle/>
          <a:p>
            <a:pPr>
              <a:defRPr/>
            </a:pPr>
            <a:fld id="{46E6891B-15A0-5E41-A998-A75162B34ED2}" type="datetime1">
              <a:rPr lang="en-IE" smtClean="0"/>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a:xfrm>
            <a:off x="6457950" y="6356350"/>
            <a:ext cx="2057400" cy="365125"/>
          </a:xfrm>
        </p:spPr>
        <p:txBody>
          <a:bodyPr/>
          <a:lstStyle/>
          <a:p>
            <a:pPr>
              <a:defRPr/>
            </a:pPr>
            <a:fld id="{C45812F7-FCBD-B04C-8A4C-B0062CB737B5}" type="slidenum">
              <a:rPr lang="en-GB" altLang="en-US" smtClean="0"/>
              <a:pPr>
                <a:defRPr/>
              </a:pPr>
              <a:t>38</a:t>
            </a:fld>
            <a:endParaRPr lang="en-GB" altLang="en-US" dirty="0"/>
          </a:p>
        </p:txBody>
      </p:sp>
      <p:pic>
        <p:nvPicPr>
          <p:cNvPr id="9" name="Picture 2">
            <a:extLst>
              <a:ext uri="{FF2B5EF4-FFF2-40B4-BE49-F238E27FC236}">
                <a16:creationId xmlns:a16="http://schemas.microsoft.com/office/drawing/2014/main" id="{0F3351D7-7DBF-429E-AE8C-E46A97045F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20" y="1052736"/>
            <a:ext cx="8391525" cy="2020888"/>
          </a:xfrm>
          <a:prstGeom prst="rect">
            <a:avLst/>
          </a:prstGeom>
          <a:noFill/>
          <a:ln>
            <a:noFill/>
          </a:ln>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10" name="Picture 3">
            <a:extLst>
              <a:ext uri="{FF2B5EF4-FFF2-40B4-BE49-F238E27FC236}">
                <a16:creationId xmlns:a16="http://schemas.microsoft.com/office/drawing/2014/main" id="{64A5FA5B-E78B-4DE5-9D64-B85F6E18604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536" y="4077072"/>
            <a:ext cx="7200900" cy="1470025"/>
          </a:xfrm>
          <a:prstGeom prst="rect">
            <a:avLst/>
          </a:prstGeom>
          <a:noFill/>
          <a:ln>
            <a:noFill/>
          </a:ln>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lgn="ctr">
                <a:solidFill>
                  <a:schemeClr val="tx1"/>
                </a:solidFill>
                <a:miter lim="800000"/>
                <a:headEnd/>
                <a:tailEnd/>
              </a14:hiddenLine>
            </a:ext>
          </a:extLst>
        </p:spPr>
      </p:pic>
    </p:spTree>
    <p:extLst>
      <p:ext uri="{BB962C8B-B14F-4D97-AF65-F5344CB8AC3E}">
        <p14:creationId xmlns:p14="http://schemas.microsoft.com/office/powerpoint/2010/main" val="35872890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REST and PHP</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39</a:t>
            </a:fld>
            <a:endParaRPr lang="en-GB" altLang="en-US" dirty="0"/>
          </a:p>
        </p:txBody>
      </p:sp>
      <p:sp>
        <p:nvSpPr>
          <p:cNvPr id="9" name="Content Placeholder 2">
            <a:extLst>
              <a:ext uri="{FF2B5EF4-FFF2-40B4-BE49-F238E27FC236}">
                <a16:creationId xmlns:a16="http://schemas.microsoft.com/office/drawing/2014/main" id="{371F201E-E4D4-4E2D-82E8-06C1FB4FC972}"/>
              </a:ext>
            </a:extLst>
          </p:cNvPr>
          <p:cNvSpPr>
            <a:spLocks noGrp="1" noChangeArrowheads="1"/>
          </p:cNvSpPr>
          <p:nvPr>
            <p:ph idx="1"/>
          </p:nvPr>
        </p:nvSpPr>
        <p:spPr>
          <a:xfrm>
            <a:off x="198043" y="908608"/>
            <a:ext cx="8766445" cy="5040783"/>
          </a:xfrm>
        </p:spPr>
        <p:txBody>
          <a:bodyPr/>
          <a:lstStyle/>
          <a:p>
            <a:r>
              <a:rPr lang="en-US" altLang="en-US" sz="3600" dirty="0"/>
              <a:t>Use the </a:t>
            </a:r>
            <a:r>
              <a:rPr lang="en-US" altLang="en-US" sz="3600" dirty="0">
                <a:solidFill>
                  <a:srgbClr val="0070C0"/>
                </a:solidFill>
              </a:rPr>
              <a:t>Slim Framework</a:t>
            </a:r>
            <a:endParaRPr lang="en-US" altLang="en-US" sz="3600" dirty="0"/>
          </a:p>
          <a:p>
            <a:r>
              <a:rPr lang="en-US" altLang="en-US" sz="3600" dirty="0"/>
              <a:t>Routes URI to a PHP function and therefore enables RESTful applications with PHP</a:t>
            </a:r>
          </a:p>
          <a:p>
            <a:endParaRPr lang="en-US" altLang="en-US" sz="3600" dirty="0"/>
          </a:p>
          <a:p>
            <a:r>
              <a:rPr lang="en-US" altLang="en-US" sz="3600" dirty="0"/>
              <a:t>Download and extract the Slim Framework into your project directory</a:t>
            </a:r>
          </a:p>
          <a:p>
            <a:r>
              <a:rPr lang="en-US" altLang="en-US" sz="3600" dirty="0"/>
              <a:t>The framework is in api.zip available on Moodle. It also contains the </a:t>
            </a:r>
            <a:r>
              <a:rPr lang="en-US" altLang="en-US" sz="3600" dirty="0">
                <a:solidFill>
                  <a:srgbClr val="0070C0"/>
                </a:solidFill>
              </a:rPr>
              <a:t>.</a:t>
            </a:r>
            <a:r>
              <a:rPr lang="en-US" altLang="en-US" sz="3600" dirty="0" err="1">
                <a:solidFill>
                  <a:srgbClr val="0070C0"/>
                </a:solidFill>
              </a:rPr>
              <a:t>htaccess</a:t>
            </a:r>
            <a:r>
              <a:rPr lang="en-US" altLang="en-US" sz="3600" dirty="0">
                <a:solidFill>
                  <a:srgbClr val="0070C0"/>
                </a:solidFill>
              </a:rPr>
              <a:t> </a:t>
            </a:r>
            <a:r>
              <a:rPr lang="en-US" altLang="en-US" sz="3600" dirty="0"/>
              <a:t>file</a:t>
            </a:r>
          </a:p>
          <a:p>
            <a:pPr eaLnBrk="1" hangingPunct="1"/>
            <a:endParaRPr lang="en-US" altLang="en-US" sz="3600" dirty="0"/>
          </a:p>
          <a:p>
            <a:pPr marL="0" indent="0" eaLnBrk="1" hangingPunct="1">
              <a:buNone/>
            </a:pPr>
            <a:endParaRPr lang="en-US" altLang="en-US" sz="3200" dirty="0"/>
          </a:p>
        </p:txBody>
      </p:sp>
    </p:spTree>
    <p:extLst>
      <p:ext uri="{BB962C8B-B14F-4D97-AF65-F5344CB8AC3E}">
        <p14:creationId xmlns:p14="http://schemas.microsoft.com/office/powerpoint/2010/main" val="40378296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REST and PHP</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40</a:t>
            </a:fld>
            <a:endParaRPr lang="en-GB" altLang="en-US" dirty="0"/>
          </a:p>
        </p:txBody>
      </p:sp>
      <p:sp>
        <p:nvSpPr>
          <p:cNvPr id="9" name="Content Placeholder 2">
            <a:extLst>
              <a:ext uri="{FF2B5EF4-FFF2-40B4-BE49-F238E27FC236}">
                <a16:creationId xmlns:a16="http://schemas.microsoft.com/office/drawing/2014/main" id="{371F201E-E4D4-4E2D-82E8-06C1FB4FC972}"/>
              </a:ext>
            </a:extLst>
          </p:cNvPr>
          <p:cNvSpPr>
            <a:spLocks noGrp="1" noChangeArrowheads="1"/>
          </p:cNvSpPr>
          <p:nvPr>
            <p:ph idx="1"/>
          </p:nvPr>
        </p:nvSpPr>
        <p:spPr>
          <a:xfrm>
            <a:off x="198043" y="908608"/>
            <a:ext cx="3869901" cy="5040783"/>
          </a:xfrm>
        </p:spPr>
        <p:txBody>
          <a:bodyPr/>
          <a:lstStyle/>
          <a:p>
            <a:r>
              <a:rPr lang="en-US" altLang="en-US" sz="2800" dirty="0"/>
              <a:t>When you open the unzipped folder you should see</a:t>
            </a:r>
          </a:p>
          <a:p>
            <a:endParaRPr lang="en-US" altLang="en-US" sz="2800" dirty="0"/>
          </a:p>
          <a:p>
            <a:endParaRPr lang="en-US" altLang="en-US" sz="2800" dirty="0"/>
          </a:p>
          <a:p>
            <a:endParaRPr lang="en-US" altLang="en-US" sz="2800" dirty="0"/>
          </a:p>
          <a:p>
            <a:endParaRPr lang="en-US" altLang="en-US" sz="2800" dirty="0"/>
          </a:p>
          <a:p>
            <a:r>
              <a:rPr lang="en-US" altLang="en-US" sz="2800" dirty="0"/>
              <a:t>Make a new folder called </a:t>
            </a:r>
            <a:r>
              <a:rPr lang="en-US" altLang="en-US" sz="2800" dirty="0" err="1"/>
              <a:t>api</a:t>
            </a:r>
            <a:r>
              <a:rPr lang="en-US" altLang="en-US" sz="2800" dirty="0"/>
              <a:t> (in your project) </a:t>
            </a:r>
          </a:p>
          <a:p>
            <a:r>
              <a:rPr lang="en-US" altLang="en-US" sz="2800" dirty="0"/>
              <a:t>Copy in the ‘Slim’ folder and the .</a:t>
            </a:r>
            <a:r>
              <a:rPr lang="en-US" altLang="en-US" sz="2800" dirty="0" err="1"/>
              <a:t>htaccess</a:t>
            </a:r>
            <a:r>
              <a:rPr lang="en-US" altLang="en-US" sz="2800" dirty="0"/>
              <a:t> file.</a:t>
            </a:r>
          </a:p>
          <a:p>
            <a:pPr marL="0" indent="0" eaLnBrk="1" hangingPunct="1">
              <a:buNone/>
            </a:pPr>
            <a:endParaRPr lang="en-US" altLang="en-US" sz="3200" dirty="0"/>
          </a:p>
        </p:txBody>
      </p:sp>
      <p:pic>
        <p:nvPicPr>
          <p:cNvPr id="8" name="Picture 7">
            <a:extLst>
              <a:ext uri="{FF2B5EF4-FFF2-40B4-BE49-F238E27FC236}">
                <a16:creationId xmlns:a16="http://schemas.microsoft.com/office/drawing/2014/main" id="{7CC72D18-18F9-4290-98C9-F8AEEC31D1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72124" y="908607"/>
            <a:ext cx="4000276" cy="2523251"/>
          </a:xfrm>
          <a:prstGeom prst="rect">
            <a:avLst/>
          </a:prstGeom>
          <a:noFill/>
          <a:ln>
            <a:noFill/>
          </a:ln>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10" name="Picture 8">
            <a:extLst>
              <a:ext uri="{FF2B5EF4-FFF2-40B4-BE49-F238E27FC236}">
                <a16:creationId xmlns:a16="http://schemas.microsoft.com/office/drawing/2014/main" id="{95F47957-EA6A-429F-A5D1-252F4A6AD0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37248" y="4221088"/>
            <a:ext cx="4219699" cy="1654077"/>
          </a:xfrm>
          <a:prstGeom prst="rect">
            <a:avLst/>
          </a:prstGeom>
          <a:noFill/>
          <a:ln>
            <a:noFill/>
          </a:ln>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lgn="ctr">
                <a:solidFill>
                  <a:schemeClr val="tx1"/>
                </a:solidFill>
                <a:miter lim="800000"/>
                <a:headEnd/>
                <a:tailEnd/>
              </a14:hiddenLine>
            </a:ext>
          </a:extLst>
        </p:spPr>
      </p:pic>
    </p:spTree>
    <p:extLst>
      <p:ext uri="{BB962C8B-B14F-4D97-AF65-F5344CB8AC3E}">
        <p14:creationId xmlns:p14="http://schemas.microsoft.com/office/powerpoint/2010/main" val="40423399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REST and PHP</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41</a:t>
            </a:fld>
            <a:endParaRPr lang="en-GB" altLang="en-US" dirty="0"/>
          </a:p>
        </p:txBody>
      </p:sp>
      <p:sp>
        <p:nvSpPr>
          <p:cNvPr id="9" name="Content Placeholder 2">
            <a:extLst>
              <a:ext uri="{FF2B5EF4-FFF2-40B4-BE49-F238E27FC236}">
                <a16:creationId xmlns:a16="http://schemas.microsoft.com/office/drawing/2014/main" id="{371F201E-E4D4-4E2D-82E8-06C1FB4FC972}"/>
              </a:ext>
            </a:extLst>
          </p:cNvPr>
          <p:cNvSpPr>
            <a:spLocks noGrp="1" noChangeArrowheads="1"/>
          </p:cNvSpPr>
          <p:nvPr>
            <p:ph idx="1"/>
          </p:nvPr>
        </p:nvSpPr>
        <p:spPr>
          <a:xfrm>
            <a:off x="198043" y="908609"/>
            <a:ext cx="4517973" cy="1584288"/>
          </a:xfrm>
        </p:spPr>
        <p:txBody>
          <a:bodyPr/>
          <a:lstStyle/>
          <a:p>
            <a:r>
              <a:rPr lang="en-US" altLang="en-US" sz="2400" dirty="0"/>
              <a:t>Now create a file called </a:t>
            </a:r>
            <a:r>
              <a:rPr lang="en-US" altLang="en-US" sz="2400" dirty="0" err="1"/>
              <a:t>index.php</a:t>
            </a:r>
            <a:r>
              <a:rPr lang="en-US" altLang="en-US" sz="2400" dirty="0"/>
              <a:t> in the </a:t>
            </a:r>
            <a:r>
              <a:rPr lang="en-US" altLang="en-US" sz="2400" dirty="0" err="1"/>
              <a:t>api</a:t>
            </a:r>
            <a:r>
              <a:rPr lang="en-US" altLang="en-US" sz="2400" dirty="0"/>
              <a:t> folder</a:t>
            </a:r>
          </a:p>
          <a:p>
            <a:pPr marL="0" indent="0" eaLnBrk="1" hangingPunct="1">
              <a:buNone/>
            </a:pPr>
            <a:endParaRPr lang="en-US" altLang="en-US" sz="2800" dirty="0"/>
          </a:p>
        </p:txBody>
      </p:sp>
      <p:sp>
        <p:nvSpPr>
          <p:cNvPr id="12" name="Rectangle 11">
            <a:extLst>
              <a:ext uri="{FF2B5EF4-FFF2-40B4-BE49-F238E27FC236}">
                <a16:creationId xmlns:a16="http://schemas.microsoft.com/office/drawing/2014/main" id="{2D145258-C6B9-48DE-A682-BB5685A371AE}"/>
              </a:ext>
            </a:extLst>
          </p:cNvPr>
          <p:cNvSpPr/>
          <p:nvPr/>
        </p:nvSpPr>
        <p:spPr>
          <a:xfrm>
            <a:off x="251520" y="5032911"/>
            <a:ext cx="7052270" cy="1323439"/>
          </a:xfrm>
          <a:prstGeom prst="rect">
            <a:avLst/>
          </a:prstGeom>
        </p:spPr>
        <p:txBody>
          <a:bodyPr wrap="square">
            <a:spAutoFit/>
          </a:bodyPr>
          <a:lstStyle/>
          <a:p>
            <a:pPr eaLnBrk="1" hangingPunct="1">
              <a:buSzPct val="100000"/>
            </a:pPr>
            <a:r>
              <a:rPr lang="en-IE" altLang="en-US" sz="2000" dirty="0">
                <a:solidFill>
                  <a:schemeClr val="tx1"/>
                </a:solidFill>
                <a:latin typeface="+mn-lt"/>
              </a:rPr>
              <a:t>Namespaces begin with the vendor namespace (“\Slim”) and</a:t>
            </a:r>
          </a:p>
          <a:p>
            <a:pPr eaLnBrk="1" hangingPunct="1">
              <a:buSzPct val="100000"/>
            </a:pPr>
            <a:r>
              <a:rPr lang="en-IE" altLang="en-US" sz="2000" dirty="0">
                <a:solidFill>
                  <a:schemeClr val="tx1"/>
                </a:solidFill>
                <a:latin typeface="+mn-lt"/>
              </a:rPr>
              <a:t>end with the namespace path to the desired class name. </a:t>
            </a:r>
          </a:p>
          <a:p>
            <a:pPr eaLnBrk="1" hangingPunct="1">
              <a:buSzPct val="100000"/>
            </a:pPr>
            <a:r>
              <a:rPr lang="en-IE" altLang="en-US" sz="2000" dirty="0">
                <a:solidFill>
                  <a:schemeClr val="tx1"/>
                </a:solidFill>
                <a:latin typeface="+mn-lt"/>
              </a:rPr>
              <a:t>PHP namespaces may be compared to </a:t>
            </a:r>
          </a:p>
          <a:p>
            <a:pPr eaLnBrk="1" hangingPunct="1">
              <a:buSzPct val="100000"/>
            </a:pPr>
            <a:r>
              <a:rPr lang="en-IE" altLang="en-US" sz="2000" dirty="0">
                <a:solidFill>
                  <a:schemeClr val="tx1"/>
                </a:solidFill>
                <a:latin typeface="+mn-lt"/>
              </a:rPr>
              <a:t>an </a:t>
            </a:r>
            <a:r>
              <a:rPr lang="en-IE" altLang="en-US" sz="2000" i="1" dirty="0">
                <a:solidFill>
                  <a:schemeClr val="tx1"/>
                </a:solidFill>
                <a:latin typeface="+mn-lt"/>
              </a:rPr>
              <a:t>imaginary directory structure</a:t>
            </a:r>
            <a:r>
              <a:rPr lang="en-IE" altLang="en-US" sz="2000" dirty="0">
                <a:solidFill>
                  <a:schemeClr val="tx1"/>
                </a:solidFill>
                <a:latin typeface="+mn-lt"/>
              </a:rPr>
              <a:t> for PHP classes.</a:t>
            </a:r>
          </a:p>
        </p:txBody>
      </p:sp>
      <p:pic>
        <p:nvPicPr>
          <p:cNvPr id="13" name="Picture 2">
            <a:extLst>
              <a:ext uri="{FF2B5EF4-FFF2-40B4-BE49-F238E27FC236}">
                <a16:creationId xmlns:a16="http://schemas.microsoft.com/office/drawing/2014/main" id="{091E6AAF-EF20-4707-958B-A6ADE95849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528" y="1700752"/>
            <a:ext cx="6000750" cy="3384431"/>
          </a:xfrm>
          <a:prstGeom prst="rect">
            <a:avLst/>
          </a:prstGeom>
          <a:noFill/>
          <a:ln>
            <a:noFill/>
          </a:ln>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14" name="Picture 4">
            <a:extLst>
              <a:ext uri="{FF2B5EF4-FFF2-40B4-BE49-F238E27FC236}">
                <a16:creationId xmlns:a16="http://schemas.microsoft.com/office/drawing/2014/main" id="{F0C06407-E6BB-4553-93FD-70A6F593D07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814951"/>
            <a:ext cx="5029200" cy="1079500"/>
          </a:xfrm>
          <a:prstGeom prst="rect">
            <a:avLst/>
          </a:prstGeom>
          <a:noFill/>
          <a:ln>
            <a:noFill/>
          </a:ln>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15" name="Picture 3">
            <a:extLst>
              <a:ext uri="{FF2B5EF4-FFF2-40B4-BE49-F238E27FC236}">
                <a16:creationId xmlns:a16="http://schemas.microsoft.com/office/drawing/2014/main" id="{7C265E52-948A-4F02-8192-953DCAE628A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87827" y="5694630"/>
            <a:ext cx="2552700" cy="523875"/>
          </a:xfrm>
          <a:prstGeom prst="rect">
            <a:avLst/>
          </a:prstGeom>
          <a:noFill/>
          <a:ln>
            <a:noFill/>
          </a:ln>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16" name="TextBox 12">
            <a:extLst>
              <a:ext uri="{FF2B5EF4-FFF2-40B4-BE49-F238E27FC236}">
                <a16:creationId xmlns:a16="http://schemas.microsoft.com/office/drawing/2014/main" id="{B9D597BD-4002-440B-B51D-A583222F29F9}"/>
              </a:ext>
            </a:extLst>
          </p:cNvPr>
          <p:cNvSpPr txBox="1">
            <a:spLocks noChangeArrowheads="1"/>
          </p:cNvSpPr>
          <p:nvPr/>
        </p:nvSpPr>
        <p:spPr bwMode="auto">
          <a:xfrm>
            <a:off x="7137102" y="4939253"/>
            <a:ext cx="1454150"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3000"/>
              </a:lnSpc>
              <a:spcBef>
                <a:spcPts val="700"/>
              </a:spcBef>
              <a:buClr>
                <a:srgbClr val="003366"/>
              </a:buClr>
              <a:buSzPct val="75000"/>
              <a:buFont typeface="Wingdings" panose="05000000000000000000" pitchFamily="2" charset="2"/>
              <a:buChar char=""/>
              <a:defRPr sz="2800">
                <a:solidFill>
                  <a:srgbClr val="003366"/>
                </a:solidFill>
                <a:latin typeface="Arial" panose="020B0604020202020204" pitchFamily="34" charset="0"/>
                <a:ea typeface="MS Gothic" panose="020B0609070205080204" pitchFamily="49" charset="-128"/>
              </a:defRPr>
            </a:lvl1pPr>
            <a:lvl2pPr marL="742950" indent="-285750">
              <a:lnSpc>
                <a:spcPct val="93000"/>
              </a:lnSpc>
              <a:spcBef>
                <a:spcPts val="600"/>
              </a:spcBef>
              <a:buClr>
                <a:srgbClr val="003366"/>
              </a:buClr>
              <a:buSzPct val="75000"/>
              <a:buFont typeface="Arial" panose="020B0604020202020204" pitchFamily="34" charset="0"/>
              <a:buChar char="–"/>
              <a:defRPr sz="2400">
                <a:solidFill>
                  <a:srgbClr val="003366"/>
                </a:solidFill>
                <a:latin typeface="Arial" panose="020B0604020202020204" pitchFamily="34" charset="0"/>
                <a:ea typeface="MS Gothic" panose="020B0609070205080204" pitchFamily="49" charset="-128"/>
              </a:defRPr>
            </a:lvl2pPr>
            <a:lvl3pPr marL="1143000" indent="-228600">
              <a:lnSpc>
                <a:spcPct val="93000"/>
              </a:lnSpc>
              <a:spcBef>
                <a:spcPts val="500"/>
              </a:spcBef>
              <a:buClr>
                <a:srgbClr val="003366"/>
              </a:buClr>
              <a:buSzPct val="75000"/>
              <a:buFont typeface="Wingdings" panose="05000000000000000000" pitchFamily="2" charset="2"/>
              <a:buChar char=""/>
              <a:defRPr sz="2000">
                <a:solidFill>
                  <a:srgbClr val="003366"/>
                </a:solidFill>
                <a:latin typeface="Arial" panose="020B0604020202020204" pitchFamily="34" charset="0"/>
                <a:ea typeface="MS Gothic" panose="020B0609070205080204" pitchFamily="49" charset="-128"/>
              </a:defRPr>
            </a:lvl3pPr>
            <a:lvl4pPr marL="1600200" indent="-228600">
              <a:lnSpc>
                <a:spcPct val="93000"/>
              </a:lnSpc>
              <a:spcBef>
                <a:spcPts val="450"/>
              </a:spcBef>
              <a:buClr>
                <a:srgbClr val="003366"/>
              </a:buClr>
              <a:buSzPct val="80000"/>
              <a:buFont typeface="Arial" panose="020B0604020202020204" pitchFamily="34" charset="0"/>
              <a:buChar char="–"/>
              <a:defRPr>
                <a:solidFill>
                  <a:srgbClr val="003366"/>
                </a:solidFill>
                <a:latin typeface="Arial" panose="020B0604020202020204" pitchFamily="34" charset="0"/>
                <a:ea typeface="MS Gothic" panose="020B0609070205080204" pitchFamily="49" charset="-128"/>
              </a:defRPr>
            </a:lvl4pPr>
            <a:lvl5pPr marL="2057400" indent="-228600">
              <a:lnSpc>
                <a:spcPct val="93000"/>
              </a:lnSpc>
              <a:spcBef>
                <a:spcPts val="450"/>
              </a:spcBef>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5pPr>
            <a:lvl6pPr marL="25146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6pPr>
            <a:lvl7pPr marL="29718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7pPr>
            <a:lvl8pPr marL="34290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8pPr>
            <a:lvl9pPr marL="38862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9pPr>
          </a:lstStyle>
          <a:p>
            <a:pPr algn="ctr" eaLnBrk="1" hangingPunct="1">
              <a:spcBef>
                <a:spcPct val="0"/>
              </a:spcBef>
              <a:buSzPct val="100000"/>
              <a:buFont typeface="Arial" panose="020B0604020202020204" pitchFamily="34" charset="0"/>
              <a:buNone/>
            </a:pPr>
            <a:r>
              <a:rPr lang="en-IE" altLang="en-US" sz="2000" dirty="0">
                <a:solidFill>
                  <a:srgbClr val="0070C0"/>
                </a:solidFill>
              </a:rPr>
              <a:t>in </a:t>
            </a:r>
            <a:r>
              <a:rPr lang="en-IE" altLang="en-US" sz="2000" dirty="0" err="1">
                <a:solidFill>
                  <a:srgbClr val="0070C0"/>
                </a:solidFill>
              </a:rPr>
              <a:t>Slim.php</a:t>
            </a:r>
            <a:endParaRPr lang="en-IE" altLang="en-US" sz="2000" dirty="0">
              <a:solidFill>
                <a:srgbClr val="0070C0"/>
              </a:solidFill>
            </a:endParaRPr>
          </a:p>
        </p:txBody>
      </p:sp>
      <p:sp>
        <p:nvSpPr>
          <p:cNvPr id="18" name="TextBox 2">
            <a:extLst>
              <a:ext uri="{FF2B5EF4-FFF2-40B4-BE49-F238E27FC236}">
                <a16:creationId xmlns:a16="http://schemas.microsoft.com/office/drawing/2014/main" id="{3865DDCA-160B-4CA8-92A8-7CE77748F9C9}"/>
              </a:ext>
            </a:extLst>
          </p:cNvPr>
          <p:cNvSpPr txBox="1">
            <a:spLocks noChangeArrowheads="1"/>
          </p:cNvSpPr>
          <p:nvPr/>
        </p:nvSpPr>
        <p:spPr bwMode="auto">
          <a:xfrm>
            <a:off x="5148064" y="2161805"/>
            <a:ext cx="2876551" cy="349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3000"/>
              </a:lnSpc>
              <a:spcBef>
                <a:spcPts val="700"/>
              </a:spcBef>
              <a:buClr>
                <a:srgbClr val="003366"/>
              </a:buClr>
              <a:buSzPct val="75000"/>
              <a:buFont typeface="Wingdings" panose="05000000000000000000" pitchFamily="2" charset="2"/>
              <a:buChar char=""/>
              <a:defRPr sz="2800">
                <a:solidFill>
                  <a:srgbClr val="003366"/>
                </a:solidFill>
                <a:latin typeface="Arial" panose="020B0604020202020204" pitchFamily="34" charset="0"/>
                <a:ea typeface="MS Gothic" panose="020B0609070205080204" pitchFamily="49" charset="-128"/>
              </a:defRPr>
            </a:lvl1pPr>
            <a:lvl2pPr marL="742950" indent="-285750">
              <a:lnSpc>
                <a:spcPct val="93000"/>
              </a:lnSpc>
              <a:spcBef>
                <a:spcPts val="600"/>
              </a:spcBef>
              <a:buClr>
                <a:srgbClr val="003366"/>
              </a:buClr>
              <a:buSzPct val="75000"/>
              <a:buFont typeface="Arial" panose="020B0604020202020204" pitchFamily="34" charset="0"/>
              <a:buChar char="–"/>
              <a:defRPr sz="2400">
                <a:solidFill>
                  <a:srgbClr val="003366"/>
                </a:solidFill>
                <a:latin typeface="Arial" panose="020B0604020202020204" pitchFamily="34" charset="0"/>
                <a:ea typeface="MS Gothic" panose="020B0609070205080204" pitchFamily="49" charset="-128"/>
              </a:defRPr>
            </a:lvl2pPr>
            <a:lvl3pPr marL="1143000" indent="-228600">
              <a:lnSpc>
                <a:spcPct val="93000"/>
              </a:lnSpc>
              <a:spcBef>
                <a:spcPts val="500"/>
              </a:spcBef>
              <a:buClr>
                <a:srgbClr val="003366"/>
              </a:buClr>
              <a:buSzPct val="75000"/>
              <a:buFont typeface="Wingdings" panose="05000000000000000000" pitchFamily="2" charset="2"/>
              <a:buChar char=""/>
              <a:defRPr sz="2000">
                <a:solidFill>
                  <a:srgbClr val="003366"/>
                </a:solidFill>
                <a:latin typeface="Arial" panose="020B0604020202020204" pitchFamily="34" charset="0"/>
                <a:ea typeface="MS Gothic" panose="020B0609070205080204" pitchFamily="49" charset="-128"/>
              </a:defRPr>
            </a:lvl3pPr>
            <a:lvl4pPr marL="1600200" indent="-228600">
              <a:lnSpc>
                <a:spcPct val="93000"/>
              </a:lnSpc>
              <a:spcBef>
                <a:spcPts val="450"/>
              </a:spcBef>
              <a:buClr>
                <a:srgbClr val="003366"/>
              </a:buClr>
              <a:buSzPct val="80000"/>
              <a:buFont typeface="Arial" panose="020B0604020202020204" pitchFamily="34" charset="0"/>
              <a:buChar char="–"/>
              <a:defRPr>
                <a:solidFill>
                  <a:srgbClr val="003366"/>
                </a:solidFill>
                <a:latin typeface="Arial" panose="020B0604020202020204" pitchFamily="34" charset="0"/>
                <a:ea typeface="MS Gothic" panose="020B0609070205080204" pitchFamily="49" charset="-128"/>
              </a:defRPr>
            </a:lvl4pPr>
            <a:lvl5pPr marL="2057400" indent="-228600">
              <a:lnSpc>
                <a:spcPct val="93000"/>
              </a:lnSpc>
              <a:spcBef>
                <a:spcPts val="450"/>
              </a:spcBef>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5pPr>
            <a:lvl6pPr marL="25146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6pPr>
            <a:lvl7pPr marL="29718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7pPr>
            <a:lvl8pPr marL="34290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8pPr>
            <a:lvl9pPr marL="38862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9pPr>
          </a:lstStyle>
          <a:p>
            <a:pPr eaLnBrk="1" hangingPunct="1">
              <a:spcBef>
                <a:spcPct val="0"/>
              </a:spcBef>
              <a:buSzPct val="100000"/>
              <a:buFont typeface="Arial" panose="020B0604020202020204" pitchFamily="34" charset="0"/>
              <a:buNone/>
            </a:pPr>
            <a:r>
              <a:rPr lang="en-IE" altLang="en-US" sz="1800" dirty="0">
                <a:solidFill>
                  <a:srgbClr val="0070C0"/>
                </a:solidFill>
              </a:rPr>
              <a:t>Slim uses namespaces</a:t>
            </a:r>
          </a:p>
        </p:txBody>
      </p:sp>
      <p:sp>
        <p:nvSpPr>
          <p:cNvPr id="19" name="TextBox 10">
            <a:extLst>
              <a:ext uri="{FF2B5EF4-FFF2-40B4-BE49-F238E27FC236}">
                <a16:creationId xmlns:a16="http://schemas.microsoft.com/office/drawing/2014/main" id="{AE96BD88-4A33-4920-992D-23FE9037D4A1}"/>
              </a:ext>
            </a:extLst>
          </p:cNvPr>
          <p:cNvSpPr txBox="1">
            <a:spLocks noChangeArrowheads="1"/>
          </p:cNvSpPr>
          <p:nvPr/>
        </p:nvSpPr>
        <p:spPr bwMode="auto">
          <a:xfrm>
            <a:off x="5148064" y="2492897"/>
            <a:ext cx="4182614" cy="349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3000"/>
              </a:lnSpc>
              <a:spcBef>
                <a:spcPts val="700"/>
              </a:spcBef>
              <a:buClr>
                <a:srgbClr val="003366"/>
              </a:buClr>
              <a:buSzPct val="75000"/>
              <a:buFont typeface="Wingdings" panose="05000000000000000000" pitchFamily="2" charset="2"/>
              <a:buChar char=""/>
              <a:defRPr sz="2800">
                <a:solidFill>
                  <a:srgbClr val="003366"/>
                </a:solidFill>
                <a:latin typeface="Arial" panose="020B0604020202020204" pitchFamily="34" charset="0"/>
                <a:ea typeface="MS Gothic" panose="020B0609070205080204" pitchFamily="49" charset="-128"/>
              </a:defRPr>
            </a:lvl1pPr>
            <a:lvl2pPr marL="742950" indent="-285750">
              <a:lnSpc>
                <a:spcPct val="93000"/>
              </a:lnSpc>
              <a:spcBef>
                <a:spcPts val="600"/>
              </a:spcBef>
              <a:buClr>
                <a:srgbClr val="003366"/>
              </a:buClr>
              <a:buSzPct val="75000"/>
              <a:buFont typeface="Arial" panose="020B0604020202020204" pitchFamily="34" charset="0"/>
              <a:buChar char="–"/>
              <a:defRPr sz="2400">
                <a:solidFill>
                  <a:srgbClr val="003366"/>
                </a:solidFill>
                <a:latin typeface="Arial" panose="020B0604020202020204" pitchFamily="34" charset="0"/>
                <a:ea typeface="MS Gothic" panose="020B0609070205080204" pitchFamily="49" charset="-128"/>
              </a:defRPr>
            </a:lvl2pPr>
            <a:lvl3pPr marL="1143000" indent="-228600">
              <a:lnSpc>
                <a:spcPct val="93000"/>
              </a:lnSpc>
              <a:spcBef>
                <a:spcPts val="500"/>
              </a:spcBef>
              <a:buClr>
                <a:srgbClr val="003366"/>
              </a:buClr>
              <a:buSzPct val="75000"/>
              <a:buFont typeface="Wingdings" panose="05000000000000000000" pitchFamily="2" charset="2"/>
              <a:buChar char=""/>
              <a:defRPr sz="2000">
                <a:solidFill>
                  <a:srgbClr val="003366"/>
                </a:solidFill>
                <a:latin typeface="Arial" panose="020B0604020202020204" pitchFamily="34" charset="0"/>
                <a:ea typeface="MS Gothic" panose="020B0609070205080204" pitchFamily="49" charset="-128"/>
              </a:defRPr>
            </a:lvl3pPr>
            <a:lvl4pPr marL="1600200" indent="-228600">
              <a:lnSpc>
                <a:spcPct val="93000"/>
              </a:lnSpc>
              <a:spcBef>
                <a:spcPts val="450"/>
              </a:spcBef>
              <a:buClr>
                <a:srgbClr val="003366"/>
              </a:buClr>
              <a:buSzPct val="80000"/>
              <a:buFont typeface="Arial" panose="020B0604020202020204" pitchFamily="34" charset="0"/>
              <a:buChar char="–"/>
              <a:defRPr>
                <a:solidFill>
                  <a:srgbClr val="003366"/>
                </a:solidFill>
                <a:latin typeface="Arial" panose="020B0604020202020204" pitchFamily="34" charset="0"/>
                <a:ea typeface="MS Gothic" panose="020B0609070205080204" pitchFamily="49" charset="-128"/>
              </a:defRPr>
            </a:lvl4pPr>
            <a:lvl5pPr marL="2057400" indent="-228600">
              <a:lnSpc>
                <a:spcPct val="93000"/>
              </a:lnSpc>
              <a:spcBef>
                <a:spcPts val="450"/>
              </a:spcBef>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5pPr>
            <a:lvl6pPr marL="25146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6pPr>
            <a:lvl7pPr marL="29718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7pPr>
            <a:lvl8pPr marL="34290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8pPr>
            <a:lvl9pPr marL="38862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9pPr>
          </a:lstStyle>
          <a:p>
            <a:pPr eaLnBrk="1" hangingPunct="1">
              <a:spcBef>
                <a:spcPct val="0"/>
              </a:spcBef>
              <a:buSzPct val="100000"/>
              <a:buFont typeface="Arial" panose="020B0604020202020204" pitchFamily="34" charset="0"/>
              <a:buNone/>
            </a:pPr>
            <a:r>
              <a:rPr lang="en-IE" altLang="en-US" sz="1800" dirty="0">
                <a:solidFill>
                  <a:srgbClr val="0070C0"/>
                </a:solidFill>
              </a:rPr>
              <a:t>Let Slim handle internal dependencies</a:t>
            </a:r>
          </a:p>
        </p:txBody>
      </p:sp>
      <p:sp>
        <p:nvSpPr>
          <p:cNvPr id="20" name="Arrow: Right 12">
            <a:extLst>
              <a:ext uri="{FF2B5EF4-FFF2-40B4-BE49-F238E27FC236}">
                <a16:creationId xmlns:a16="http://schemas.microsoft.com/office/drawing/2014/main" id="{5D9EB4F2-E21A-4DBE-A540-FE4E0AEAE5D0}"/>
              </a:ext>
            </a:extLst>
          </p:cNvPr>
          <p:cNvSpPr/>
          <p:nvPr/>
        </p:nvSpPr>
        <p:spPr>
          <a:xfrm rot="10800000">
            <a:off x="3989799" y="2161805"/>
            <a:ext cx="1138545" cy="299611"/>
          </a:xfrm>
          <a:prstGeom prst="rightArrow">
            <a:avLst>
              <a:gd name="adj1" fmla="val 43495"/>
              <a:gd name="adj2" fmla="val 50000"/>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IE"/>
          </a:p>
        </p:txBody>
      </p:sp>
      <p:sp>
        <p:nvSpPr>
          <p:cNvPr id="21" name="Arrow: Right 12">
            <a:extLst>
              <a:ext uri="{FF2B5EF4-FFF2-40B4-BE49-F238E27FC236}">
                <a16:creationId xmlns:a16="http://schemas.microsoft.com/office/drawing/2014/main" id="{BE513406-ADAA-4C7B-9384-3470DD9E6BAC}"/>
              </a:ext>
            </a:extLst>
          </p:cNvPr>
          <p:cNvSpPr/>
          <p:nvPr/>
        </p:nvSpPr>
        <p:spPr>
          <a:xfrm rot="10800000">
            <a:off x="4797642" y="2479516"/>
            <a:ext cx="332420" cy="299611"/>
          </a:xfrm>
          <a:prstGeom prst="rightArrow">
            <a:avLst>
              <a:gd name="adj1" fmla="val 43495"/>
              <a:gd name="adj2" fmla="val 50000"/>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IE"/>
          </a:p>
        </p:txBody>
      </p:sp>
      <p:sp>
        <p:nvSpPr>
          <p:cNvPr id="22" name="Arrow: Right 12">
            <a:extLst>
              <a:ext uri="{FF2B5EF4-FFF2-40B4-BE49-F238E27FC236}">
                <a16:creationId xmlns:a16="http://schemas.microsoft.com/office/drawing/2014/main" id="{A79B1EAC-1D9B-458F-BD0A-968ADDC6E1B0}"/>
              </a:ext>
            </a:extLst>
          </p:cNvPr>
          <p:cNvSpPr/>
          <p:nvPr/>
        </p:nvSpPr>
        <p:spPr>
          <a:xfrm rot="5400000">
            <a:off x="7682471" y="5360441"/>
            <a:ext cx="332420" cy="299611"/>
          </a:xfrm>
          <a:prstGeom prst="rightArrow">
            <a:avLst>
              <a:gd name="adj1" fmla="val 43495"/>
              <a:gd name="adj2" fmla="val 50000"/>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IE"/>
          </a:p>
        </p:txBody>
      </p:sp>
      <p:sp>
        <p:nvSpPr>
          <p:cNvPr id="23" name="TextBox 10">
            <a:extLst>
              <a:ext uri="{FF2B5EF4-FFF2-40B4-BE49-F238E27FC236}">
                <a16:creationId xmlns:a16="http://schemas.microsoft.com/office/drawing/2014/main" id="{2F5D7F30-A82E-4889-8BE0-31032381A806}"/>
              </a:ext>
            </a:extLst>
          </p:cNvPr>
          <p:cNvSpPr txBox="1">
            <a:spLocks noChangeArrowheads="1"/>
          </p:cNvSpPr>
          <p:nvPr/>
        </p:nvSpPr>
        <p:spPr bwMode="auto">
          <a:xfrm>
            <a:off x="6146477" y="3990839"/>
            <a:ext cx="2818011" cy="349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3000"/>
              </a:lnSpc>
              <a:spcBef>
                <a:spcPts val="700"/>
              </a:spcBef>
              <a:buClr>
                <a:srgbClr val="003366"/>
              </a:buClr>
              <a:buSzPct val="75000"/>
              <a:buFont typeface="Wingdings" panose="05000000000000000000" pitchFamily="2" charset="2"/>
              <a:buChar char=""/>
              <a:defRPr sz="2800">
                <a:solidFill>
                  <a:srgbClr val="003366"/>
                </a:solidFill>
                <a:latin typeface="Arial" panose="020B0604020202020204" pitchFamily="34" charset="0"/>
                <a:ea typeface="MS Gothic" panose="020B0609070205080204" pitchFamily="49" charset="-128"/>
              </a:defRPr>
            </a:lvl1pPr>
            <a:lvl2pPr marL="742950" indent="-285750">
              <a:lnSpc>
                <a:spcPct val="93000"/>
              </a:lnSpc>
              <a:spcBef>
                <a:spcPts val="600"/>
              </a:spcBef>
              <a:buClr>
                <a:srgbClr val="003366"/>
              </a:buClr>
              <a:buSzPct val="75000"/>
              <a:buFont typeface="Arial" panose="020B0604020202020204" pitchFamily="34" charset="0"/>
              <a:buChar char="–"/>
              <a:defRPr sz="2400">
                <a:solidFill>
                  <a:srgbClr val="003366"/>
                </a:solidFill>
                <a:latin typeface="Arial" panose="020B0604020202020204" pitchFamily="34" charset="0"/>
                <a:ea typeface="MS Gothic" panose="020B0609070205080204" pitchFamily="49" charset="-128"/>
              </a:defRPr>
            </a:lvl2pPr>
            <a:lvl3pPr marL="1143000" indent="-228600">
              <a:lnSpc>
                <a:spcPct val="93000"/>
              </a:lnSpc>
              <a:spcBef>
                <a:spcPts val="500"/>
              </a:spcBef>
              <a:buClr>
                <a:srgbClr val="003366"/>
              </a:buClr>
              <a:buSzPct val="75000"/>
              <a:buFont typeface="Wingdings" panose="05000000000000000000" pitchFamily="2" charset="2"/>
              <a:buChar char=""/>
              <a:defRPr sz="2000">
                <a:solidFill>
                  <a:srgbClr val="003366"/>
                </a:solidFill>
                <a:latin typeface="Arial" panose="020B0604020202020204" pitchFamily="34" charset="0"/>
                <a:ea typeface="MS Gothic" panose="020B0609070205080204" pitchFamily="49" charset="-128"/>
              </a:defRPr>
            </a:lvl3pPr>
            <a:lvl4pPr marL="1600200" indent="-228600">
              <a:lnSpc>
                <a:spcPct val="93000"/>
              </a:lnSpc>
              <a:spcBef>
                <a:spcPts val="450"/>
              </a:spcBef>
              <a:buClr>
                <a:srgbClr val="003366"/>
              </a:buClr>
              <a:buSzPct val="80000"/>
              <a:buFont typeface="Arial" panose="020B0604020202020204" pitchFamily="34" charset="0"/>
              <a:buChar char="–"/>
              <a:defRPr>
                <a:solidFill>
                  <a:srgbClr val="003366"/>
                </a:solidFill>
                <a:latin typeface="Arial" panose="020B0604020202020204" pitchFamily="34" charset="0"/>
                <a:ea typeface="MS Gothic" panose="020B0609070205080204" pitchFamily="49" charset="-128"/>
              </a:defRPr>
            </a:lvl4pPr>
            <a:lvl5pPr marL="2057400" indent="-228600">
              <a:lnSpc>
                <a:spcPct val="93000"/>
              </a:lnSpc>
              <a:spcBef>
                <a:spcPts val="450"/>
              </a:spcBef>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5pPr>
            <a:lvl6pPr marL="25146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6pPr>
            <a:lvl7pPr marL="29718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7pPr>
            <a:lvl8pPr marL="34290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8pPr>
            <a:lvl9pPr marL="38862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9pPr>
          </a:lstStyle>
          <a:p>
            <a:pPr eaLnBrk="1" hangingPunct="1">
              <a:spcBef>
                <a:spcPct val="0"/>
              </a:spcBef>
              <a:buSzPct val="100000"/>
              <a:buFont typeface="Arial" panose="020B0604020202020204" pitchFamily="34" charset="0"/>
              <a:buNone/>
            </a:pPr>
            <a:r>
              <a:rPr lang="en-IE" altLang="en-US" sz="1800" dirty="0">
                <a:solidFill>
                  <a:srgbClr val="0070C0"/>
                </a:solidFill>
              </a:rPr>
              <a:t>Anonymous PHP function</a:t>
            </a:r>
          </a:p>
        </p:txBody>
      </p:sp>
      <p:sp>
        <p:nvSpPr>
          <p:cNvPr id="24" name="Arrow: Right 12">
            <a:extLst>
              <a:ext uri="{FF2B5EF4-FFF2-40B4-BE49-F238E27FC236}">
                <a16:creationId xmlns:a16="http://schemas.microsoft.com/office/drawing/2014/main" id="{51EBFE5D-F4FD-43F9-A5C9-440AF5CD859C}"/>
              </a:ext>
            </a:extLst>
          </p:cNvPr>
          <p:cNvSpPr/>
          <p:nvPr/>
        </p:nvSpPr>
        <p:spPr>
          <a:xfrm rot="10800000">
            <a:off x="5814057" y="4013255"/>
            <a:ext cx="332420" cy="299611"/>
          </a:xfrm>
          <a:prstGeom prst="rightArrow">
            <a:avLst>
              <a:gd name="adj1" fmla="val 43495"/>
              <a:gd name="adj2" fmla="val 50000"/>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IE"/>
          </a:p>
        </p:txBody>
      </p:sp>
    </p:spTree>
    <p:extLst>
      <p:ext uri="{BB962C8B-B14F-4D97-AF65-F5344CB8AC3E}">
        <p14:creationId xmlns:p14="http://schemas.microsoft.com/office/powerpoint/2010/main" val="8551870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REST and PHP</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42</a:t>
            </a:fld>
            <a:endParaRPr lang="en-GB" altLang="en-US" dirty="0"/>
          </a:p>
        </p:txBody>
      </p:sp>
      <p:sp>
        <p:nvSpPr>
          <p:cNvPr id="18" name="TextBox 2">
            <a:extLst>
              <a:ext uri="{FF2B5EF4-FFF2-40B4-BE49-F238E27FC236}">
                <a16:creationId xmlns:a16="http://schemas.microsoft.com/office/drawing/2014/main" id="{3865DDCA-160B-4CA8-92A8-7CE77748F9C9}"/>
              </a:ext>
            </a:extLst>
          </p:cNvPr>
          <p:cNvSpPr txBox="1">
            <a:spLocks noChangeArrowheads="1"/>
          </p:cNvSpPr>
          <p:nvPr/>
        </p:nvSpPr>
        <p:spPr bwMode="auto">
          <a:xfrm>
            <a:off x="6048374" y="1382750"/>
            <a:ext cx="2876551" cy="349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3000"/>
              </a:lnSpc>
              <a:spcBef>
                <a:spcPts val="700"/>
              </a:spcBef>
              <a:buClr>
                <a:srgbClr val="003366"/>
              </a:buClr>
              <a:buSzPct val="75000"/>
              <a:buFont typeface="Wingdings" panose="05000000000000000000" pitchFamily="2" charset="2"/>
              <a:buChar char=""/>
              <a:defRPr sz="2800">
                <a:solidFill>
                  <a:srgbClr val="003366"/>
                </a:solidFill>
                <a:latin typeface="Arial" panose="020B0604020202020204" pitchFamily="34" charset="0"/>
                <a:ea typeface="MS Gothic" panose="020B0609070205080204" pitchFamily="49" charset="-128"/>
              </a:defRPr>
            </a:lvl1pPr>
            <a:lvl2pPr marL="742950" indent="-285750">
              <a:lnSpc>
                <a:spcPct val="93000"/>
              </a:lnSpc>
              <a:spcBef>
                <a:spcPts val="600"/>
              </a:spcBef>
              <a:buClr>
                <a:srgbClr val="003366"/>
              </a:buClr>
              <a:buSzPct val="75000"/>
              <a:buFont typeface="Arial" panose="020B0604020202020204" pitchFamily="34" charset="0"/>
              <a:buChar char="–"/>
              <a:defRPr sz="2400">
                <a:solidFill>
                  <a:srgbClr val="003366"/>
                </a:solidFill>
                <a:latin typeface="Arial" panose="020B0604020202020204" pitchFamily="34" charset="0"/>
                <a:ea typeface="MS Gothic" panose="020B0609070205080204" pitchFamily="49" charset="-128"/>
              </a:defRPr>
            </a:lvl2pPr>
            <a:lvl3pPr marL="1143000" indent="-228600">
              <a:lnSpc>
                <a:spcPct val="93000"/>
              </a:lnSpc>
              <a:spcBef>
                <a:spcPts val="500"/>
              </a:spcBef>
              <a:buClr>
                <a:srgbClr val="003366"/>
              </a:buClr>
              <a:buSzPct val="75000"/>
              <a:buFont typeface="Wingdings" panose="05000000000000000000" pitchFamily="2" charset="2"/>
              <a:buChar char=""/>
              <a:defRPr sz="2000">
                <a:solidFill>
                  <a:srgbClr val="003366"/>
                </a:solidFill>
                <a:latin typeface="Arial" panose="020B0604020202020204" pitchFamily="34" charset="0"/>
                <a:ea typeface="MS Gothic" panose="020B0609070205080204" pitchFamily="49" charset="-128"/>
              </a:defRPr>
            </a:lvl3pPr>
            <a:lvl4pPr marL="1600200" indent="-228600">
              <a:lnSpc>
                <a:spcPct val="93000"/>
              </a:lnSpc>
              <a:spcBef>
                <a:spcPts val="450"/>
              </a:spcBef>
              <a:buClr>
                <a:srgbClr val="003366"/>
              </a:buClr>
              <a:buSzPct val="80000"/>
              <a:buFont typeface="Arial" panose="020B0604020202020204" pitchFamily="34" charset="0"/>
              <a:buChar char="–"/>
              <a:defRPr>
                <a:solidFill>
                  <a:srgbClr val="003366"/>
                </a:solidFill>
                <a:latin typeface="Arial" panose="020B0604020202020204" pitchFamily="34" charset="0"/>
                <a:ea typeface="MS Gothic" panose="020B0609070205080204" pitchFamily="49" charset="-128"/>
              </a:defRPr>
            </a:lvl4pPr>
            <a:lvl5pPr marL="2057400" indent="-228600">
              <a:lnSpc>
                <a:spcPct val="93000"/>
              </a:lnSpc>
              <a:spcBef>
                <a:spcPts val="450"/>
              </a:spcBef>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5pPr>
            <a:lvl6pPr marL="25146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6pPr>
            <a:lvl7pPr marL="29718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7pPr>
            <a:lvl8pPr marL="34290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8pPr>
            <a:lvl9pPr marL="38862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9pPr>
          </a:lstStyle>
          <a:p>
            <a:pPr eaLnBrk="1" hangingPunct="1">
              <a:spcBef>
                <a:spcPct val="0"/>
              </a:spcBef>
              <a:buSzPct val="100000"/>
              <a:buFont typeface="Arial" panose="020B0604020202020204" pitchFamily="34" charset="0"/>
              <a:buNone/>
            </a:pPr>
            <a:r>
              <a:rPr lang="en-IE" altLang="en-US" sz="1800" dirty="0">
                <a:solidFill>
                  <a:srgbClr val="0070C0"/>
                </a:solidFill>
              </a:rPr>
              <a:t>GET Method call</a:t>
            </a:r>
          </a:p>
        </p:txBody>
      </p:sp>
      <p:sp>
        <p:nvSpPr>
          <p:cNvPr id="19" name="TextBox 10">
            <a:extLst>
              <a:ext uri="{FF2B5EF4-FFF2-40B4-BE49-F238E27FC236}">
                <a16:creationId xmlns:a16="http://schemas.microsoft.com/office/drawing/2014/main" id="{AE96BD88-4A33-4920-992D-23FE9037D4A1}"/>
              </a:ext>
            </a:extLst>
          </p:cNvPr>
          <p:cNvSpPr txBox="1">
            <a:spLocks noChangeArrowheads="1"/>
          </p:cNvSpPr>
          <p:nvPr/>
        </p:nvSpPr>
        <p:spPr bwMode="auto">
          <a:xfrm>
            <a:off x="274390" y="3019324"/>
            <a:ext cx="1489298" cy="349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3000"/>
              </a:lnSpc>
              <a:spcBef>
                <a:spcPts val="700"/>
              </a:spcBef>
              <a:buClr>
                <a:srgbClr val="003366"/>
              </a:buClr>
              <a:buSzPct val="75000"/>
              <a:buFont typeface="Wingdings" panose="05000000000000000000" pitchFamily="2" charset="2"/>
              <a:buChar char=""/>
              <a:defRPr sz="2800">
                <a:solidFill>
                  <a:srgbClr val="003366"/>
                </a:solidFill>
                <a:latin typeface="Arial" panose="020B0604020202020204" pitchFamily="34" charset="0"/>
                <a:ea typeface="MS Gothic" panose="020B0609070205080204" pitchFamily="49" charset="-128"/>
              </a:defRPr>
            </a:lvl1pPr>
            <a:lvl2pPr marL="742950" indent="-285750">
              <a:lnSpc>
                <a:spcPct val="93000"/>
              </a:lnSpc>
              <a:spcBef>
                <a:spcPts val="600"/>
              </a:spcBef>
              <a:buClr>
                <a:srgbClr val="003366"/>
              </a:buClr>
              <a:buSzPct val="75000"/>
              <a:buFont typeface="Arial" panose="020B0604020202020204" pitchFamily="34" charset="0"/>
              <a:buChar char="–"/>
              <a:defRPr sz="2400">
                <a:solidFill>
                  <a:srgbClr val="003366"/>
                </a:solidFill>
                <a:latin typeface="Arial" panose="020B0604020202020204" pitchFamily="34" charset="0"/>
                <a:ea typeface="MS Gothic" panose="020B0609070205080204" pitchFamily="49" charset="-128"/>
              </a:defRPr>
            </a:lvl2pPr>
            <a:lvl3pPr marL="1143000" indent="-228600">
              <a:lnSpc>
                <a:spcPct val="93000"/>
              </a:lnSpc>
              <a:spcBef>
                <a:spcPts val="500"/>
              </a:spcBef>
              <a:buClr>
                <a:srgbClr val="003366"/>
              </a:buClr>
              <a:buSzPct val="75000"/>
              <a:buFont typeface="Wingdings" panose="05000000000000000000" pitchFamily="2" charset="2"/>
              <a:buChar char=""/>
              <a:defRPr sz="2000">
                <a:solidFill>
                  <a:srgbClr val="003366"/>
                </a:solidFill>
                <a:latin typeface="Arial" panose="020B0604020202020204" pitchFamily="34" charset="0"/>
                <a:ea typeface="MS Gothic" panose="020B0609070205080204" pitchFamily="49" charset="-128"/>
              </a:defRPr>
            </a:lvl3pPr>
            <a:lvl4pPr marL="1600200" indent="-228600">
              <a:lnSpc>
                <a:spcPct val="93000"/>
              </a:lnSpc>
              <a:spcBef>
                <a:spcPts val="450"/>
              </a:spcBef>
              <a:buClr>
                <a:srgbClr val="003366"/>
              </a:buClr>
              <a:buSzPct val="80000"/>
              <a:buFont typeface="Arial" panose="020B0604020202020204" pitchFamily="34" charset="0"/>
              <a:buChar char="–"/>
              <a:defRPr>
                <a:solidFill>
                  <a:srgbClr val="003366"/>
                </a:solidFill>
                <a:latin typeface="Arial" panose="020B0604020202020204" pitchFamily="34" charset="0"/>
                <a:ea typeface="MS Gothic" panose="020B0609070205080204" pitchFamily="49" charset="-128"/>
              </a:defRPr>
            </a:lvl4pPr>
            <a:lvl5pPr marL="2057400" indent="-228600">
              <a:lnSpc>
                <a:spcPct val="93000"/>
              </a:lnSpc>
              <a:spcBef>
                <a:spcPts val="450"/>
              </a:spcBef>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5pPr>
            <a:lvl6pPr marL="25146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6pPr>
            <a:lvl7pPr marL="29718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7pPr>
            <a:lvl8pPr marL="34290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8pPr>
            <a:lvl9pPr marL="38862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9pPr>
          </a:lstStyle>
          <a:p>
            <a:pPr eaLnBrk="1" hangingPunct="1">
              <a:spcBef>
                <a:spcPct val="0"/>
              </a:spcBef>
              <a:buSzPct val="100000"/>
              <a:buFont typeface="Arial" panose="020B0604020202020204" pitchFamily="34" charset="0"/>
              <a:buNone/>
            </a:pPr>
            <a:r>
              <a:rPr lang="en-IE" altLang="en-US" sz="1800" dirty="0">
                <a:solidFill>
                  <a:srgbClr val="0070C0"/>
                </a:solidFill>
              </a:rPr>
              <a:t>Routed URI</a:t>
            </a:r>
          </a:p>
        </p:txBody>
      </p:sp>
      <p:sp>
        <p:nvSpPr>
          <p:cNvPr id="20" name="Arrow: Right 12">
            <a:extLst>
              <a:ext uri="{FF2B5EF4-FFF2-40B4-BE49-F238E27FC236}">
                <a16:creationId xmlns:a16="http://schemas.microsoft.com/office/drawing/2014/main" id="{5D9EB4F2-E21A-4DBE-A540-FE4E0AEAE5D0}"/>
              </a:ext>
            </a:extLst>
          </p:cNvPr>
          <p:cNvSpPr/>
          <p:nvPr/>
        </p:nvSpPr>
        <p:spPr>
          <a:xfrm rot="10800000">
            <a:off x="3989799" y="2161805"/>
            <a:ext cx="1138545" cy="299611"/>
          </a:xfrm>
          <a:prstGeom prst="rightArrow">
            <a:avLst>
              <a:gd name="adj1" fmla="val 43495"/>
              <a:gd name="adj2" fmla="val 50000"/>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IE"/>
          </a:p>
        </p:txBody>
      </p:sp>
      <p:sp>
        <p:nvSpPr>
          <p:cNvPr id="21" name="Arrow: Right 12">
            <a:extLst>
              <a:ext uri="{FF2B5EF4-FFF2-40B4-BE49-F238E27FC236}">
                <a16:creationId xmlns:a16="http://schemas.microsoft.com/office/drawing/2014/main" id="{BE513406-ADAA-4C7B-9384-3470DD9E6BAC}"/>
              </a:ext>
            </a:extLst>
          </p:cNvPr>
          <p:cNvSpPr/>
          <p:nvPr/>
        </p:nvSpPr>
        <p:spPr>
          <a:xfrm rot="10800000">
            <a:off x="5697375" y="1400176"/>
            <a:ext cx="332420" cy="299611"/>
          </a:xfrm>
          <a:prstGeom prst="rightArrow">
            <a:avLst>
              <a:gd name="adj1" fmla="val 43495"/>
              <a:gd name="adj2" fmla="val 50000"/>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IE"/>
          </a:p>
        </p:txBody>
      </p:sp>
      <p:pic>
        <p:nvPicPr>
          <p:cNvPr id="25" name="Picture 7">
            <a:extLst>
              <a:ext uri="{FF2B5EF4-FFF2-40B4-BE49-F238E27FC236}">
                <a16:creationId xmlns:a16="http://schemas.microsoft.com/office/drawing/2014/main" id="{4373D824-A1AF-492F-BF2E-AB5D081663E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22779"/>
          <a:stretch/>
        </p:blipFill>
        <p:spPr bwMode="auto">
          <a:xfrm>
            <a:off x="251520" y="996997"/>
            <a:ext cx="5222875" cy="1656184"/>
          </a:xfrm>
          <a:prstGeom prst="rect">
            <a:avLst/>
          </a:prstGeom>
          <a:noFill/>
          <a:ln>
            <a:noFill/>
          </a:ln>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26" name="Picture 3">
            <a:extLst>
              <a:ext uri="{FF2B5EF4-FFF2-40B4-BE49-F238E27FC236}">
                <a16:creationId xmlns:a16="http://schemas.microsoft.com/office/drawing/2014/main" id="{A97F8A8B-1383-48A3-9F32-2D2F39CF925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041" y="3784856"/>
            <a:ext cx="5610225" cy="781050"/>
          </a:xfrm>
          <a:prstGeom prst="rect">
            <a:avLst/>
          </a:prstGeom>
          <a:noFill/>
          <a:ln>
            <a:noFill/>
          </a:ln>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lgn="ctr">
                <a:solidFill>
                  <a:schemeClr val="tx1"/>
                </a:solidFill>
                <a:miter lim="800000"/>
                <a:headEnd/>
                <a:tailEnd/>
              </a14:hiddenLine>
            </a:ext>
          </a:extLst>
        </p:spPr>
      </p:pic>
      <p:sp>
        <p:nvSpPr>
          <p:cNvPr id="27" name="TextBox 10">
            <a:extLst>
              <a:ext uri="{FF2B5EF4-FFF2-40B4-BE49-F238E27FC236}">
                <a16:creationId xmlns:a16="http://schemas.microsoft.com/office/drawing/2014/main" id="{D7897CF3-ECBF-4302-8711-96E338153577}"/>
              </a:ext>
            </a:extLst>
          </p:cNvPr>
          <p:cNvSpPr txBox="1">
            <a:spLocks noChangeArrowheads="1"/>
          </p:cNvSpPr>
          <p:nvPr/>
        </p:nvSpPr>
        <p:spPr bwMode="auto">
          <a:xfrm>
            <a:off x="3989799" y="3023226"/>
            <a:ext cx="1890128" cy="349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3000"/>
              </a:lnSpc>
              <a:spcBef>
                <a:spcPts val="700"/>
              </a:spcBef>
              <a:buClr>
                <a:srgbClr val="003366"/>
              </a:buClr>
              <a:buSzPct val="75000"/>
              <a:buFont typeface="Wingdings" panose="05000000000000000000" pitchFamily="2" charset="2"/>
              <a:buChar char=""/>
              <a:defRPr sz="2800">
                <a:solidFill>
                  <a:srgbClr val="003366"/>
                </a:solidFill>
                <a:latin typeface="Arial" panose="020B0604020202020204" pitchFamily="34" charset="0"/>
                <a:ea typeface="MS Gothic" panose="020B0609070205080204" pitchFamily="49" charset="-128"/>
              </a:defRPr>
            </a:lvl1pPr>
            <a:lvl2pPr marL="742950" indent="-285750">
              <a:lnSpc>
                <a:spcPct val="93000"/>
              </a:lnSpc>
              <a:spcBef>
                <a:spcPts val="600"/>
              </a:spcBef>
              <a:buClr>
                <a:srgbClr val="003366"/>
              </a:buClr>
              <a:buSzPct val="75000"/>
              <a:buFont typeface="Arial" panose="020B0604020202020204" pitchFamily="34" charset="0"/>
              <a:buChar char="–"/>
              <a:defRPr sz="2400">
                <a:solidFill>
                  <a:srgbClr val="003366"/>
                </a:solidFill>
                <a:latin typeface="Arial" panose="020B0604020202020204" pitchFamily="34" charset="0"/>
                <a:ea typeface="MS Gothic" panose="020B0609070205080204" pitchFamily="49" charset="-128"/>
              </a:defRPr>
            </a:lvl2pPr>
            <a:lvl3pPr marL="1143000" indent="-228600">
              <a:lnSpc>
                <a:spcPct val="93000"/>
              </a:lnSpc>
              <a:spcBef>
                <a:spcPts val="500"/>
              </a:spcBef>
              <a:buClr>
                <a:srgbClr val="003366"/>
              </a:buClr>
              <a:buSzPct val="75000"/>
              <a:buFont typeface="Wingdings" panose="05000000000000000000" pitchFamily="2" charset="2"/>
              <a:buChar char=""/>
              <a:defRPr sz="2000">
                <a:solidFill>
                  <a:srgbClr val="003366"/>
                </a:solidFill>
                <a:latin typeface="Arial" panose="020B0604020202020204" pitchFamily="34" charset="0"/>
                <a:ea typeface="MS Gothic" panose="020B0609070205080204" pitchFamily="49" charset="-128"/>
              </a:defRPr>
            </a:lvl3pPr>
            <a:lvl4pPr marL="1600200" indent="-228600">
              <a:lnSpc>
                <a:spcPct val="93000"/>
              </a:lnSpc>
              <a:spcBef>
                <a:spcPts val="450"/>
              </a:spcBef>
              <a:buClr>
                <a:srgbClr val="003366"/>
              </a:buClr>
              <a:buSzPct val="80000"/>
              <a:buFont typeface="Arial" panose="020B0604020202020204" pitchFamily="34" charset="0"/>
              <a:buChar char="–"/>
              <a:defRPr>
                <a:solidFill>
                  <a:srgbClr val="003366"/>
                </a:solidFill>
                <a:latin typeface="Arial" panose="020B0604020202020204" pitchFamily="34" charset="0"/>
                <a:ea typeface="MS Gothic" panose="020B0609070205080204" pitchFamily="49" charset="-128"/>
              </a:defRPr>
            </a:lvl4pPr>
            <a:lvl5pPr marL="2057400" indent="-228600">
              <a:lnSpc>
                <a:spcPct val="93000"/>
              </a:lnSpc>
              <a:spcBef>
                <a:spcPts val="450"/>
              </a:spcBef>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5pPr>
            <a:lvl6pPr marL="25146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6pPr>
            <a:lvl7pPr marL="29718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7pPr>
            <a:lvl8pPr marL="34290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8pPr>
            <a:lvl9pPr marL="38862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9pPr>
          </a:lstStyle>
          <a:p>
            <a:pPr eaLnBrk="1" hangingPunct="1">
              <a:spcBef>
                <a:spcPct val="0"/>
              </a:spcBef>
              <a:buSzPct val="100000"/>
              <a:buFont typeface="Arial" panose="020B0604020202020204" pitchFamily="34" charset="0"/>
              <a:buNone/>
            </a:pPr>
            <a:r>
              <a:rPr lang="en-IE" altLang="en-US" sz="1800" dirty="0">
                <a:solidFill>
                  <a:srgbClr val="0070C0"/>
                </a:solidFill>
              </a:rPr>
              <a:t>PHP Function</a:t>
            </a:r>
          </a:p>
        </p:txBody>
      </p:sp>
      <p:sp>
        <p:nvSpPr>
          <p:cNvPr id="28" name="TextBox 10">
            <a:extLst>
              <a:ext uri="{FF2B5EF4-FFF2-40B4-BE49-F238E27FC236}">
                <a16:creationId xmlns:a16="http://schemas.microsoft.com/office/drawing/2014/main" id="{E3072E25-3EBB-49E3-AB85-58353B9751AD}"/>
              </a:ext>
            </a:extLst>
          </p:cNvPr>
          <p:cNvSpPr txBox="1">
            <a:spLocks noChangeArrowheads="1"/>
          </p:cNvSpPr>
          <p:nvPr/>
        </p:nvSpPr>
        <p:spPr bwMode="auto">
          <a:xfrm>
            <a:off x="2284301" y="2997510"/>
            <a:ext cx="1489298" cy="349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3000"/>
              </a:lnSpc>
              <a:spcBef>
                <a:spcPts val="700"/>
              </a:spcBef>
              <a:buClr>
                <a:srgbClr val="003366"/>
              </a:buClr>
              <a:buSzPct val="75000"/>
              <a:buFont typeface="Wingdings" panose="05000000000000000000" pitchFamily="2" charset="2"/>
              <a:buChar char=""/>
              <a:defRPr sz="2800">
                <a:solidFill>
                  <a:srgbClr val="003366"/>
                </a:solidFill>
                <a:latin typeface="Arial" panose="020B0604020202020204" pitchFamily="34" charset="0"/>
                <a:ea typeface="MS Gothic" panose="020B0609070205080204" pitchFamily="49" charset="-128"/>
              </a:defRPr>
            </a:lvl1pPr>
            <a:lvl2pPr marL="742950" indent="-285750">
              <a:lnSpc>
                <a:spcPct val="93000"/>
              </a:lnSpc>
              <a:spcBef>
                <a:spcPts val="600"/>
              </a:spcBef>
              <a:buClr>
                <a:srgbClr val="003366"/>
              </a:buClr>
              <a:buSzPct val="75000"/>
              <a:buFont typeface="Arial" panose="020B0604020202020204" pitchFamily="34" charset="0"/>
              <a:buChar char="–"/>
              <a:defRPr sz="2400">
                <a:solidFill>
                  <a:srgbClr val="003366"/>
                </a:solidFill>
                <a:latin typeface="Arial" panose="020B0604020202020204" pitchFamily="34" charset="0"/>
                <a:ea typeface="MS Gothic" panose="020B0609070205080204" pitchFamily="49" charset="-128"/>
              </a:defRPr>
            </a:lvl2pPr>
            <a:lvl3pPr marL="1143000" indent="-228600">
              <a:lnSpc>
                <a:spcPct val="93000"/>
              </a:lnSpc>
              <a:spcBef>
                <a:spcPts val="500"/>
              </a:spcBef>
              <a:buClr>
                <a:srgbClr val="003366"/>
              </a:buClr>
              <a:buSzPct val="75000"/>
              <a:buFont typeface="Wingdings" panose="05000000000000000000" pitchFamily="2" charset="2"/>
              <a:buChar char=""/>
              <a:defRPr sz="2000">
                <a:solidFill>
                  <a:srgbClr val="003366"/>
                </a:solidFill>
                <a:latin typeface="Arial" panose="020B0604020202020204" pitchFamily="34" charset="0"/>
                <a:ea typeface="MS Gothic" panose="020B0609070205080204" pitchFamily="49" charset="-128"/>
              </a:defRPr>
            </a:lvl3pPr>
            <a:lvl4pPr marL="1600200" indent="-228600">
              <a:lnSpc>
                <a:spcPct val="93000"/>
              </a:lnSpc>
              <a:spcBef>
                <a:spcPts val="450"/>
              </a:spcBef>
              <a:buClr>
                <a:srgbClr val="003366"/>
              </a:buClr>
              <a:buSzPct val="80000"/>
              <a:buFont typeface="Arial" panose="020B0604020202020204" pitchFamily="34" charset="0"/>
              <a:buChar char="–"/>
              <a:defRPr>
                <a:solidFill>
                  <a:srgbClr val="003366"/>
                </a:solidFill>
                <a:latin typeface="Arial" panose="020B0604020202020204" pitchFamily="34" charset="0"/>
                <a:ea typeface="MS Gothic" panose="020B0609070205080204" pitchFamily="49" charset="-128"/>
              </a:defRPr>
            </a:lvl4pPr>
            <a:lvl5pPr marL="2057400" indent="-228600">
              <a:lnSpc>
                <a:spcPct val="93000"/>
              </a:lnSpc>
              <a:spcBef>
                <a:spcPts val="450"/>
              </a:spcBef>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5pPr>
            <a:lvl6pPr marL="25146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6pPr>
            <a:lvl7pPr marL="29718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7pPr>
            <a:lvl8pPr marL="34290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8pPr>
            <a:lvl9pPr marL="38862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9pPr>
          </a:lstStyle>
          <a:p>
            <a:pPr eaLnBrk="1" hangingPunct="1">
              <a:spcBef>
                <a:spcPct val="0"/>
              </a:spcBef>
              <a:buSzPct val="100000"/>
              <a:buFont typeface="Arial" panose="020B0604020202020204" pitchFamily="34" charset="0"/>
              <a:buNone/>
            </a:pPr>
            <a:r>
              <a:rPr lang="en-IE" altLang="en-US" sz="1800" dirty="0">
                <a:solidFill>
                  <a:srgbClr val="0070C0"/>
                </a:solidFill>
              </a:rPr>
              <a:t>Parameter</a:t>
            </a:r>
          </a:p>
        </p:txBody>
      </p:sp>
      <p:sp>
        <p:nvSpPr>
          <p:cNvPr id="29" name="Rectangle 2">
            <a:extLst>
              <a:ext uri="{FF2B5EF4-FFF2-40B4-BE49-F238E27FC236}">
                <a16:creationId xmlns:a16="http://schemas.microsoft.com/office/drawing/2014/main" id="{174802BC-B69C-436A-8482-03CE739BAF99}"/>
              </a:ext>
            </a:extLst>
          </p:cNvPr>
          <p:cNvSpPr>
            <a:spLocks noChangeArrowheads="1"/>
          </p:cNvSpPr>
          <p:nvPr/>
        </p:nvSpPr>
        <p:spPr bwMode="auto">
          <a:xfrm>
            <a:off x="-79264" y="5484374"/>
            <a:ext cx="9004189" cy="43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3000"/>
              </a:lnSpc>
              <a:spcBef>
                <a:spcPts val="700"/>
              </a:spcBef>
              <a:buClr>
                <a:srgbClr val="003366"/>
              </a:buClr>
              <a:buSzPct val="75000"/>
              <a:buFont typeface="Wingdings" panose="05000000000000000000" pitchFamily="2" charset="2"/>
              <a:buChar char=""/>
              <a:defRPr sz="2800">
                <a:solidFill>
                  <a:srgbClr val="003366"/>
                </a:solidFill>
                <a:latin typeface="Arial" panose="020B0604020202020204" pitchFamily="34" charset="0"/>
                <a:ea typeface="MS Gothic" panose="020B0609070205080204" pitchFamily="49" charset="-128"/>
              </a:defRPr>
            </a:lvl1pPr>
            <a:lvl2pPr marL="742950" indent="-285750">
              <a:lnSpc>
                <a:spcPct val="93000"/>
              </a:lnSpc>
              <a:spcBef>
                <a:spcPts val="600"/>
              </a:spcBef>
              <a:buClr>
                <a:srgbClr val="003366"/>
              </a:buClr>
              <a:buSzPct val="75000"/>
              <a:buFont typeface="Arial" panose="020B0604020202020204" pitchFamily="34" charset="0"/>
              <a:buChar char="–"/>
              <a:defRPr sz="2400">
                <a:solidFill>
                  <a:srgbClr val="003366"/>
                </a:solidFill>
                <a:latin typeface="Arial" panose="020B0604020202020204" pitchFamily="34" charset="0"/>
                <a:ea typeface="MS Gothic" panose="020B0609070205080204" pitchFamily="49" charset="-128"/>
              </a:defRPr>
            </a:lvl2pPr>
            <a:lvl3pPr marL="1143000" indent="-228600">
              <a:lnSpc>
                <a:spcPct val="93000"/>
              </a:lnSpc>
              <a:spcBef>
                <a:spcPts val="500"/>
              </a:spcBef>
              <a:buClr>
                <a:srgbClr val="003366"/>
              </a:buClr>
              <a:buSzPct val="75000"/>
              <a:buFont typeface="Wingdings" panose="05000000000000000000" pitchFamily="2" charset="2"/>
              <a:buChar char=""/>
              <a:defRPr sz="2000">
                <a:solidFill>
                  <a:srgbClr val="003366"/>
                </a:solidFill>
                <a:latin typeface="Arial" panose="020B0604020202020204" pitchFamily="34" charset="0"/>
                <a:ea typeface="MS Gothic" panose="020B0609070205080204" pitchFamily="49" charset="-128"/>
              </a:defRPr>
            </a:lvl3pPr>
            <a:lvl4pPr marL="1600200" indent="-228600">
              <a:lnSpc>
                <a:spcPct val="93000"/>
              </a:lnSpc>
              <a:spcBef>
                <a:spcPts val="450"/>
              </a:spcBef>
              <a:buClr>
                <a:srgbClr val="003366"/>
              </a:buClr>
              <a:buSzPct val="80000"/>
              <a:buFont typeface="Arial" panose="020B0604020202020204" pitchFamily="34" charset="0"/>
              <a:buChar char="–"/>
              <a:defRPr>
                <a:solidFill>
                  <a:srgbClr val="003366"/>
                </a:solidFill>
                <a:latin typeface="Arial" panose="020B0604020202020204" pitchFamily="34" charset="0"/>
                <a:ea typeface="MS Gothic" panose="020B0609070205080204" pitchFamily="49" charset="-128"/>
              </a:defRPr>
            </a:lvl4pPr>
            <a:lvl5pPr marL="2057400" indent="-228600">
              <a:lnSpc>
                <a:spcPct val="93000"/>
              </a:lnSpc>
              <a:spcBef>
                <a:spcPts val="450"/>
              </a:spcBef>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5pPr>
            <a:lvl6pPr marL="25146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6pPr>
            <a:lvl7pPr marL="29718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7pPr>
            <a:lvl8pPr marL="34290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8pPr>
            <a:lvl9pPr marL="3886200" indent="-228600" defTabSz="449263" eaLnBrk="0" fontAlgn="base" hangingPunct="0">
              <a:lnSpc>
                <a:spcPct val="93000"/>
              </a:lnSpc>
              <a:spcBef>
                <a:spcPts val="450"/>
              </a:spcBef>
              <a:spcAft>
                <a:spcPct val="0"/>
              </a:spcAft>
              <a:buClr>
                <a:srgbClr val="003366"/>
              </a:buClr>
              <a:buSzPct val="65000"/>
              <a:buFont typeface="Wingdings" panose="05000000000000000000" pitchFamily="2" charset="2"/>
              <a:buChar char=""/>
              <a:defRPr>
                <a:solidFill>
                  <a:srgbClr val="003366"/>
                </a:solidFill>
                <a:latin typeface="Arial" panose="020B0604020202020204" pitchFamily="34" charset="0"/>
                <a:ea typeface="MS Gothic" panose="020B0609070205080204" pitchFamily="49" charset="-128"/>
              </a:defRPr>
            </a:lvl9pPr>
          </a:lstStyle>
          <a:p>
            <a:pPr algn="ctr" eaLnBrk="1" hangingPunct="1">
              <a:spcBef>
                <a:spcPct val="0"/>
              </a:spcBef>
              <a:buSzPct val="100000"/>
              <a:buFont typeface="Arial" panose="020B0604020202020204" pitchFamily="34" charset="0"/>
              <a:buNone/>
            </a:pPr>
            <a:r>
              <a:rPr lang="en-IE" altLang="en-US" sz="2400" dirty="0">
                <a:solidFill>
                  <a:schemeClr val="tx1"/>
                </a:solidFill>
                <a:hlinkClick r:id="rId6"/>
              </a:rPr>
              <a:t>https://www.slimframework.com/docs/v4/objects/routing.html</a:t>
            </a:r>
            <a:endParaRPr lang="en-IE" altLang="en-US" sz="2400" dirty="0">
              <a:solidFill>
                <a:schemeClr val="tx1"/>
              </a:solidFill>
            </a:endParaRPr>
          </a:p>
        </p:txBody>
      </p:sp>
      <p:sp>
        <p:nvSpPr>
          <p:cNvPr id="24" name="Arrow: Right 12">
            <a:extLst>
              <a:ext uri="{FF2B5EF4-FFF2-40B4-BE49-F238E27FC236}">
                <a16:creationId xmlns:a16="http://schemas.microsoft.com/office/drawing/2014/main" id="{51EBFE5D-F4FD-43F9-A5C9-440AF5CD859C}"/>
              </a:ext>
            </a:extLst>
          </p:cNvPr>
          <p:cNvSpPr/>
          <p:nvPr/>
        </p:nvSpPr>
        <p:spPr>
          <a:xfrm rot="5400000">
            <a:off x="4593099" y="3399918"/>
            <a:ext cx="332420" cy="299611"/>
          </a:xfrm>
          <a:prstGeom prst="rightArrow">
            <a:avLst>
              <a:gd name="adj1" fmla="val 43495"/>
              <a:gd name="adj2" fmla="val 50000"/>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IE"/>
          </a:p>
        </p:txBody>
      </p:sp>
      <p:sp>
        <p:nvSpPr>
          <p:cNvPr id="30" name="Arrow: Right 12">
            <a:extLst>
              <a:ext uri="{FF2B5EF4-FFF2-40B4-BE49-F238E27FC236}">
                <a16:creationId xmlns:a16="http://schemas.microsoft.com/office/drawing/2014/main" id="{A92D9E2F-264A-4223-900E-A8DFEC638CE9}"/>
              </a:ext>
            </a:extLst>
          </p:cNvPr>
          <p:cNvSpPr/>
          <p:nvPr/>
        </p:nvSpPr>
        <p:spPr>
          <a:xfrm rot="5400000">
            <a:off x="2755395" y="3385697"/>
            <a:ext cx="332420" cy="299611"/>
          </a:xfrm>
          <a:prstGeom prst="rightArrow">
            <a:avLst>
              <a:gd name="adj1" fmla="val 43495"/>
              <a:gd name="adj2" fmla="val 50000"/>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IE"/>
          </a:p>
        </p:txBody>
      </p:sp>
      <p:sp>
        <p:nvSpPr>
          <p:cNvPr id="31" name="Arrow: Right 12">
            <a:extLst>
              <a:ext uri="{FF2B5EF4-FFF2-40B4-BE49-F238E27FC236}">
                <a16:creationId xmlns:a16="http://schemas.microsoft.com/office/drawing/2014/main" id="{36617198-70B2-46BD-990D-34038C53533F}"/>
              </a:ext>
            </a:extLst>
          </p:cNvPr>
          <p:cNvSpPr/>
          <p:nvPr/>
        </p:nvSpPr>
        <p:spPr>
          <a:xfrm rot="5400000">
            <a:off x="852828" y="3399918"/>
            <a:ext cx="332420" cy="299611"/>
          </a:xfrm>
          <a:prstGeom prst="rightArrow">
            <a:avLst>
              <a:gd name="adj1" fmla="val 43495"/>
              <a:gd name="adj2" fmla="val 50000"/>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endParaRPr lang="en-IE"/>
          </a:p>
        </p:txBody>
      </p:sp>
    </p:spTree>
    <p:extLst>
      <p:ext uri="{BB962C8B-B14F-4D97-AF65-F5344CB8AC3E}">
        <p14:creationId xmlns:p14="http://schemas.microsoft.com/office/powerpoint/2010/main" val="13705719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1F1F-46F2-FB4D-9772-87D45EF3B006}"/>
              </a:ext>
            </a:extLst>
          </p:cNvPr>
          <p:cNvSpPr>
            <a:spLocks noGrp="1"/>
          </p:cNvSpPr>
          <p:nvPr>
            <p:ph type="title"/>
          </p:nvPr>
        </p:nvSpPr>
        <p:spPr>
          <a:xfrm>
            <a:off x="0" y="0"/>
            <a:ext cx="9144000" cy="687388"/>
          </a:xfrm>
          <a:effectLst>
            <a:outerShdw blurRad="50800" dist="38100" dir="5400000" algn="t" rotWithShape="0">
              <a:srgbClr val="000000">
                <a:alpha val="39999"/>
              </a:srgbClr>
            </a:outerShdw>
          </a:effectLst>
        </p:spPr>
        <p:txBody>
          <a:bodyPr/>
          <a:lstStyle/>
          <a:p>
            <a:pPr eaLnBrk="1" fontAlgn="auto" hangingPunct="1">
              <a:spcAft>
                <a:spcPts val="0"/>
              </a:spcAft>
              <a:defRPr/>
            </a:pPr>
            <a:r>
              <a:rPr lang="en-IE" dirty="0"/>
              <a:t>REST and PHP Wine App</a:t>
            </a:r>
          </a:p>
        </p:txBody>
      </p:sp>
      <p:sp>
        <p:nvSpPr>
          <p:cNvPr id="4" name="Footer Placeholder 3">
            <a:extLst>
              <a:ext uri="{FF2B5EF4-FFF2-40B4-BE49-F238E27FC236}">
                <a16:creationId xmlns:a16="http://schemas.microsoft.com/office/drawing/2014/main" id="{196C2B33-9AD2-F344-B60E-FAE21ED778DA}"/>
              </a:ext>
            </a:extLst>
          </p:cNvPr>
          <p:cNvSpPr>
            <a:spLocks noGrp="1"/>
          </p:cNvSpPr>
          <p:nvPr>
            <p:ph type="ftr" sz="quarter" idx="11"/>
          </p:nvPr>
        </p:nvSpPr>
        <p:spPr/>
        <p:txBody>
          <a:bodyPr/>
          <a:lstStyle/>
          <a:p>
            <a:pPr>
              <a:defRPr/>
            </a:pPr>
            <a:r>
              <a:rPr lang="en-IE" dirty="0"/>
              <a:t>Web Development 3 (2020)</a:t>
            </a:r>
            <a:endParaRPr lang="en-GB" dirty="0"/>
          </a:p>
        </p:txBody>
      </p:sp>
      <p:pic>
        <p:nvPicPr>
          <p:cNvPr id="6" name="Picture 4">
            <a:extLst>
              <a:ext uri="{FF2B5EF4-FFF2-40B4-BE49-F238E27FC236}">
                <a16:creationId xmlns:a16="http://schemas.microsoft.com/office/drawing/2014/main" id="{A3963B63-F00B-AD43-AC8A-F80BE24D25AF}"/>
              </a:ext>
            </a:extLst>
          </p:cNvPr>
          <p:cNvPicPr>
            <a:picLocks noChangeAspect="1"/>
          </p:cNvPicPr>
          <p:nvPr/>
        </p:nvPicPr>
        <p:blipFill>
          <a:blip r:embed="rId3">
            <a:clrChange>
              <a:clrFrom>
                <a:srgbClr val="FFFFFF"/>
              </a:clrFrom>
              <a:clrTo>
                <a:srgbClr val="FFFFFF">
                  <a:alpha val="0"/>
                </a:srgbClr>
              </a:clrTo>
            </a:clrChange>
          </a:blip>
          <a:srcRect/>
          <a:stretch>
            <a:fillRect/>
          </a:stretch>
        </p:blipFill>
        <p:spPr bwMode="auto">
          <a:xfrm>
            <a:off x="7920038" y="-17463"/>
            <a:ext cx="1116012" cy="731838"/>
          </a:xfrm>
          <a:prstGeom prst="rect">
            <a:avLst/>
          </a:prstGeom>
          <a:noFill/>
          <a:ln>
            <a:noFill/>
          </a:ln>
          <a:effectLst>
            <a:outerShdw blurRad="50800" dist="38100" dir="2700000" algn="tl" rotWithShape="0">
              <a:prstClr val="black">
                <a:alpha val="40000"/>
              </a:prstClr>
            </a:outerShdw>
          </a:effectLst>
        </p:spPr>
      </p:pic>
      <p:sp>
        <p:nvSpPr>
          <p:cNvPr id="3" name="Date Placeholder 2">
            <a:extLst>
              <a:ext uri="{FF2B5EF4-FFF2-40B4-BE49-F238E27FC236}">
                <a16:creationId xmlns:a16="http://schemas.microsoft.com/office/drawing/2014/main" id="{35203ABF-3661-0144-AC7E-B4C895482513}"/>
              </a:ext>
            </a:extLst>
          </p:cNvPr>
          <p:cNvSpPr>
            <a:spLocks noGrp="1"/>
          </p:cNvSpPr>
          <p:nvPr>
            <p:ph type="dt" sz="quarter" idx="10"/>
          </p:nvPr>
        </p:nvSpPr>
        <p:spPr/>
        <p:txBody>
          <a:bodyPr/>
          <a:lstStyle/>
          <a:p>
            <a:pPr>
              <a:defRPr/>
            </a:pPr>
            <a:fld id="{46E6891B-15A0-5E41-A998-A75162B34ED2}" type="datetime1">
              <a:rPr lang="en-IE"/>
              <a:pPr>
                <a:defRPr/>
              </a:pPr>
              <a:t>01/10/2020</a:t>
            </a:fld>
            <a:endParaRPr lang="en-US" dirty="0"/>
          </a:p>
        </p:txBody>
      </p:sp>
      <p:sp>
        <p:nvSpPr>
          <p:cNvPr id="5" name="Slide Number Placeholder 4">
            <a:extLst>
              <a:ext uri="{FF2B5EF4-FFF2-40B4-BE49-F238E27FC236}">
                <a16:creationId xmlns:a16="http://schemas.microsoft.com/office/drawing/2014/main" id="{96B9E42F-6E35-4441-A6A0-1777608CF654}"/>
              </a:ext>
            </a:extLst>
          </p:cNvPr>
          <p:cNvSpPr>
            <a:spLocks noGrp="1"/>
          </p:cNvSpPr>
          <p:nvPr>
            <p:ph type="sldNum" sz="quarter" idx="12"/>
          </p:nvPr>
        </p:nvSpPr>
        <p:spPr/>
        <p:txBody>
          <a:bodyPr/>
          <a:lstStyle/>
          <a:p>
            <a:pPr>
              <a:defRPr/>
            </a:pPr>
            <a:fld id="{C45812F7-FCBD-B04C-8A4C-B0062CB737B5}" type="slidenum">
              <a:rPr lang="en-GB" altLang="en-US" smtClean="0"/>
              <a:pPr>
                <a:defRPr/>
              </a:pPr>
              <a:t>43</a:t>
            </a:fld>
            <a:endParaRPr lang="en-GB" altLang="en-US" dirty="0"/>
          </a:p>
        </p:txBody>
      </p:sp>
      <p:pic>
        <p:nvPicPr>
          <p:cNvPr id="22" name="Picture 2">
            <a:extLst>
              <a:ext uri="{FF2B5EF4-FFF2-40B4-BE49-F238E27FC236}">
                <a16:creationId xmlns:a16="http://schemas.microsoft.com/office/drawing/2014/main" id="{17EB0A28-D24E-401A-BDEE-9F36F17581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20" y="1052736"/>
            <a:ext cx="8539006" cy="2933725"/>
          </a:xfrm>
          <a:prstGeom prst="rect">
            <a:avLst/>
          </a:prstGeom>
          <a:noFill/>
          <a:ln>
            <a:noFill/>
          </a:ln>
          <a:extLst>
            <a:ext uri="{909E8E84-426E-40DD-AFC4-6F175D3DCCD1}">
              <a14:hiddenFill xmlns:a14="http://schemas.microsoft.com/office/drawing/2010/main">
                <a:solidFill>
                  <a:srgbClr val="00B8FF"/>
                </a:solidFill>
              </a14:hiddenFill>
            </a:ext>
            <a:ext uri="{91240B29-F687-4F45-9708-019B960494DF}">
              <a14:hiddenLine xmlns:a14="http://schemas.microsoft.com/office/drawing/2010/main" w="9525" algn="ctr">
                <a:solidFill>
                  <a:schemeClr val="tx1"/>
                </a:solidFill>
                <a:miter lim="800000"/>
                <a:headEnd/>
                <a:tailEnd/>
              </a14:hiddenLine>
            </a:ext>
          </a:extLst>
        </p:spPr>
      </p:pic>
    </p:spTree>
    <p:extLst>
      <p:ext uri="{BB962C8B-B14F-4D97-AF65-F5344CB8AC3E}">
        <p14:creationId xmlns:p14="http://schemas.microsoft.com/office/powerpoint/2010/main" val="28521940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9080</TotalTime>
  <Words>2456</Words>
  <Application>Microsoft Office PowerPoint</Application>
  <PresentationFormat>On-screen Show (4:3)</PresentationFormat>
  <Paragraphs>435</Paragraphs>
  <Slides>43</Slides>
  <Notes>35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Calibri</vt:lpstr>
      <vt:lpstr>Calibri Light</vt:lpstr>
      <vt:lpstr>Times New Roman</vt:lpstr>
      <vt:lpstr>Office Theme</vt:lpstr>
      <vt:lpstr> Web Development 3</vt:lpstr>
      <vt:lpstr>Topics</vt:lpstr>
      <vt:lpstr>Basic Web Architecture</vt:lpstr>
      <vt:lpstr>Web Browser</vt:lpstr>
      <vt:lpstr>Web Server</vt:lpstr>
      <vt:lpstr>REST Overview</vt:lpstr>
      <vt:lpstr>REST Overview</vt:lpstr>
      <vt:lpstr>URI’s and URL’s</vt:lpstr>
      <vt:lpstr>Uniform Resource Locator - URL</vt:lpstr>
      <vt:lpstr>HTTP Requests</vt:lpstr>
      <vt:lpstr>HTTP GET - Example</vt:lpstr>
      <vt:lpstr>HTTP POST - Example</vt:lpstr>
      <vt:lpstr>HTTP Responses</vt:lpstr>
      <vt:lpstr>HTTP Response - Example</vt:lpstr>
      <vt:lpstr>HTTP Request Methods</vt:lpstr>
      <vt:lpstr>HTTP Request – Safe Methods</vt:lpstr>
      <vt:lpstr>HTTP Status Codes</vt:lpstr>
      <vt:lpstr>HTTP Session State</vt:lpstr>
      <vt:lpstr>Traditional uses of JavaScript</vt:lpstr>
      <vt:lpstr>Traditional Server-Side Processing</vt:lpstr>
      <vt:lpstr>Traditional Client-Side Processing</vt:lpstr>
      <vt:lpstr>Rich Internet Applications</vt:lpstr>
      <vt:lpstr>Server and Client Side processing</vt:lpstr>
      <vt:lpstr>Classic vs. AJAX web application</vt:lpstr>
      <vt:lpstr>Classic vs. AJAX web application</vt:lpstr>
      <vt:lpstr>Web Services</vt:lpstr>
      <vt:lpstr>Web Services</vt:lpstr>
      <vt:lpstr>CRUD, HTTP, SQL Mappings</vt:lpstr>
      <vt:lpstr>REST URI Examples</vt:lpstr>
      <vt:lpstr>REST – Identifying Resources</vt:lpstr>
      <vt:lpstr>REST – Representations of Resources</vt:lpstr>
      <vt:lpstr>REST – JSON</vt:lpstr>
      <vt:lpstr>REST – JSON Syntax</vt:lpstr>
      <vt:lpstr>REST – JSON Example</vt:lpstr>
      <vt:lpstr>REST – JSON Objects Another Example</vt:lpstr>
      <vt:lpstr>REST – JSON Collection of Objects</vt:lpstr>
      <vt:lpstr>REST – JSON DataTypes</vt:lpstr>
      <vt:lpstr>REST – JSON Collection of Objects in PHP</vt:lpstr>
      <vt:lpstr>REST and PHP</vt:lpstr>
      <vt:lpstr>REST and PHP</vt:lpstr>
      <vt:lpstr>REST and PHP</vt:lpstr>
      <vt:lpstr>REST and PHP</vt:lpstr>
      <vt:lpstr>REST and PHP Wine App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Mary Giblin</dc:creator>
  <cp:lastModifiedBy>James Byrne</cp:lastModifiedBy>
  <cp:revision>582</cp:revision>
  <cp:lastPrinted>2019-09-17T14:19:02Z</cp:lastPrinted>
  <dcterms:modified xsi:type="dcterms:W3CDTF">2020-10-01T20:27:16Z</dcterms:modified>
</cp:coreProperties>
</file>