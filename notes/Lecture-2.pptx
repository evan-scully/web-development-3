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468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31800" y="101599"/>
            <a:ext cx="9804399" cy="7353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431800" y="101599"/>
            <a:ext cx="9804400" cy="8442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431800" y="101599"/>
            <a:ext cx="3243072" cy="97840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431800" y="104647"/>
            <a:ext cx="9802368" cy="7406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431800" y="106706"/>
            <a:ext cx="9801225" cy="737235"/>
          </a:xfrm>
          <a:custGeom>
            <a:avLst/>
            <a:gdLst/>
            <a:ahLst/>
            <a:cxnLst/>
            <a:rect l="l" t="t" r="r" b="b"/>
            <a:pathLst>
              <a:path w="9801225" h="737235">
                <a:moveTo>
                  <a:pt x="0" y="0"/>
                </a:moveTo>
                <a:lnTo>
                  <a:pt x="9800994" y="0"/>
                </a:lnTo>
                <a:lnTo>
                  <a:pt x="9800994" y="737031"/>
                </a:lnTo>
                <a:lnTo>
                  <a:pt x="0" y="737031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31800" y="101599"/>
            <a:ext cx="9804399" cy="73532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31800" y="101599"/>
            <a:ext cx="9804399" cy="73532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921" y="168655"/>
            <a:ext cx="9203556" cy="55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23887" y="1827530"/>
            <a:ext cx="7794625" cy="3324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01170" y="7027002"/>
            <a:ext cx="189865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18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4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10" Type="http://schemas.openxmlformats.org/officeDocument/2006/relationships/image" Target="../media/image28.png"/><Relationship Id="rId4" Type="http://schemas.openxmlformats.org/officeDocument/2006/relationships/image" Target="../media/image10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3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4.png"/><Relationship Id="rId10" Type="http://schemas.openxmlformats.org/officeDocument/2006/relationships/image" Target="../media/image37.jpg"/><Relationship Id="rId4" Type="http://schemas.openxmlformats.org/officeDocument/2006/relationships/image" Target="../media/image10.png"/><Relationship Id="rId9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38.png"/><Relationship Id="rId4" Type="http://schemas.openxmlformats.org/officeDocument/2006/relationships/image" Target="../media/image10.png"/><Relationship Id="rId9" Type="http://schemas.openxmlformats.org/officeDocument/2006/relationships/image" Target="../media/image39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0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1.png"/><Relationship Id="rId4" Type="http://schemas.openxmlformats.org/officeDocument/2006/relationships/image" Target="../media/image10.png"/><Relationship Id="rId9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3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4.png"/><Relationship Id="rId4" Type="http://schemas.openxmlformats.org/officeDocument/2006/relationships/image" Target="../media/image10.png"/><Relationship Id="rId9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6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50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50.png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4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8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0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1.png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2.png"/><Relationship Id="rId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3.png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4.png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4.png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4.png"/><Relationship Id="rId4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5.png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5.png"/><Relationship Id="rId4" Type="http://schemas.openxmlformats.org/officeDocument/2006/relationships/image" Target="../media/image5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6.png"/><Relationship Id="rId4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6.png"/><Relationship Id="rId4" Type="http://schemas.openxmlformats.org/officeDocument/2006/relationships/image" Target="../media/image5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7.png"/><Relationship Id="rId4" Type="http://schemas.openxmlformats.org/officeDocument/2006/relationships/image" Target="../media/image5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7.png"/><Relationship Id="rId4" Type="http://schemas.openxmlformats.org/officeDocument/2006/relationships/image" Target="../media/image5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7.png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68.png"/><Relationship Id="rId10" Type="http://schemas.openxmlformats.org/officeDocument/2006/relationships/hyperlink" Target="http://www.tutorialspoint.com/php/index.htm" TargetMode="External"/><Relationship Id="rId4" Type="http://schemas.openxmlformats.org/officeDocument/2006/relationships/image" Target="../media/image51.png"/><Relationship Id="rId9" Type="http://schemas.openxmlformats.org/officeDocument/2006/relationships/hyperlink" Target="http://php.net/docs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26616" y="1272031"/>
            <a:ext cx="7473696" cy="2682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25776" y="2296159"/>
            <a:ext cx="5885687" cy="1402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57095" y="1302511"/>
            <a:ext cx="7354824" cy="25633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7350" y="1305022"/>
            <a:ext cx="7353300" cy="2560320"/>
          </a:xfrm>
          <a:prstGeom prst="rect">
            <a:avLst/>
          </a:prstGeom>
          <a:ln w="10212">
            <a:solidFill>
              <a:srgbClr val="AFABAB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7950">
              <a:latin typeface="Times New Roman"/>
              <a:cs typeface="Times New Roman"/>
            </a:endParaRPr>
          </a:p>
          <a:p>
            <a:pPr marL="210820" algn="ctr">
              <a:lnSpc>
                <a:spcPct val="100000"/>
              </a:lnSpc>
            </a:pPr>
            <a:r>
              <a:rPr sz="4800" spc="-50" dirty="0"/>
              <a:t>Web </a:t>
            </a:r>
            <a:r>
              <a:rPr sz="4800" spc="-5" dirty="0"/>
              <a:t>Development</a:t>
            </a:r>
            <a:r>
              <a:rPr sz="4800" spc="45" dirty="0"/>
              <a:t> </a:t>
            </a:r>
            <a:r>
              <a:rPr sz="4800" dirty="0"/>
              <a:t>3</a:t>
            </a:r>
            <a:endParaRPr sz="4800"/>
          </a:p>
        </p:txBody>
      </p:sp>
      <p:sp>
        <p:nvSpPr>
          <p:cNvPr id="6" name="object 6"/>
          <p:cNvSpPr txBox="1"/>
          <p:nvPr/>
        </p:nvSpPr>
        <p:spPr>
          <a:xfrm>
            <a:off x="3152397" y="4467225"/>
            <a:ext cx="4388605" cy="12028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latin typeface="Calibri"/>
                <a:cs typeface="Calibri"/>
              </a:rPr>
              <a:t>Lecture </a:t>
            </a:r>
            <a:r>
              <a:rPr sz="2600" dirty="0">
                <a:latin typeface="Calibri"/>
                <a:cs typeface="Calibri"/>
              </a:rPr>
              <a:t>2 – </a:t>
            </a:r>
            <a:r>
              <a:rPr sz="2600" spc="-15" dirty="0">
                <a:latin typeface="Calibri"/>
                <a:cs typeface="Calibri"/>
              </a:rPr>
              <a:t>PHP </a:t>
            </a:r>
            <a:r>
              <a:rPr sz="2600" spc="-30" dirty="0">
                <a:latin typeface="Calibri"/>
                <a:cs typeface="Calibri"/>
              </a:rPr>
              <a:t>Programming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5" dirty="0">
                <a:latin typeface="Calibri"/>
                <a:cs typeface="Calibri"/>
              </a:rPr>
              <a:t>Lecturer: </a:t>
            </a:r>
            <a:r>
              <a:rPr lang="en-IE" sz="1900" spc="5" dirty="0">
                <a:latin typeface="Calibri"/>
                <a:cs typeface="Calibri"/>
              </a:rPr>
              <a:t>James Byrne</a:t>
            </a:r>
            <a:r>
              <a:rPr sz="1900" spc="20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(</a:t>
            </a:r>
            <a:r>
              <a:rPr lang="en-IE" sz="1900" spc="5" dirty="0" err="1">
                <a:latin typeface="Calibri"/>
                <a:cs typeface="Calibri"/>
              </a:rPr>
              <a:t>jamesbyrne</a:t>
            </a:r>
            <a:r>
              <a:rPr sz="1900" spc="5" dirty="0">
                <a:solidFill>
                  <a:srgbClr val="5B9BD5"/>
                </a:solidFill>
                <a:latin typeface="Calibri"/>
                <a:cs typeface="Calibri"/>
              </a:rPr>
              <a:t>@ait.ie</a:t>
            </a:r>
            <a:r>
              <a:rPr sz="1900" spc="5" dirty="0">
                <a:latin typeface="Calibri"/>
                <a:cs typeface="Calibri"/>
              </a:rPr>
              <a:t>)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1740408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11328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Topics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5658" y="1149603"/>
            <a:ext cx="8058150" cy="221424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819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dirty="0">
                <a:latin typeface="Calibri"/>
                <a:cs typeface="Calibri"/>
              </a:rPr>
              <a:t>PHP </a:t>
            </a:r>
            <a:r>
              <a:rPr sz="3000" spc="-20" dirty="0">
                <a:latin typeface="Calibri"/>
                <a:cs typeface="Calibri"/>
              </a:rPr>
              <a:t>data </a:t>
            </a:r>
            <a:r>
              <a:rPr sz="3000" dirty="0">
                <a:latin typeface="Calibri"/>
                <a:cs typeface="Calibri"/>
              </a:rPr>
              <a:t>types, </a:t>
            </a:r>
            <a:r>
              <a:rPr sz="3000" spc="-10" dirty="0">
                <a:latin typeface="Calibri"/>
                <a:cs typeface="Calibri"/>
              </a:rPr>
              <a:t>variables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5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constants</a:t>
            </a:r>
            <a:endParaRPr sz="3000">
              <a:latin typeface="Calibri"/>
              <a:cs typeface="Calibri"/>
            </a:endParaRPr>
          </a:p>
          <a:p>
            <a:pPr marL="380365" indent="-367665">
              <a:lnSpc>
                <a:spcPct val="100000"/>
              </a:lnSpc>
              <a:spcBef>
                <a:spcPts val="72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15" dirty="0">
                <a:latin typeface="Calibri"/>
                <a:cs typeface="Calibri"/>
              </a:rPr>
              <a:t>Getting </a:t>
            </a:r>
            <a:r>
              <a:rPr sz="3000" spc="-20" dirty="0">
                <a:latin typeface="Calibri"/>
                <a:cs typeface="Calibri"/>
              </a:rPr>
              <a:t>data </a:t>
            </a:r>
            <a:r>
              <a:rPr sz="3000" spc="-15" dirty="0">
                <a:latin typeface="Calibri"/>
                <a:cs typeface="Calibri"/>
              </a:rPr>
              <a:t>from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HTTPRequest (GET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POST)</a:t>
            </a:r>
            <a:endParaRPr sz="3000">
              <a:latin typeface="Calibri"/>
              <a:cs typeface="Calibri"/>
            </a:endParaRPr>
          </a:p>
          <a:p>
            <a:pPr marL="380365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5" dirty="0">
                <a:latin typeface="Calibri"/>
                <a:cs typeface="Calibri"/>
              </a:rPr>
              <a:t>Expressions, </a:t>
            </a:r>
            <a:r>
              <a:rPr sz="3000" spc="-25" dirty="0">
                <a:latin typeface="Calibri"/>
                <a:cs typeface="Calibri"/>
              </a:rPr>
              <a:t>operators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5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functions</a:t>
            </a:r>
            <a:endParaRPr sz="3000">
              <a:latin typeface="Calibri"/>
              <a:cs typeface="Calibri"/>
            </a:endParaRPr>
          </a:p>
          <a:p>
            <a:pPr marL="380365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dirty="0">
                <a:latin typeface="Calibri"/>
                <a:cs typeface="Calibri"/>
              </a:rPr>
              <a:t>PHP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documentation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3215639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26104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History </a:t>
            </a:r>
            <a:r>
              <a:rPr spc="10" dirty="0"/>
              <a:t>of</a:t>
            </a:r>
            <a:r>
              <a:rPr spc="-35" dirty="0"/>
              <a:t> </a:t>
            </a:r>
            <a:r>
              <a:rPr spc="15" dirty="0"/>
              <a:t>PHP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558821"/>
              </p:ext>
            </p:extLst>
          </p:nvPr>
        </p:nvGraphicFramePr>
        <p:xfrm>
          <a:off x="733081" y="1207999"/>
          <a:ext cx="9187813" cy="4146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8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1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6454">
                <a:tc>
                  <a:txBody>
                    <a:bodyPr/>
                    <a:lstStyle/>
                    <a:p>
                      <a:pPr marL="97790" marR="2165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</a:t>
                      </a:r>
                      <a:r>
                        <a:rPr sz="19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9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9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ion</a:t>
                      </a:r>
                      <a:endParaRPr sz="1900" dirty="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15" dirty="0">
                          <a:latin typeface="Calibri"/>
                          <a:cs typeface="Calibri"/>
                        </a:rPr>
                        <a:t>1995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"Personal </a:t>
                      </a:r>
                      <a:r>
                        <a:rPr sz="1900" spc="10" dirty="0">
                          <a:latin typeface="Calibri"/>
                          <a:cs typeface="Calibri"/>
                        </a:rPr>
                        <a:t>Home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Page </a:t>
                      </a:r>
                      <a:r>
                        <a:rPr sz="1900" spc="-25" dirty="0">
                          <a:latin typeface="Calibri"/>
                          <a:cs typeface="Calibri"/>
                        </a:rPr>
                        <a:t>Tools </a:t>
                      </a:r>
                      <a:r>
                        <a:rPr sz="1900" spc="10" dirty="0">
                          <a:latin typeface="Calibri"/>
                          <a:cs typeface="Calibri"/>
                        </a:rPr>
                        <a:t>(PHP</a:t>
                      </a:r>
                      <a:r>
                        <a:rPr sz="1900" spc="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0" dirty="0">
                          <a:latin typeface="Calibri"/>
                          <a:cs typeface="Calibri"/>
                        </a:rPr>
                        <a:t>Tools)"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spc="15" dirty="0">
                          <a:latin typeface="Calibri"/>
                          <a:cs typeface="Calibri"/>
                        </a:rPr>
                        <a:t>1997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spc="10" dirty="0">
                          <a:latin typeface="Calibri"/>
                          <a:cs typeface="Calibri"/>
                        </a:rPr>
                        <a:t>PHP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: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Hypertext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Process –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First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official</a:t>
                      </a:r>
                      <a:r>
                        <a:rPr sz="19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version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3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spc="15" dirty="0">
                          <a:latin typeface="Calibri"/>
                          <a:cs typeface="Calibri"/>
                        </a:rPr>
                        <a:t>1998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900" spc="5" dirty="0">
                          <a:latin typeface="Calibri"/>
                          <a:cs typeface="Calibri"/>
                        </a:rPr>
                        <a:t>Development moves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multiple </a:t>
                      </a:r>
                      <a:r>
                        <a:rPr sz="1900" spc="10" dirty="0">
                          <a:latin typeface="Calibri"/>
                          <a:cs typeface="Calibri"/>
                        </a:rPr>
                        <a:t>people,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core</a:t>
                      </a:r>
                      <a:r>
                        <a:rPr sz="190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rewrite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4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15" dirty="0">
                          <a:latin typeface="Calibri"/>
                          <a:cs typeface="Calibri"/>
                        </a:rPr>
                        <a:t>2000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900" spc="5" dirty="0">
                          <a:latin typeface="Calibri"/>
                          <a:cs typeface="Calibri"/>
                        </a:rPr>
                        <a:t>Introduced the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Zend</a:t>
                      </a:r>
                      <a:r>
                        <a:rPr sz="19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10" dirty="0">
                          <a:latin typeface="Calibri"/>
                          <a:cs typeface="Calibri"/>
                        </a:rPr>
                        <a:t>Engine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454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900" spc="15" dirty="0">
                          <a:latin typeface="Calibri"/>
                          <a:cs typeface="Calibri"/>
                        </a:rPr>
                        <a:t>2004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563880">
                        <a:lnSpc>
                          <a:spcPct val="101099"/>
                        </a:lnSpc>
                        <a:spcBef>
                          <a:spcPts val="254"/>
                        </a:spcBef>
                      </a:pPr>
                      <a:r>
                        <a:rPr sz="1900" spc="5" dirty="0">
                          <a:latin typeface="Calibri"/>
                          <a:cs typeface="Calibri"/>
                        </a:rPr>
                        <a:t>Introduced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Zend </a:t>
                      </a:r>
                      <a:r>
                        <a:rPr sz="1900" spc="10" dirty="0">
                          <a:latin typeface="Calibri"/>
                          <a:cs typeface="Calibri"/>
                        </a:rPr>
                        <a:t>Engine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II, Improved </a:t>
                      </a:r>
                      <a:r>
                        <a:rPr sz="1900" spc="-55" dirty="0">
                          <a:latin typeface="Calibri"/>
                          <a:cs typeface="Calibri"/>
                        </a:rPr>
                        <a:t>OOP, </a:t>
                      </a:r>
                      <a:r>
                        <a:rPr sz="1900" spc="10" dirty="0">
                          <a:latin typeface="Calibri"/>
                          <a:cs typeface="Calibri"/>
                        </a:rPr>
                        <a:t>added PHP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Data  </a:t>
                      </a:r>
                      <a:r>
                        <a:rPr sz="1900" spc="10" dirty="0">
                          <a:latin typeface="Calibri"/>
                          <a:cs typeface="Calibri"/>
                        </a:rPr>
                        <a:t>Objects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2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6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-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900" spc="10" dirty="0">
                          <a:latin typeface="Calibri"/>
                          <a:cs typeface="Calibri"/>
                        </a:rPr>
                        <a:t>Abandoned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Version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never</a:t>
                      </a:r>
                      <a:r>
                        <a:rPr sz="19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released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22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7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900" spc="15" dirty="0">
                          <a:latin typeface="Calibri"/>
                          <a:cs typeface="Calibri"/>
                        </a:rPr>
                        <a:t>2015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2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900" spc="5" dirty="0">
                          <a:latin typeface="Calibri"/>
                          <a:cs typeface="Calibri"/>
                        </a:rPr>
                        <a:t>Introduced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Zend </a:t>
                      </a:r>
                      <a:r>
                        <a:rPr sz="1900" spc="10" dirty="0">
                          <a:latin typeface="Calibri"/>
                          <a:cs typeface="Calibri"/>
                        </a:rPr>
                        <a:t>Engine</a:t>
                      </a:r>
                      <a:r>
                        <a:rPr sz="19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5" dirty="0">
                          <a:latin typeface="Calibri"/>
                          <a:cs typeface="Calibri"/>
                        </a:rPr>
                        <a:t>3.</a:t>
                      </a:r>
                      <a:r>
                        <a:rPr lang="en-IE" sz="19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IE" sz="1900" dirty="0">
                          <a:latin typeface="+mn-lt"/>
                          <a:cs typeface="Calibri"/>
                        </a:rPr>
                        <a:t>Just In </a:t>
                      </a:r>
                      <a:r>
                        <a:rPr lang="en-IE" sz="1900" spc="5" dirty="0">
                          <a:latin typeface="+mn-lt"/>
                          <a:cs typeface="Calibri"/>
                        </a:rPr>
                        <a:t>Time</a:t>
                      </a:r>
                      <a:r>
                        <a:rPr lang="en-IE" sz="1900" spc="7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IE" sz="1900" spc="10" dirty="0">
                          <a:latin typeface="+mn-lt"/>
                          <a:cs typeface="Calibri"/>
                        </a:rPr>
                        <a:t>Compilation.</a:t>
                      </a:r>
                      <a:endParaRPr lang="en-IE" sz="1900" dirty="0">
                        <a:latin typeface="+mn-lt"/>
                        <a:cs typeface="Calibri"/>
                      </a:endParaRPr>
                    </a:p>
                  </a:txBody>
                  <a:tcPr marL="0" marR="0" marT="361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3163823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25558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</a:t>
            </a:r>
            <a:r>
              <a:rPr spc="-40" dirty="0"/>
              <a:t> </a:t>
            </a:r>
            <a:r>
              <a:rPr spc="5" dirty="0"/>
              <a:t>Overview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28638" y="1103883"/>
            <a:ext cx="9293860" cy="4854021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62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2400" spc="-15" dirty="0">
                <a:latin typeface="Calibri"/>
                <a:cs typeface="Calibri"/>
              </a:rPr>
              <a:t>PHP </a:t>
            </a:r>
            <a:r>
              <a:rPr sz="2400" spc="-10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35" dirty="0">
                <a:latin typeface="Calibri"/>
                <a:cs typeface="Calibri"/>
              </a:rPr>
              <a:t>recursive acronym </a:t>
            </a:r>
            <a:r>
              <a:rPr sz="2400" spc="-30" dirty="0">
                <a:latin typeface="Calibri"/>
                <a:cs typeface="Calibri"/>
              </a:rPr>
              <a:t>for </a:t>
            </a:r>
            <a:r>
              <a:rPr sz="2400" spc="-20" dirty="0">
                <a:latin typeface="Calibri"/>
                <a:cs typeface="Calibri"/>
              </a:rPr>
              <a:t>"PHP: </a:t>
            </a:r>
            <a:r>
              <a:rPr sz="2400" spc="-25" dirty="0">
                <a:latin typeface="Calibri"/>
                <a:cs typeface="Calibri"/>
              </a:rPr>
              <a:t>Hypertext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Preprocessor".</a:t>
            </a:r>
            <a:endParaRPr sz="2400" dirty="0">
              <a:latin typeface="Calibri"/>
              <a:cs typeface="Calibri"/>
            </a:endParaRPr>
          </a:p>
          <a:p>
            <a:pPr marL="379730" marR="21590" indent="-367665">
              <a:lnSpc>
                <a:spcPct val="97100"/>
              </a:lnSpc>
              <a:spcBef>
                <a:spcPts val="61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2400" spc="-15" dirty="0">
                <a:latin typeface="Calibri"/>
                <a:cs typeface="Calibri"/>
              </a:rPr>
              <a:t>PHP </a:t>
            </a:r>
            <a:r>
              <a:rPr sz="2400" spc="-10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20" dirty="0">
                <a:latin typeface="Calibri"/>
                <a:cs typeface="Calibri"/>
              </a:rPr>
              <a:t>server side </a:t>
            </a:r>
            <a:r>
              <a:rPr sz="2400" spc="-25" dirty="0">
                <a:latin typeface="Calibri"/>
                <a:cs typeface="Calibri"/>
              </a:rPr>
              <a:t>scripting language that </a:t>
            </a:r>
            <a:r>
              <a:rPr sz="2400" spc="-10" dirty="0">
                <a:latin typeface="Calibri"/>
                <a:cs typeface="Calibri"/>
              </a:rPr>
              <a:t>is </a:t>
            </a:r>
            <a:r>
              <a:rPr sz="2400" spc="-25" dirty="0">
                <a:latin typeface="Calibri"/>
                <a:cs typeface="Calibri"/>
              </a:rPr>
              <a:t>embedded </a:t>
            </a:r>
            <a:r>
              <a:rPr sz="2400" spc="-10" dirty="0">
                <a:latin typeface="Calibri"/>
                <a:cs typeface="Calibri"/>
              </a:rPr>
              <a:t>in </a:t>
            </a:r>
            <a:r>
              <a:rPr sz="2400" spc="-25" dirty="0">
                <a:latin typeface="Calibri"/>
                <a:cs typeface="Calibri"/>
              </a:rPr>
              <a:t>HTML. </a:t>
            </a:r>
            <a:r>
              <a:rPr sz="2400" spc="-10" dirty="0">
                <a:latin typeface="Calibri"/>
                <a:cs typeface="Calibri"/>
              </a:rPr>
              <a:t>It is  </a:t>
            </a:r>
            <a:r>
              <a:rPr sz="2400" spc="-20" dirty="0">
                <a:latin typeface="Calibri"/>
                <a:cs typeface="Calibri"/>
              </a:rPr>
              <a:t>used to </a:t>
            </a:r>
            <a:r>
              <a:rPr sz="2400" spc="-30" dirty="0">
                <a:latin typeface="Calibri"/>
                <a:cs typeface="Calibri"/>
              </a:rPr>
              <a:t>manage </a:t>
            </a:r>
            <a:r>
              <a:rPr sz="2400" spc="-25" dirty="0">
                <a:latin typeface="Calibri"/>
                <a:cs typeface="Calibri"/>
              </a:rPr>
              <a:t>dynamic </a:t>
            </a:r>
            <a:r>
              <a:rPr sz="2400" spc="-30" dirty="0">
                <a:latin typeface="Calibri"/>
                <a:cs typeface="Calibri"/>
              </a:rPr>
              <a:t>content, databases, </a:t>
            </a:r>
            <a:r>
              <a:rPr sz="2400" spc="-20" dirty="0">
                <a:latin typeface="Calibri"/>
                <a:cs typeface="Calibri"/>
              </a:rPr>
              <a:t>session </a:t>
            </a:r>
            <a:r>
              <a:rPr sz="2400" spc="-25" dirty="0">
                <a:latin typeface="Calibri"/>
                <a:cs typeface="Calibri"/>
              </a:rPr>
              <a:t>tracking, even </a:t>
            </a:r>
            <a:r>
              <a:rPr sz="2400" spc="-20" dirty="0">
                <a:latin typeface="Calibri"/>
                <a:cs typeface="Calibri"/>
              </a:rPr>
              <a:t>build  </a:t>
            </a:r>
            <a:r>
              <a:rPr sz="2400" spc="-25" dirty="0">
                <a:latin typeface="Calibri"/>
                <a:cs typeface="Calibri"/>
              </a:rPr>
              <a:t>entire </a:t>
            </a:r>
            <a:r>
              <a:rPr sz="2400" spc="-30" dirty="0">
                <a:latin typeface="Calibri"/>
                <a:cs typeface="Calibri"/>
              </a:rPr>
              <a:t>e-commerce </a:t>
            </a:r>
            <a:r>
              <a:rPr sz="2400" spc="-20" dirty="0">
                <a:latin typeface="Calibri"/>
                <a:cs typeface="Calibri"/>
              </a:rPr>
              <a:t>sites.</a:t>
            </a:r>
            <a:endParaRPr sz="2400" dirty="0">
              <a:latin typeface="Calibri"/>
              <a:cs typeface="Calibri"/>
            </a:endParaRPr>
          </a:p>
          <a:p>
            <a:pPr marL="379730" marR="441325" indent="-367665">
              <a:lnSpc>
                <a:spcPts val="2810"/>
              </a:lnSpc>
              <a:spcBef>
                <a:spcPts val="65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2400" spc="-10" dirty="0">
                <a:latin typeface="Calibri"/>
                <a:cs typeface="Calibri"/>
              </a:rPr>
              <a:t>It is </a:t>
            </a:r>
            <a:r>
              <a:rPr sz="2400" spc="-35" dirty="0">
                <a:latin typeface="Calibri"/>
                <a:cs typeface="Calibri"/>
              </a:rPr>
              <a:t>integrated </a:t>
            </a:r>
            <a:r>
              <a:rPr sz="2400" spc="-15" dirty="0">
                <a:latin typeface="Calibri"/>
                <a:cs typeface="Calibri"/>
              </a:rPr>
              <a:t>with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25" dirty="0">
                <a:latin typeface="Calibri"/>
                <a:cs typeface="Calibri"/>
              </a:rPr>
              <a:t>number </a:t>
            </a:r>
            <a:r>
              <a:rPr sz="2400" spc="-10" dirty="0">
                <a:latin typeface="Calibri"/>
                <a:cs typeface="Calibri"/>
              </a:rPr>
              <a:t>of </a:t>
            </a:r>
            <a:r>
              <a:rPr sz="2400" spc="-25" dirty="0">
                <a:latin typeface="Calibri"/>
                <a:cs typeface="Calibri"/>
              </a:rPr>
              <a:t>popular databases, including </a:t>
            </a:r>
            <a:r>
              <a:rPr sz="2400" spc="-20" dirty="0">
                <a:latin typeface="Calibri"/>
                <a:cs typeface="Calibri"/>
              </a:rPr>
              <a:t>MySQL,  </a:t>
            </a:r>
            <a:r>
              <a:rPr sz="2400" spc="-30" dirty="0">
                <a:latin typeface="Calibri"/>
                <a:cs typeface="Calibri"/>
              </a:rPr>
              <a:t>PostgreSQL, </a:t>
            </a:r>
            <a:r>
              <a:rPr sz="2400" spc="-25" dirty="0">
                <a:latin typeface="Calibri"/>
                <a:cs typeface="Calibri"/>
              </a:rPr>
              <a:t>Oracle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and </a:t>
            </a:r>
            <a:r>
              <a:rPr sz="2400" spc="-25" dirty="0">
                <a:latin typeface="Calibri"/>
                <a:cs typeface="Calibri"/>
              </a:rPr>
              <a:t>Microsoft </a:t>
            </a:r>
            <a:r>
              <a:rPr sz="2400" spc="-20" dirty="0">
                <a:latin typeface="Calibri"/>
                <a:cs typeface="Calibri"/>
              </a:rPr>
              <a:t>SQL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5" dirty="0">
                <a:latin typeface="Calibri"/>
                <a:cs typeface="Calibri"/>
              </a:rPr>
              <a:t>Server.</a:t>
            </a:r>
            <a:endParaRPr sz="2400" dirty="0">
              <a:latin typeface="Calibri"/>
              <a:cs typeface="Calibri"/>
            </a:endParaRPr>
          </a:p>
          <a:p>
            <a:pPr marL="379730" marR="23495" indent="-367665">
              <a:lnSpc>
                <a:spcPct val="100800"/>
              </a:lnSpc>
              <a:spcBef>
                <a:spcPts val="42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2400" spc="-15" dirty="0">
                <a:latin typeface="Calibri"/>
                <a:cs typeface="Calibri"/>
              </a:rPr>
              <a:t>PHP </a:t>
            </a:r>
            <a:r>
              <a:rPr sz="2400" spc="-10" dirty="0">
                <a:latin typeface="Calibri"/>
                <a:cs typeface="Calibri"/>
              </a:rPr>
              <a:t>is </a:t>
            </a:r>
            <a:r>
              <a:rPr sz="2400" spc="-30" dirty="0">
                <a:latin typeface="Calibri"/>
                <a:cs typeface="Calibri"/>
              </a:rPr>
              <a:t>relatively performant </a:t>
            </a:r>
            <a:r>
              <a:rPr sz="2400" spc="-10" dirty="0">
                <a:latin typeface="Calibri"/>
                <a:cs typeface="Calibri"/>
              </a:rPr>
              <a:t>in </a:t>
            </a:r>
            <a:r>
              <a:rPr sz="2400" spc="-15" dirty="0">
                <a:latin typeface="Calibri"/>
                <a:cs typeface="Calibri"/>
              </a:rPr>
              <a:t>its </a:t>
            </a:r>
            <a:r>
              <a:rPr sz="2400" spc="-30" dirty="0">
                <a:latin typeface="Calibri"/>
                <a:cs typeface="Calibri"/>
              </a:rPr>
              <a:t>execution, </a:t>
            </a:r>
            <a:r>
              <a:rPr sz="2400" spc="-20" dirty="0">
                <a:latin typeface="Calibri"/>
                <a:cs typeface="Calibri"/>
              </a:rPr>
              <a:t>especially when </a:t>
            </a:r>
            <a:r>
              <a:rPr sz="2400" spc="-25" dirty="0">
                <a:latin typeface="Calibri"/>
                <a:cs typeface="Calibri"/>
              </a:rPr>
              <a:t>compiled </a:t>
            </a:r>
            <a:r>
              <a:rPr sz="2400" spc="-15" dirty="0">
                <a:latin typeface="Calibri"/>
                <a:cs typeface="Calibri"/>
              </a:rPr>
              <a:t>as  an </a:t>
            </a:r>
            <a:r>
              <a:rPr sz="2400" spc="-25" dirty="0">
                <a:latin typeface="Calibri"/>
                <a:cs typeface="Calibri"/>
              </a:rPr>
              <a:t>Apache module </a:t>
            </a:r>
            <a:r>
              <a:rPr sz="2400" spc="-10" dirty="0">
                <a:latin typeface="Calibri"/>
                <a:cs typeface="Calibri"/>
              </a:rPr>
              <a:t>on </a:t>
            </a:r>
            <a:r>
              <a:rPr sz="2400" spc="-15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Unix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side.</a:t>
            </a:r>
            <a:endParaRPr sz="2400" dirty="0">
              <a:latin typeface="Calibri"/>
              <a:cs typeface="Calibri"/>
            </a:endParaRPr>
          </a:p>
          <a:p>
            <a:pPr marL="379730" marR="5080" indent="-367665">
              <a:lnSpc>
                <a:spcPct val="98300"/>
              </a:lnSpc>
              <a:spcBef>
                <a:spcPts val="45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2400" spc="-15" dirty="0">
                <a:latin typeface="Calibri"/>
                <a:cs typeface="Calibri"/>
              </a:rPr>
              <a:t>PHP </a:t>
            </a:r>
            <a:r>
              <a:rPr sz="2400" spc="-20" dirty="0">
                <a:latin typeface="Calibri"/>
                <a:cs typeface="Calibri"/>
              </a:rPr>
              <a:t>supports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30" dirty="0">
                <a:latin typeface="Calibri"/>
                <a:cs typeface="Calibri"/>
              </a:rPr>
              <a:t>large </a:t>
            </a:r>
            <a:r>
              <a:rPr sz="2400" spc="-25" dirty="0">
                <a:latin typeface="Calibri"/>
                <a:cs typeface="Calibri"/>
              </a:rPr>
              <a:t>number </a:t>
            </a:r>
            <a:r>
              <a:rPr sz="2400" spc="-10" dirty="0">
                <a:latin typeface="Calibri"/>
                <a:cs typeface="Calibri"/>
              </a:rPr>
              <a:t>of </a:t>
            </a:r>
            <a:r>
              <a:rPr sz="2400" spc="-20" dirty="0">
                <a:latin typeface="Calibri"/>
                <a:cs typeface="Calibri"/>
              </a:rPr>
              <a:t>major </a:t>
            </a:r>
            <a:r>
              <a:rPr sz="2400" spc="-30" dirty="0">
                <a:latin typeface="Calibri"/>
                <a:cs typeface="Calibri"/>
              </a:rPr>
              <a:t>protocols </a:t>
            </a:r>
            <a:r>
              <a:rPr sz="2400" spc="-20" dirty="0">
                <a:latin typeface="Calibri"/>
                <a:cs typeface="Calibri"/>
              </a:rPr>
              <a:t>such </a:t>
            </a:r>
            <a:r>
              <a:rPr sz="2400" spc="-15" dirty="0">
                <a:latin typeface="Calibri"/>
                <a:cs typeface="Calibri"/>
              </a:rPr>
              <a:t>as </a:t>
            </a:r>
            <a:r>
              <a:rPr sz="2400" spc="-20" dirty="0">
                <a:latin typeface="Calibri"/>
                <a:cs typeface="Calibri"/>
              </a:rPr>
              <a:t>POP3, </a:t>
            </a:r>
            <a:r>
              <a:rPr sz="2400" spc="-80" dirty="0">
                <a:latin typeface="Calibri"/>
                <a:cs typeface="Calibri"/>
              </a:rPr>
              <a:t>IMAP, </a:t>
            </a:r>
            <a:r>
              <a:rPr sz="2400" spc="-20" dirty="0">
                <a:latin typeface="Calibri"/>
                <a:cs typeface="Calibri"/>
              </a:rPr>
              <a:t>and  </a:t>
            </a:r>
            <a:r>
              <a:rPr sz="2400" spc="-90" dirty="0">
                <a:latin typeface="Calibri"/>
                <a:cs typeface="Calibri"/>
              </a:rPr>
              <a:t>LDAP. </a:t>
            </a:r>
            <a:endParaRPr lang="en-IE" sz="2400" spc="-90" dirty="0">
              <a:latin typeface="Calibri"/>
              <a:cs typeface="Calibri"/>
            </a:endParaRPr>
          </a:p>
          <a:p>
            <a:pPr marL="379730" marR="5080" indent="-367665">
              <a:lnSpc>
                <a:spcPct val="98300"/>
              </a:lnSpc>
              <a:spcBef>
                <a:spcPts val="455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2400" spc="-15" dirty="0">
                <a:latin typeface="Calibri"/>
                <a:cs typeface="Calibri"/>
              </a:rPr>
              <a:t>PHP </a:t>
            </a:r>
            <a:r>
              <a:rPr sz="2400" spc="-10" dirty="0">
                <a:latin typeface="Calibri"/>
                <a:cs typeface="Calibri"/>
              </a:rPr>
              <a:t>is </a:t>
            </a:r>
            <a:r>
              <a:rPr sz="2400" spc="-30" dirty="0">
                <a:latin typeface="Calibri"/>
                <a:cs typeface="Calibri"/>
              </a:rPr>
              <a:t>forgiving: </a:t>
            </a:r>
            <a:r>
              <a:rPr sz="2400" spc="-15" dirty="0">
                <a:latin typeface="Calibri"/>
                <a:cs typeface="Calibri"/>
              </a:rPr>
              <a:t>PHP </a:t>
            </a:r>
            <a:r>
              <a:rPr sz="2400" spc="-25" dirty="0">
                <a:latin typeface="Calibri"/>
                <a:cs typeface="Calibri"/>
              </a:rPr>
              <a:t>language </a:t>
            </a:r>
            <a:r>
              <a:rPr sz="2400" spc="-15" dirty="0">
                <a:latin typeface="Calibri"/>
                <a:cs typeface="Calibri"/>
              </a:rPr>
              <a:t>tries </a:t>
            </a:r>
            <a:r>
              <a:rPr sz="2400" spc="-20" dirty="0">
                <a:latin typeface="Calibri"/>
                <a:cs typeface="Calibri"/>
              </a:rPr>
              <a:t>to </a:t>
            </a:r>
            <a:r>
              <a:rPr sz="2400" spc="-15" dirty="0">
                <a:latin typeface="Calibri"/>
                <a:cs typeface="Calibri"/>
              </a:rPr>
              <a:t>be as </a:t>
            </a:r>
            <a:r>
              <a:rPr sz="2400" spc="-30" dirty="0">
                <a:latin typeface="Calibri"/>
                <a:cs typeface="Calibri"/>
              </a:rPr>
              <a:t>forgiving </a:t>
            </a:r>
            <a:r>
              <a:rPr sz="2400" spc="-15" dirty="0">
                <a:latin typeface="Calibri"/>
                <a:cs typeface="Calibri"/>
              </a:rPr>
              <a:t>as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possible.</a:t>
            </a:r>
            <a:endParaRPr sz="2400" dirty="0">
              <a:latin typeface="Calibri"/>
              <a:cs typeface="Calibri"/>
            </a:endParaRPr>
          </a:p>
          <a:p>
            <a:pPr marL="380365" indent="-367665">
              <a:lnSpc>
                <a:spcPct val="100000"/>
              </a:lnSpc>
              <a:spcBef>
                <a:spcPts val="53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2400" spc="-15" dirty="0">
                <a:latin typeface="Calibri"/>
                <a:cs typeface="Calibri"/>
              </a:rPr>
              <a:t>PHP </a:t>
            </a:r>
            <a:r>
              <a:rPr sz="2400" spc="-40" dirty="0">
                <a:latin typeface="Calibri"/>
                <a:cs typeface="Calibri"/>
              </a:rPr>
              <a:t>Syntax </a:t>
            </a:r>
            <a:r>
              <a:rPr sz="2400" spc="-1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C-Like.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3163823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25558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</a:t>
            </a:r>
            <a:r>
              <a:rPr spc="-40" dirty="0"/>
              <a:t> </a:t>
            </a:r>
            <a:r>
              <a:rPr spc="5" dirty="0"/>
              <a:t>Overview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24352" y="906271"/>
            <a:ext cx="6876288" cy="50352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28638" y="1103883"/>
            <a:ext cx="2938145" cy="547560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502920" indent="-49022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502284" algn="l"/>
                <a:tab pos="502920" algn="l"/>
              </a:tabLst>
            </a:pPr>
            <a:r>
              <a:rPr sz="2400" spc="-20" dirty="0">
                <a:latin typeface="Calibri"/>
                <a:cs typeface="Calibri"/>
              </a:rPr>
              <a:t>Client</a:t>
            </a:r>
            <a:r>
              <a:rPr sz="2400" spc="-30" dirty="0">
                <a:latin typeface="Calibri"/>
                <a:cs typeface="Calibri"/>
              </a:rPr>
              <a:t> Request</a:t>
            </a:r>
            <a:endParaRPr sz="2400">
              <a:latin typeface="Calibri"/>
              <a:cs typeface="Calibri"/>
            </a:endParaRPr>
          </a:p>
          <a:p>
            <a:pPr marL="502920" marR="5080" indent="-490220">
              <a:lnSpc>
                <a:spcPts val="2780"/>
              </a:lnSpc>
              <a:spcBef>
                <a:spcPts val="705"/>
              </a:spcBef>
              <a:buAutoNum type="arabicPeriod"/>
              <a:tabLst>
                <a:tab pos="502284" algn="l"/>
                <a:tab pos="502920" algn="l"/>
              </a:tabLst>
            </a:pPr>
            <a:r>
              <a:rPr sz="2400" spc="-45" dirty="0">
                <a:latin typeface="Calibri"/>
                <a:cs typeface="Calibri"/>
              </a:rPr>
              <a:t>Web </a:t>
            </a:r>
            <a:r>
              <a:rPr sz="2400" spc="-20" dirty="0">
                <a:latin typeface="Calibri"/>
                <a:cs typeface="Calibri"/>
              </a:rPr>
              <a:t>server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forward  </a:t>
            </a:r>
            <a:r>
              <a:rPr sz="2400" spc="-20" dirty="0">
                <a:latin typeface="Calibri"/>
                <a:cs typeface="Calibri"/>
              </a:rPr>
              <a:t>to PHP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Engine</a:t>
            </a:r>
            <a:endParaRPr sz="2400">
              <a:latin typeface="Calibri"/>
              <a:cs typeface="Calibri"/>
            </a:endParaRPr>
          </a:p>
          <a:p>
            <a:pPr marL="502920" marR="287020" indent="-490220">
              <a:lnSpc>
                <a:spcPct val="98300"/>
              </a:lnSpc>
              <a:spcBef>
                <a:spcPts val="505"/>
              </a:spcBef>
              <a:buAutoNum type="arabicPeriod"/>
              <a:tabLst>
                <a:tab pos="502284" algn="l"/>
                <a:tab pos="502920" algn="l"/>
              </a:tabLst>
            </a:pPr>
            <a:r>
              <a:rPr sz="2400" spc="-25" dirty="0">
                <a:latin typeface="Calibri"/>
                <a:cs typeface="Calibri"/>
              </a:rPr>
              <a:t>Read </a:t>
            </a:r>
            <a:r>
              <a:rPr sz="2400" spc="-20" dirty="0">
                <a:latin typeface="Calibri"/>
                <a:cs typeface="Calibri"/>
              </a:rPr>
              <a:t>PHP script  </a:t>
            </a:r>
            <a:r>
              <a:rPr sz="2400" spc="-25" dirty="0">
                <a:latin typeface="Calibri"/>
                <a:cs typeface="Calibri"/>
              </a:rPr>
              <a:t>from </a:t>
            </a:r>
            <a:r>
              <a:rPr sz="2400" spc="-10" dirty="0">
                <a:latin typeface="Calibri"/>
                <a:cs typeface="Calibri"/>
              </a:rPr>
              <a:t>file </a:t>
            </a:r>
            <a:r>
              <a:rPr sz="2400" spc="-35" dirty="0">
                <a:latin typeface="Calibri"/>
                <a:cs typeface="Calibri"/>
              </a:rPr>
              <a:t>system,  </a:t>
            </a:r>
            <a:r>
              <a:rPr sz="2400" spc="-25" dirty="0">
                <a:latin typeface="Calibri"/>
                <a:cs typeface="Calibri"/>
              </a:rPr>
              <a:t>compile </a:t>
            </a:r>
            <a:r>
              <a:rPr sz="2400" spc="-20" dirty="0">
                <a:latin typeface="Calibri"/>
                <a:cs typeface="Calibri"/>
              </a:rPr>
              <a:t>and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send  to</a:t>
            </a:r>
            <a:r>
              <a:rPr sz="2400" spc="-35" dirty="0">
                <a:latin typeface="Calibri"/>
                <a:cs typeface="Calibri"/>
              </a:rPr>
              <a:t> executor</a:t>
            </a:r>
            <a:endParaRPr sz="2400">
              <a:latin typeface="Calibri"/>
              <a:cs typeface="Calibri"/>
            </a:endParaRPr>
          </a:p>
          <a:p>
            <a:pPr marL="502920" marR="287655" indent="-490220">
              <a:lnSpc>
                <a:spcPts val="2780"/>
              </a:lnSpc>
              <a:spcBef>
                <a:spcPts val="705"/>
              </a:spcBef>
              <a:buAutoNum type="arabicPeriod"/>
              <a:tabLst>
                <a:tab pos="502284" algn="l"/>
                <a:tab pos="502920" algn="l"/>
              </a:tabLst>
            </a:pPr>
            <a:r>
              <a:rPr sz="2400" spc="-30" dirty="0">
                <a:latin typeface="Calibri"/>
                <a:cs typeface="Calibri"/>
              </a:rPr>
              <a:t>Executor </a:t>
            </a:r>
            <a:r>
              <a:rPr sz="2400" spc="-20" dirty="0">
                <a:latin typeface="Calibri"/>
                <a:cs typeface="Calibri"/>
              </a:rPr>
              <a:t>runs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the  </a:t>
            </a:r>
            <a:r>
              <a:rPr sz="2400" spc="-25" dirty="0">
                <a:latin typeface="Calibri"/>
                <a:cs typeface="Calibri"/>
              </a:rPr>
              <a:t>compile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marL="502920" marR="50800" indent="-490220">
              <a:lnSpc>
                <a:spcPct val="97100"/>
              </a:lnSpc>
              <a:spcBef>
                <a:spcPts val="540"/>
              </a:spcBef>
              <a:buAutoNum type="arabicPeriod"/>
              <a:tabLst>
                <a:tab pos="502284" algn="l"/>
                <a:tab pos="502920" algn="l"/>
              </a:tabLst>
            </a:pPr>
            <a:r>
              <a:rPr sz="2400" spc="-25" dirty="0">
                <a:latin typeface="Calibri"/>
                <a:cs typeface="Calibri"/>
              </a:rPr>
              <a:t>Resulting HTML  output sent </a:t>
            </a:r>
            <a:r>
              <a:rPr sz="2400" spc="-2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Web  </a:t>
            </a:r>
            <a:r>
              <a:rPr sz="2400" spc="-20" dirty="0">
                <a:latin typeface="Calibri"/>
                <a:cs typeface="Calibri"/>
              </a:rPr>
              <a:t>Server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Interface</a:t>
            </a:r>
            <a:endParaRPr sz="2400">
              <a:latin typeface="Calibri"/>
              <a:cs typeface="Calibri"/>
            </a:endParaRPr>
          </a:p>
          <a:p>
            <a:pPr marL="502920" marR="40640" indent="-490220">
              <a:lnSpc>
                <a:spcPts val="2810"/>
              </a:lnSpc>
              <a:spcBef>
                <a:spcPts val="680"/>
              </a:spcBef>
              <a:buAutoNum type="arabicPeriod"/>
              <a:tabLst>
                <a:tab pos="502284" algn="l"/>
                <a:tab pos="502920" algn="l"/>
              </a:tabLst>
            </a:pPr>
            <a:r>
              <a:rPr sz="2400" spc="-25" dirty="0">
                <a:latin typeface="Calibri"/>
                <a:cs typeface="Calibri"/>
              </a:rPr>
              <a:t>Response </a:t>
            </a:r>
            <a:r>
              <a:rPr sz="2400" spc="-20" dirty="0">
                <a:latin typeface="Calibri"/>
                <a:cs typeface="Calibri"/>
              </a:rPr>
              <a:t>sent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back  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client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45109" y="6016581"/>
            <a:ext cx="386388" cy="5327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45109" y="6016581"/>
            <a:ext cx="386715" cy="533400"/>
          </a:xfrm>
          <a:custGeom>
            <a:avLst/>
            <a:gdLst/>
            <a:ahLst/>
            <a:cxnLst/>
            <a:rect l="l" t="t" r="r" b="b"/>
            <a:pathLst>
              <a:path w="386715" h="533400">
                <a:moveTo>
                  <a:pt x="321988" y="532773"/>
                </a:moveTo>
                <a:lnTo>
                  <a:pt x="334868" y="481253"/>
                </a:lnTo>
                <a:lnTo>
                  <a:pt x="386388" y="468373"/>
                </a:lnTo>
                <a:lnTo>
                  <a:pt x="321988" y="532773"/>
                </a:lnTo>
                <a:lnTo>
                  <a:pt x="0" y="532773"/>
                </a:lnTo>
                <a:lnTo>
                  <a:pt x="0" y="0"/>
                </a:lnTo>
                <a:lnTo>
                  <a:pt x="386388" y="0"/>
                </a:lnTo>
                <a:lnTo>
                  <a:pt x="386388" y="468373"/>
                </a:lnTo>
              </a:path>
            </a:pathLst>
          </a:custGeom>
          <a:ln w="6808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537451" y="6118709"/>
            <a:ext cx="386387" cy="5327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537451" y="6118709"/>
            <a:ext cx="386715" cy="533400"/>
          </a:xfrm>
          <a:custGeom>
            <a:avLst/>
            <a:gdLst/>
            <a:ahLst/>
            <a:cxnLst/>
            <a:rect l="l" t="t" r="r" b="b"/>
            <a:pathLst>
              <a:path w="386715" h="533400">
                <a:moveTo>
                  <a:pt x="321988" y="532773"/>
                </a:moveTo>
                <a:lnTo>
                  <a:pt x="334868" y="481253"/>
                </a:lnTo>
                <a:lnTo>
                  <a:pt x="386387" y="468373"/>
                </a:lnTo>
                <a:lnTo>
                  <a:pt x="321988" y="532773"/>
                </a:lnTo>
                <a:lnTo>
                  <a:pt x="0" y="532773"/>
                </a:lnTo>
                <a:lnTo>
                  <a:pt x="0" y="0"/>
                </a:lnTo>
                <a:lnTo>
                  <a:pt x="386387" y="0"/>
                </a:lnTo>
                <a:lnTo>
                  <a:pt x="386387" y="468373"/>
                </a:lnTo>
              </a:path>
            </a:pathLst>
          </a:custGeom>
          <a:ln w="6808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767243" y="6254881"/>
            <a:ext cx="386388" cy="5327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67243" y="6254881"/>
            <a:ext cx="386715" cy="533400"/>
          </a:xfrm>
          <a:custGeom>
            <a:avLst/>
            <a:gdLst/>
            <a:ahLst/>
            <a:cxnLst/>
            <a:rect l="l" t="t" r="r" b="b"/>
            <a:pathLst>
              <a:path w="386715" h="533400">
                <a:moveTo>
                  <a:pt x="321988" y="532773"/>
                </a:moveTo>
                <a:lnTo>
                  <a:pt x="334868" y="481253"/>
                </a:lnTo>
                <a:lnTo>
                  <a:pt x="386388" y="468373"/>
                </a:lnTo>
                <a:lnTo>
                  <a:pt x="321988" y="532773"/>
                </a:lnTo>
                <a:lnTo>
                  <a:pt x="0" y="532773"/>
                </a:lnTo>
                <a:lnTo>
                  <a:pt x="0" y="0"/>
                </a:lnTo>
                <a:lnTo>
                  <a:pt x="386388" y="0"/>
                </a:lnTo>
                <a:lnTo>
                  <a:pt x="386388" y="468373"/>
                </a:lnTo>
              </a:path>
            </a:pathLst>
          </a:custGeom>
          <a:ln w="6808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245755" y="6609079"/>
            <a:ext cx="11938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0070C0"/>
                </a:solidFill>
                <a:latin typeface="Arial"/>
                <a:cs typeface="Arial"/>
              </a:rPr>
              <a:t>PHP</a:t>
            </a:r>
            <a:r>
              <a:rPr sz="1700" spc="-6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0070C0"/>
                </a:solidFill>
                <a:latin typeface="Arial"/>
                <a:cs typeface="Arial"/>
              </a:rPr>
              <a:t>Scripts</a:t>
            </a:r>
            <a:endParaRPr sz="17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5387003" y="4896103"/>
            <a:ext cx="12763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0070C0"/>
                </a:solidFill>
                <a:latin typeface="Arial"/>
                <a:cs typeface="Arial"/>
              </a:rPr>
              <a:t>HTML</a:t>
            </a:r>
            <a:r>
              <a:rPr sz="1700" spc="-12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1700" spc="5" dirty="0">
                <a:solidFill>
                  <a:srgbClr val="0070C0"/>
                </a:solidFill>
                <a:latin typeface="Arial"/>
                <a:cs typeface="Arial"/>
              </a:rPr>
              <a:t>output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3514344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29102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Escaping </a:t>
            </a:r>
            <a:r>
              <a:rPr spc="-10" dirty="0"/>
              <a:t>to</a:t>
            </a:r>
            <a:r>
              <a:rPr spc="-15" dirty="0"/>
              <a:t> </a:t>
            </a:r>
            <a:r>
              <a:rPr spc="15" dirty="0"/>
              <a:t>PHP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8423" y="860551"/>
            <a:ext cx="9260205" cy="596035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96215" marR="1016000" indent="-184150">
              <a:lnSpc>
                <a:spcPts val="2500"/>
              </a:lnSpc>
              <a:spcBef>
                <a:spcPts val="400"/>
              </a:spcBef>
              <a:buFont typeface="Arial"/>
              <a:buChar char="•"/>
              <a:tabLst>
                <a:tab pos="196850" algn="l"/>
              </a:tabLst>
            </a:pPr>
            <a:r>
              <a:rPr sz="2300" spc="-20" dirty="0">
                <a:latin typeface="Calibri"/>
                <a:cs typeface="Calibri"/>
              </a:rPr>
              <a:t>PHP </a:t>
            </a:r>
            <a:r>
              <a:rPr sz="2300" spc="-25" dirty="0">
                <a:latin typeface="Calibri"/>
                <a:cs typeface="Calibri"/>
              </a:rPr>
              <a:t>parsing </a:t>
            </a:r>
            <a:r>
              <a:rPr sz="2300" spc="-20" dirty="0">
                <a:latin typeface="Calibri"/>
                <a:cs typeface="Calibri"/>
              </a:rPr>
              <a:t>engine needs </a:t>
            </a:r>
            <a:r>
              <a:rPr sz="2300" dirty="0">
                <a:latin typeface="Calibri"/>
                <a:cs typeface="Calibri"/>
              </a:rPr>
              <a:t>a </a:t>
            </a:r>
            <a:r>
              <a:rPr sz="2300" spc="-50" dirty="0">
                <a:latin typeface="Calibri"/>
                <a:cs typeface="Calibri"/>
              </a:rPr>
              <a:t>way </a:t>
            </a:r>
            <a:r>
              <a:rPr sz="2300" spc="-25" dirty="0">
                <a:latin typeface="Calibri"/>
                <a:cs typeface="Calibri"/>
              </a:rPr>
              <a:t>to </a:t>
            </a:r>
            <a:r>
              <a:rPr sz="2300" spc="-35" dirty="0">
                <a:latin typeface="Calibri"/>
                <a:cs typeface="Calibri"/>
              </a:rPr>
              <a:t>differentiate </a:t>
            </a:r>
            <a:r>
              <a:rPr sz="2300" spc="-20" dirty="0">
                <a:latin typeface="Calibri"/>
                <a:cs typeface="Calibri"/>
              </a:rPr>
              <a:t>PHP </a:t>
            </a:r>
            <a:r>
              <a:rPr sz="2300" spc="-25" dirty="0">
                <a:latin typeface="Calibri"/>
                <a:cs typeface="Calibri"/>
              </a:rPr>
              <a:t>code from</a:t>
            </a:r>
            <a:r>
              <a:rPr sz="2300" spc="-16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other  </a:t>
            </a:r>
            <a:r>
              <a:rPr sz="2300" spc="-25" dirty="0">
                <a:latin typeface="Calibri"/>
                <a:cs typeface="Calibri"/>
              </a:rPr>
              <a:t>elements </a:t>
            </a:r>
            <a:r>
              <a:rPr sz="2300" spc="-5" dirty="0">
                <a:latin typeface="Calibri"/>
                <a:cs typeface="Calibri"/>
              </a:rPr>
              <a:t>in </a:t>
            </a:r>
            <a:r>
              <a:rPr sz="2300" spc="-20" dirty="0">
                <a:latin typeface="Calibri"/>
                <a:cs typeface="Calibri"/>
              </a:rPr>
              <a:t>the </a:t>
            </a:r>
            <a:r>
              <a:rPr sz="2300" spc="-25" dirty="0">
                <a:latin typeface="Calibri"/>
                <a:cs typeface="Calibri"/>
              </a:rPr>
              <a:t>page. </a:t>
            </a:r>
            <a:r>
              <a:rPr sz="2300" spc="-20" dirty="0">
                <a:latin typeface="Calibri"/>
                <a:cs typeface="Calibri"/>
              </a:rPr>
              <a:t>The </a:t>
            </a:r>
            <a:r>
              <a:rPr sz="2300" spc="-25" dirty="0">
                <a:latin typeface="Calibri"/>
                <a:cs typeface="Calibri"/>
              </a:rPr>
              <a:t>mechanism </a:t>
            </a:r>
            <a:r>
              <a:rPr sz="2300" spc="-5" dirty="0">
                <a:latin typeface="Calibri"/>
                <a:cs typeface="Calibri"/>
              </a:rPr>
              <a:t>is </a:t>
            </a:r>
            <a:r>
              <a:rPr sz="2300" spc="-30" dirty="0">
                <a:latin typeface="Calibri"/>
                <a:cs typeface="Calibri"/>
              </a:rPr>
              <a:t>known </a:t>
            </a:r>
            <a:r>
              <a:rPr sz="2300" spc="-15" dirty="0">
                <a:latin typeface="Calibri"/>
                <a:cs typeface="Calibri"/>
              </a:rPr>
              <a:t>as </a:t>
            </a:r>
            <a:r>
              <a:rPr sz="2300" spc="-25" dirty="0">
                <a:latin typeface="Calibri"/>
                <a:cs typeface="Calibri"/>
              </a:rPr>
              <a:t>'escaping to</a:t>
            </a:r>
            <a:r>
              <a:rPr sz="2300" spc="-175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PHP'.</a:t>
            </a:r>
            <a:endParaRPr sz="2300" dirty="0">
              <a:latin typeface="Calibri"/>
              <a:cs typeface="Calibri"/>
            </a:endParaRPr>
          </a:p>
          <a:p>
            <a:pPr marL="748030" lvl="1" indent="-36766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747395" algn="l"/>
                <a:tab pos="748030" algn="l"/>
              </a:tabLst>
            </a:pPr>
            <a:r>
              <a:rPr sz="1900" spc="10" dirty="0">
                <a:solidFill>
                  <a:srgbClr val="0070C0"/>
                </a:solidFill>
                <a:latin typeface="Calibri"/>
                <a:cs typeface="Calibri"/>
              </a:rPr>
              <a:t>Canonical PHP </a:t>
            </a:r>
            <a:r>
              <a:rPr sz="1900" dirty="0">
                <a:solidFill>
                  <a:srgbClr val="0070C0"/>
                </a:solidFill>
                <a:latin typeface="Calibri"/>
                <a:cs typeface="Calibri"/>
              </a:rPr>
              <a:t>tags </a:t>
            </a:r>
            <a:r>
              <a:rPr sz="1900" spc="10" dirty="0">
                <a:latin typeface="Calibri"/>
                <a:cs typeface="Calibri"/>
              </a:rPr>
              <a:t>(The </a:t>
            </a:r>
            <a:r>
              <a:rPr sz="1900" spc="5" dirty="0">
                <a:latin typeface="Calibri"/>
                <a:cs typeface="Calibri"/>
              </a:rPr>
              <a:t>most </a:t>
            </a:r>
            <a:r>
              <a:rPr sz="1900" dirty="0">
                <a:latin typeface="Calibri"/>
                <a:cs typeface="Calibri"/>
              </a:rPr>
              <a:t>universally </a:t>
            </a:r>
            <a:r>
              <a:rPr sz="1900" spc="-5" dirty="0">
                <a:latin typeface="Calibri"/>
                <a:cs typeface="Calibri"/>
              </a:rPr>
              <a:t>effective </a:t>
            </a:r>
            <a:r>
              <a:rPr sz="1900" spc="10" dirty="0">
                <a:latin typeface="Calibri"/>
                <a:cs typeface="Calibri"/>
              </a:rPr>
              <a:t>PHP </a:t>
            </a:r>
            <a:r>
              <a:rPr sz="1900" spc="-5" dirty="0">
                <a:latin typeface="Calibri"/>
                <a:cs typeface="Calibri"/>
              </a:rPr>
              <a:t>tag</a:t>
            </a:r>
            <a:r>
              <a:rPr sz="1900" spc="1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style)</a:t>
            </a:r>
          </a:p>
          <a:p>
            <a:pPr marL="748030" marR="86360">
              <a:lnSpc>
                <a:spcPct val="95200"/>
              </a:lnSpc>
              <a:spcBef>
                <a:spcPts val="265"/>
              </a:spcBef>
            </a:pPr>
            <a:r>
              <a:rPr sz="2600" spc="-15" dirty="0">
                <a:latin typeface="Calibri"/>
                <a:cs typeface="Calibri"/>
              </a:rPr>
              <a:t>&lt;?php...?&gt; </a:t>
            </a:r>
            <a:r>
              <a:rPr sz="1900" dirty="0">
                <a:latin typeface="Calibri"/>
                <a:cs typeface="Calibri"/>
              </a:rPr>
              <a:t>If you </a:t>
            </a:r>
            <a:r>
              <a:rPr sz="1900" spc="5" dirty="0">
                <a:latin typeface="Calibri"/>
                <a:cs typeface="Calibri"/>
              </a:rPr>
              <a:t>use this </a:t>
            </a:r>
            <a:r>
              <a:rPr sz="1900" dirty="0">
                <a:latin typeface="Calibri"/>
                <a:cs typeface="Calibri"/>
              </a:rPr>
              <a:t>style, you can </a:t>
            </a:r>
            <a:r>
              <a:rPr sz="1900" spc="10" dirty="0">
                <a:latin typeface="Calibri"/>
                <a:cs typeface="Calibri"/>
              </a:rPr>
              <a:t>be </a:t>
            </a:r>
            <a:r>
              <a:rPr sz="1900" spc="5" dirty="0">
                <a:latin typeface="Calibri"/>
                <a:cs typeface="Calibri"/>
              </a:rPr>
              <a:t>positive that your </a:t>
            </a:r>
            <a:r>
              <a:rPr sz="1900" dirty="0">
                <a:latin typeface="Calibri"/>
                <a:cs typeface="Calibri"/>
              </a:rPr>
              <a:t>tags </a:t>
            </a:r>
            <a:r>
              <a:rPr sz="1900" spc="5" dirty="0">
                <a:latin typeface="Calibri"/>
                <a:cs typeface="Calibri"/>
              </a:rPr>
              <a:t>will </a:t>
            </a:r>
            <a:r>
              <a:rPr sz="1900" spc="-5" dirty="0">
                <a:latin typeface="Calibri"/>
                <a:cs typeface="Calibri"/>
              </a:rPr>
              <a:t>always </a:t>
            </a:r>
            <a:r>
              <a:rPr sz="1900" spc="10" dirty="0">
                <a:latin typeface="Calibri"/>
                <a:cs typeface="Calibri"/>
              </a:rPr>
              <a:t>be </a:t>
            </a:r>
            <a:r>
              <a:rPr sz="1900" dirty="0">
                <a:latin typeface="Calibri"/>
                <a:cs typeface="Calibri"/>
              </a:rPr>
              <a:t>correctly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interpreted.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748030" lvl="1" indent="-36766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747395" algn="l"/>
                <a:tab pos="748030" algn="l"/>
              </a:tabLst>
            </a:pPr>
            <a:r>
              <a:rPr sz="1900" spc="5" dirty="0">
                <a:solidFill>
                  <a:srgbClr val="0070C0"/>
                </a:solidFill>
                <a:latin typeface="Calibri"/>
                <a:cs typeface="Calibri"/>
              </a:rPr>
              <a:t>Short-open (SGML-style)</a:t>
            </a:r>
            <a:r>
              <a:rPr sz="1900" spc="4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70C0"/>
                </a:solidFill>
                <a:latin typeface="Calibri"/>
                <a:cs typeface="Calibri"/>
              </a:rPr>
              <a:t>tags</a:t>
            </a:r>
            <a:endParaRPr sz="1900" dirty="0">
              <a:latin typeface="Calibri"/>
              <a:cs typeface="Calibri"/>
            </a:endParaRPr>
          </a:p>
          <a:p>
            <a:pPr marL="748030" marR="5080">
              <a:lnSpc>
                <a:spcPct val="105500"/>
              </a:lnSpc>
              <a:spcBef>
                <a:spcPts val="950"/>
              </a:spcBef>
            </a:pPr>
            <a:r>
              <a:rPr sz="2600" spc="-15" dirty="0">
                <a:latin typeface="Calibri"/>
                <a:cs typeface="Calibri"/>
              </a:rPr>
              <a:t>&lt;?...?&gt; </a:t>
            </a:r>
            <a:r>
              <a:rPr sz="1900" spc="10" dirty="0">
                <a:latin typeface="Calibri"/>
                <a:cs typeface="Calibri"/>
              </a:rPr>
              <a:t>Short </a:t>
            </a:r>
            <a:r>
              <a:rPr sz="1900" dirty="0">
                <a:latin typeface="Calibri"/>
                <a:cs typeface="Calibri"/>
              </a:rPr>
              <a:t>tags are, </a:t>
            </a:r>
            <a:r>
              <a:rPr sz="1900" spc="5" dirty="0">
                <a:latin typeface="Calibri"/>
                <a:cs typeface="Calibri"/>
              </a:rPr>
              <a:t>as </a:t>
            </a:r>
            <a:r>
              <a:rPr sz="1900" spc="10" dirty="0">
                <a:latin typeface="Calibri"/>
                <a:cs typeface="Calibri"/>
              </a:rPr>
              <a:t>one </a:t>
            </a:r>
            <a:r>
              <a:rPr sz="1900" spc="5" dirty="0">
                <a:latin typeface="Calibri"/>
                <a:cs typeface="Calibri"/>
              </a:rPr>
              <a:t>might expect, the </a:t>
            </a:r>
            <a:r>
              <a:rPr sz="1900" dirty="0">
                <a:latin typeface="Calibri"/>
                <a:cs typeface="Calibri"/>
              </a:rPr>
              <a:t>shortest </a:t>
            </a:r>
            <a:r>
              <a:rPr sz="1900" spc="5" dirty="0">
                <a:latin typeface="Calibri"/>
                <a:cs typeface="Calibri"/>
              </a:rPr>
              <a:t>option </a:t>
            </a:r>
            <a:r>
              <a:rPr sz="1900" spc="-40" dirty="0">
                <a:latin typeface="Calibri"/>
                <a:cs typeface="Calibri"/>
              </a:rPr>
              <a:t>You </a:t>
            </a:r>
            <a:r>
              <a:rPr sz="1900" spc="5" dirty="0">
                <a:latin typeface="Calibri"/>
                <a:cs typeface="Calibri"/>
              </a:rPr>
              <a:t>must </a:t>
            </a:r>
            <a:r>
              <a:rPr sz="1900" spc="10" dirty="0">
                <a:latin typeface="Calibri"/>
                <a:cs typeface="Calibri"/>
              </a:rPr>
              <a:t>do one </a:t>
            </a:r>
            <a:r>
              <a:rPr sz="1900" spc="5" dirty="0">
                <a:latin typeface="Calibri"/>
                <a:cs typeface="Calibri"/>
              </a:rPr>
              <a:t>of  </a:t>
            </a:r>
            <a:r>
              <a:rPr sz="1900" dirty="0">
                <a:latin typeface="Calibri"/>
                <a:cs typeface="Calibri"/>
              </a:rPr>
              <a:t>two </a:t>
            </a:r>
            <a:r>
              <a:rPr sz="1900" spc="10" dirty="0">
                <a:latin typeface="Calibri"/>
                <a:cs typeface="Calibri"/>
              </a:rPr>
              <a:t>things </a:t>
            </a:r>
            <a:r>
              <a:rPr sz="1900" spc="-10" dirty="0">
                <a:latin typeface="Calibri"/>
                <a:cs typeface="Calibri"/>
              </a:rPr>
              <a:t>to </a:t>
            </a:r>
            <a:r>
              <a:rPr sz="1900" spc="10" dirty="0">
                <a:latin typeface="Calibri"/>
                <a:cs typeface="Calibri"/>
              </a:rPr>
              <a:t>enable </a:t>
            </a:r>
            <a:r>
              <a:rPr sz="1900" spc="5" dirty="0">
                <a:latin typeface="Calibri"/>
                <a:cs typeface="Calibri"/>
              </a:rPr>
              <a:t>PHP </a:t>
            </a:r>
            <a:r>
              <a:rPr sz="1900" spc="-10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recognize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tags </a:t>
            </a:r>
            <a:r>
              <a:rPr sz="1900" spc="5" dirty="0">
                <a:latin typeface="Calibri"/>
                <a:cs typeface="Calibri"/>
              </a:rPr>
              <a:t>(Configuration</a:t>
            </a:r>
            <a:r>
              <a:rPr sz="1900" spc="235" dirty="0">
                <a:latin typeface="Calibri"/>
                <a:cs typeface="Calibri"/>
              </a:rPr>
              <a:t> </a:t>
            </a:r>
            <a:r>
              <a:rPr sz="1900" spc="15" dirty="0">
                <a:latin typeface="Calibri"/>
                <a:cs typeface="Calibri"/>
              </a:rPr>
              <a:t>needed)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870585" lvl="1" indent="-490220">
              <a:lnSpc>
                <a:spcPct val="100000"/>
              </a:lnSpc>
              <a:buAutoNum type="arabicPeriod" startAt="3"/>
              <a:tabLst>
                <a:tab pos="869950" algn="l"/>
                <a:tab pos="870585" algn="l"/>
              </a:tabLst>
            </a:pPr>
            <a:r>
              <a:rPr sz="1900" spc="-5" dirty="0">
                <a:solidFill>
                  <a:srgbClr val="0070C0"/>
                </a:solidFill>
                <a:latin typeface="Calibri"/>
                <a:cs typeface="Calibri"/>
              </a:rPr>
              <a:t>ASP-style </a:t>
            </a:r>
            <a:r>
              <a:rPr sz="1900" dirty="0">
                <a:solidFill>
                  <a:srgbClr val="0070C0"/>
                </a:solidFill>
                <a:latin typeface="Calibri"/>
                <a:cs typeface="Calibri"/>
              </a:rPr>
              <a:t>tags </a:t>
            </a:r>
            <a:r>
              <a:rPr sz="1900" dirty="0">
                <a:latin typeface="Calibri"/>
                <a:cs typeface="Calibri"/>
              </a:rPr>
              <a:t>- </a:t>
            </a:r>
            <a:r>
              <a:rPr sz="1900" spc="10" dirty="0">
                <a:latin typeface="Calibri"/>
                <a:cs typeface="Calibri"/>
              </a:rPr>
              <a:t>mimic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tags </a:t>
            </a:r>
            <a:r>
              <a:rPr sz="1900" spc="10" dirty="0">
                <a:latin typeface="Calibri"/>
                <a:cs typeface="Calibri"/>
              </a:rPr>
              <a:t>used </a:t>
            </a:r>
            <a:r>
              <a:rPr sz="1900" spc="5" dirty="0">
                <a:latin typeface="Calibri"/>
                <a:cs typeface="Calibri"/>
              </a:rPr>
              <a:t>by </a:t>
            </a:r>
            <a:r>
              <a:rPr sz="1900" dirty="0">
                <a:latin typeface="Calibri"/>
                <a:cs typeface="Calibri"/>
              </a:rPr>
              <a:t>Active </a:t>
            </a:r>
            <a:r>
              <a:rPr sz="1900" spc="10" dirty="0">
                <a:latin typeface="Calibri"/>
                <a:cs typeface="Calibri"/>
              </a:rPr>
              <a:t>Server </a:t>
            </a:r>
            <a:r>
              <a:rPr sz="1900" dirty="0">
                <a:latin typeface="Calibri"/>
                <a:cs typeface="Calibri"/>
              </a:rPr>
              <a:t>Pages </a:t>
            </a:r>
            <a:r>
              <a:rPr sz="1900" spc="-10" dirty="0">
                <a:latin typeface="Calibri"/>
                <a:cs typeface="Calibri"/>
              </a:rPr>
              <a:t>to </a:t>
            </a:r>
            <a:r>
              <a:rPr sz="1900" spc="5" dirty="0">
                <a:latin typeface="Calibri"/>
                <a:cs typeface="Calibri"/>
              </a:rPr>
              <a:t>delineate code</a:t>
            </a:r>
            <a:r>
              <a:rPr sz="1900" spc="345" dirty="0">
                <a:latin typeface="Calibri"/>
                <a:cs typeface="Calibri"/>
              </a:rPr>
              <a:t> </a:t>
            </a:r>
            <a:r>
              <a:rPr sz="1900" spc="5" dirty="0">
                <a:latin typeface="Calibri"/>
                <a:cs typeface="Calibri"/>
              </a:rPr>
              <a:t>blocks.</a:t>
            </a:r>
            <a:endParaRPr sz="1900" dirty="0">
              <a:latin typeface="Calibri"/>
              <a:cs typeface="Calibri"/>
            </a:endParaRPr>
          </a:p>
          <a:p>
            <a:pPr marL="748030" marR="401320">
              <a:lnSpc>
                <a:spcPct val="105500"/>
              </a:lnSpc>
              <a:spcBef>
                <a:spcPts val="855"/>
              </a:spcBef>
            </a:pPr>
            <a:r>
              <a:rPr sz="2600" spc="-15" dirty="0">
                <a:latin typeface="Calibri"/>
                <a:cs typeface="Calibri"/>
              </a:rPr>
              <a:t>&lt;%...%&gt; </a:t>
            </a:r>
            <a:r>
              <a:rPr sz="1900" spc="-80" dirty="0">
                <a:latin typeface="Calibri"/>
                <a:cs typeface="Calibri"/>
              </a:rPr>
              <a:t>To </a:t>
            </a:r>
            <a:r>
              <a:rPr sz="1900" spc="5" dirty="0">
                <a:latin typeface="Calibri"/>
                <a:cs typeface="Calibri"/>
              </a:rPr>
              <a:t>use </a:t>
            </a:r>
            <a:r>
              <a:rPr sz="1900" spc="-5" dirty="0">
                <a:latin typeface="Calibri"/>
                <a:cs typeface="Calibri"/>
              </a:rPr>
              <a:t>ASP-style </a:t>
            </a:r>
            <a:r>
              <a:rPr sz="1900" dirty="0">
                <a:latin typeface="Calibri"/>
                <a:cs typeface="Calibri"/>
              </a:rPr>
              <a:t>tags, you </a:t>
            </a:r>
            <a:r>
              <a:rPr sz="1900" spc="10" dirty="0">
                <a:latin typeface="Calibri"/>
                <a:cs typeface="Calibri"/>
              </a:rPr>
              <a:t>need </a:t>
            </a:r>
            <a:r>
              <a:rPr sz="1900" spc="-10" dirty="0">
                <a:latin typeface="Calibri"/>
                <a:cs typeface="Calibri"/>
              </a:rPr>
              <a:t>to </a:t>
            </a:r>
            <a:r>
              <a:rPr sz="1900" dirty="0">
                <a:latin typeface="Calibri"/>
                <a:cs typeface="Calibri"/>
              </a:rPr>
              <a:t>set </a:t>
            </a:r>
            <a:r>
              <a:rPr sz="1900" spc="5" dirty="0">
                <a:latin typeface="Calibri"/>
                <a:cs typeface="Calibri"/>
              </a:rPr>
              <a:t>the </a:t>
            </a:r>
            <a:r>
              <a:rPr sz="1900" dirty="0">
                <a:latin typeface="Calibri"/>
                <a:cs typeface="Calibri"/>
              </a:rPr>
              <a:t>configuration </a:t>
            </a:r>
            <a:r>
              <a:rPr sz="1900" spc="5" dirty="0">
                <a:latin typeface="Calibri"/>
                <a:cs typeface="Calibri"/>
              </a:rPr>
              <a:t>option </a:t>
            </a:r>
            <a:r>
              <a:rPr sz="1900" dirty="0">
                <a:latin typeface="Calibri"/>
                <a:cs typeface="Calibri"/>
              </a:rPr>
              <a:t>in your  </a:t>
            </a:r>
            <a:r>
              <a:rPr sz="1900" spc="10" dirty="0">
                <a:latin typeface="Calibri"/>
                <a:cs typeface="Calibri"/>
              </a:rPr>
              <a:t>php.ini </a:t>
            </a:r>
            <a:r>
              <a:rPr sz="1900" spc="5" dirty="0">
                <a:latin typeface="Calibri"/>
                <a:cs typeface="Calibri"/>
              </a:rPr>
              <a:t>file.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870585" lvl="1" indent="-490220">
              <a:lnSpc>
                <a:spcPct val="100000"/>
              </a:lnSpc>
              <a:buAutoNum type="arabicPeriod" startAt="4"/>
              <a:tabLst>
                <a:tab pos="869950" algn="l"/>
                <a:tab pos="870585" algn="l"/>
              </a:tabLst>
            </a:pPr>
            <a:r>
              <a:rPr sz="1900" spc="10" dirty="0">
                <a:solidFill>
                  <a:srgbClr val="0070C0"/>
                </a:solidFill>
                <a:latin typeface="Calibri"/>
                <a:cs typeface="Calibri"/>
              </a:rPr>
              <a:t>HTML </a:t>
            </a:r>
            <a:r>
              <a:rPr sz="1900" spc="5" dirty="0">
                <a:solidFill>
                  <a:srgbClr val="0070C0"/>
                </a:solidFill>
                <a:latin typeface="Calibri"/>
                <a:cs typeface="Calibri"/>
              </a:rPr>
              <a:t>script</a:t>
            </a:r>
            <a:r>
              <a:rPr sz="1900" spc="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70C0"/>
                </a:solidFill>
                <a:latin typeface="Calibri"/>
                <a:cs typeface="Calibri"/>
              </a:rPr>
              <a:t>tags</a:t>
            </a:r>
            <a:endParaRPr sz="1900" dirty="0">
              <a:latin typeface="Calibri"/>
              <a:cs typeface="Calibri"/>
            </a:endParaRPr>
          </a:p>
          <a:p>
            <a:pPr marL="748030">
              <a:lnSpc>
                <a:spcPct val="100000"/>
              </a:lnSpc>
              <a:spcBef>
                <a:spcPts val="1220"/>
              </a:spcBef>
            </a:pPr>
            <a:r>
              <a:rPr sz="2600" spc="-15" dirty="0">
                <a:latin typeface="Calibri"/>
                <a:cs typeface="Calibri"/>
              </a:rPr>
              <a:t>&lt;script </a:t>
            </a:r>
            <a:r>
              <a:rPr sz="2600" spc="-20" dirty="0">
                <a:latin typeface="Calibri"/>
                <a:cs typeface="Calibri"/>
              </a:rPr>
              <a:t>language </a:t>
            </a:r>
            <a:r>
              <a:rPr sz="2600" dirty="0">
                <a:latin typeface="Calibri"/>
                <a:cs typeface="Calibri"/>
              </a:rPr>
              <a:t>=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"PHP"&gt;...&lt;/script&gt;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1800" y="101599"/>
            <a:ext cx="4032504" cy="9723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342772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Hello </a:t>
            </a:r>
            <a:r>
              <a:rPr spc="-20" dirty="0"/>
              <a:t>World </a:t>
            </a:r>
            <a:r>
              <a:rPr dirty="0"/>
              <a:t>in</a:t>
            </a:r>
            <a:r>
              <a:rPr spc="45" dirty="0"/>
              <a:t> </a:t>
            </a:r>
            <a:r>
              <a:rPr spc="15" dirty="0"/>
              <a:t>PHP</a:t>
            </a:r>
          </a:p>
        </p:txBody>
      </p:sp>
      <p:sp>
        <p:nvSpPr>
          <p:cNvPr id="7" name="object 7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0957" y="1214808"/>
            <a:ext cx="8578849" cy="32783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85504" y="2547594"/>
            <a:ext cx="3431539" cy="19608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73589" y="2535679"/>
            <a:ext cx="3455670" cy="1985010"/>
          </a:xfrm>
          <a:custGeom>
            <a:avLst/>
            <a:gdLst/>
            <a:ahLst/>
            <a:cxnLst/>
            <a:rect l="l" t="t" r="r" b="b"/>
            <a:pathLst>
              <a:path w="3455670" h="1985010">
                <a:moveTo>
                  <a:pt x="0" y="0"/>
                </a:moveTo>
                <a:lnTo>
                  <a:pt x="3455369" y="0"/>
                </a:lnTo>
                <a:lnTo>
                  <a:pt x="3455369" y="1984710"/>
                </a:lnTo>
                <a:lnTo>
                  <a:pt x="0" y="1984710"/>
                </a:lnTo>
                <a:lnTo>
                  <a:pt x="0" y="0"/>
                </a:lnTo>
                <a:close/>
              </a:path>
            </a:pathLst>
          </a:custGeom>
          <a:ln w="2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81596" y="4690604"/>
            <a:ext cx="7353299" cy="204258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67979" y="4676986"/>
            <a:ext cx="7380605" cy="2070100"/>
          </a:xfrm>
          <a:custGeom>
            <a:avLst/>
            <a:gdLst/>
            <a:ahLst/>
            <a:cxnLst/>
            <a:rect l="l" t="t" r="r" b="b"/>
            <a:pathLst>
              <a:path w="7380605" h="2070100">
                <a:moveTo>
                  <a:pt x="0" y="0"/>
                </a:moveTo>
                <a:lnTo>
                  <a:pt x="7380533" y="0"/>
                </a:lnTo>
                <a:lnTo>
                  <a:pt x="7380533" y="2069817"/>
                </a:lnTo>
                <a:lnTo>
                  <a:pt x="0" y="2069817"/>
                </a:lnTo>
                <a:lnTo>
                  <a:pt x="0" y="0"/>
                </a:lnTo>
                <a:close/>
              </a:path>
            </a:pathLst>
          </a:custGeom>
          <a:ln w="272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3526536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291973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Variables </a:t>
            </a:r>
            <a:r>
              <a:rPr dirty="0"/>
              <a:t>in </a:t>
            </a:r>
            <a:r>
              <a:rPr spc="10" dirty="0"/>
              <a:t>PHP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04151" y="1264170"/>
            <a:ext cx="8660552" cy="514731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77011" y="5839557"/>
            <a:ext cx="1797685" cy="654050"/>
          </a:xfrm>
          <a:custGeom>
            <a:avLst/>
            <a:gdLst/>
            <a:ahLst/>
            <a:cxnLst/>
            <a:rect l="l" t="t" r="r" b="b"/>
            <a:pathLst>
              <a:path w="1797684" h="654050">
                <a:moveTo>
                  <a:pt x="1348104" y="0"/>
                </a:moveTo>
                <a:lnTo>
                  <a:pt x="1348104" y="163405"/>
                </a:lnTo>
                <a:lnTo>
                  <a:pt x="0" y="163405"/>
                </a:lnTo>
                <a:lnTo>
                  <a:pt x="0" y="490219"/>
                </a:lnTo>
                <a:lnTo>
                  <a:pt x="1348104" y="490219"/>
                </a:lnTo>
                <a:lnTo>
                  <a:pt x="1348104" y="653626"/>
                </a:lnTo>
                <a:lnTo>
                  <a:pt x="1797474" y="326814"/>
                </a:lnTo>
                <a:lnTo>
                  <a:pt x="1348104" y="0"/>
                </a:lnTo>
                <a:close/>
              </a:path>
            </a:pathLst>
          </a:custGeom>
          <a:solidFill>
            <a:srgbClr val="00B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77011" y="5839557"/>
            <a:ext cx="1797685" cy="654050"/>
          </a:xfrm>
          <a:custGeom>
            <a:avLst/>
            <a:gdLst/>
            <a:ahLst/>
            <a:cxnLst/>
            <a:rect l="l" t="t" r="r" b="b"/>
            <a:pathLst>
              <a:path w="1797684" h="654050">
                <a:moveTo>
                  <a:pt x="0" y="163406"/>
                </a:moveTo>
                <a:lnTo>
                  <a:pt x="1348104" y="163406"/>
                </a:lnTo>
                <a:lnTo>
                  <a:pt x="1348104" y="0"/>
                </a:lnTo>
                <a:lnTo>
                  <a:pt x="1797473" y="326814"/>
                </a:lnTo>
                <a:lnTo>
                  <a:pt x="1348104" y="653626"/>
                </a:lnTo>
                <a:lnTo>
                  <a:pt x="1348104" y="490220"/>
                </a:lnTo>
                <a:lnTo>
                  <a:pt x="0" y="490220"/>
                </a:lnTo>
                <a:lnTo>
                  <a:pt x="0" y="163406"/>
                </a:lnTo>
                <a:close/>
              </a:path>
            </a:pathLst>
          </a:custGeom>
          <a:ln w="102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17541" y="1501647"/>
            <a:ext cx="28797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0070C0"/>
                </a:solidFill>
                <a:latin typeface="Calibri"/>
                <a:cs typeface="Calibri"/>
              </a:rPr>
              <a:t>PHP </a:t>
            </a:r>
            <a:r>
              <a:rPr sz="2100" dirty="0">
                <a:solidFill>
                  <a:srgbClr val="0070C0"/>
                </a:solidFill>
                <a:latin typeface="Calibri"/>
                <a:cs typeface="Calibri"/>
              </a:rPr>
              <a:t>Variable </a:t>
            </a: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Declarations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16074" y="4460263"/>
            <a:ext cx="1007110" cy="233045"/>
          </a:xfrm>
          <a:custGeom>
            <a:avLst/>
            <a:gdLst/>
            <a:ahLst/>
            <a:cxnLst/>
            <a:rect l="l" t="t" r="r" b="b"/>
            <a:pathLst>
              <a:path w="1007110" h="233045">
                <a:moveTo>
                  <a:pt x="81777" y="142582"/>
                </a:moveTo>
                <a:lnTo>
                  <a:pt x="0" y="204816"/>
                </a:lnTo>
                <a:lnTo>
                  <a:pt x="98852" y="232898"/>
                </a:lnTo>
                <a:lnTo>
                  <a:pt x="93699" y="205639"/>
                </a:lnTo>
                <a:lnTo>
                  <a:pt x="78108" y="205639"/>
                </a:lnTo>
                <a:lnTo>
                  <a:pt x="72416" y="175534"/>
                </a:lnTo>
                <a:lnTo>
                  <a:pt x="87469" y="172688"/>
                </a:lnTo>
                <a:lnTo>
                  <a:pt x="81777" y="142582"/>
                </a:lnTo>
                <a:close/>
              </a:path>
              <a:path w="1007110" h="233045">
                <a:moveTo>
                  <a:pt x="87469" y="172688"/>
                </a:moveTo>
                <a:lnTo>
                  <a:pt x="72416" y="175534"/>
                </a:lnTo>
                <a:lnTo>
                  <a:pt x="78108" y="205639"/>
                </a:lnTo>
                <a:lnTo>
                  <a:pt x="93161" y="202793"/>
                </a:lnTo>
                <a:lnTo>
                  <a:pt x="87469" y="172688"/>
                </a:lnTo>
                <a:close/>
              </a:path>
              <a:path w="1007110" h="233045">
                <a:moveTo>
                  <a:pt x="93161" y="202793"/>
                </a:moveTo>
                <a:lnTo>
                  <a:pt x="78108" y="205639"/>
                </a:lnTo>
                <a:lnTo>
                  <a:pt x="93699" y="205639"/>
                </a:lnTo>
                <a:lnTo>
                  <a:pt x="93161" y="202793"/>
                </a:lnTo>
                <a:close/>
              </a:path>
              <a:path w="1007110" h="233045">
                <a:moveTo>
                  <a:pt x="1000865" y="0"/>
                </a:moveTo>
                <a:lnTo>
                  <a:pt x="87469" y="172688"/>
                </a:lnTo>
                <a:lnTo>
                  <a:pt x="93161" y="202793"/>
                </a:lnTo>
                <a:lnTo>
                  <a:pt x="1006556" y="30105"/>
                </a:lnTo>
                <a:lnTo>
                  <a:pt x="10008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619210" y="4162551"/>
            <a:ext cx="27114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20" dirty="0">
                <a:solidFill>
                  <a:srgbClr val="0070C0"/>
                </a:solidFill>
                <a:latin typeface="Calibri"/>
                <a:cs typeface="Calibri"/>
              </a:rPr>
              <a:t>Embedded </a:t>
            </a:r>
            <a:r>
              <a:rPr sz="2100" spc="15" dirty="0">
                <a:solidFill>
                  <a:srgbClr val="0070C0"/>
                </a:solidFill>
                <a:latin typeface="Calibri"/>
                <a:cs typeface="Calibri"/>
              </a:rPr>
              <a:t>PHP </a:t>
            </a:r>
            <a:r>
              <a:rPr sz="2100" spc="5" dirty="0">
                <a:solidFill>
                  <a:srgbClr val="0070C0"/>
                </a:solidFill>
                <a:latin typeface="Calibri"/>
                <a:cs typeface="Calibri"/>
              </a:rPr>
              <a:t>in</a:t>
            </a:r>
            <a:r>
              <a:rPr sz="2100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100" spc="20" dirty="0">
                <a:solidFill>
                  <a:srgbClr val="0070C0"/>
                </a:solidFill>
                <a:latin typeface="Calibri"/>
                <a:cs typeface="Calibri"/>
              </a:rPr>
              <a:t>HTML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79507" y="1797847"/>
            <a:ext cx="1007110" cy="233045"/>
          </a:xfrm>
          <a:custGeom>
            <a:avLst/>
            <a:gdLst/>
            <a:ahLst/>
            <a:cxnLst/>
            <a:rect l="l" t="t" r="r" b="b"/>
            <a:pathLst>
              <a:path w="1007110" h="233044">
                <a:moveTo>
                  <a:pt x="81779" y="142582"/>
                </a:moveTo>
                <a:lnTo>
                  <a:pt x="0" y="204816"/>
                </a:lnTo>
                <a:lnTo>
                  <a:pt x="98854" y="232898"/>
                </a:lnTo>
                <a:lnTo>
                  <a:pt x="93700" y="205639"/>
                </a:lnTo>
                <a:lnTo>
                  <a:pt x="78108" y="205639"/>
                </a:lnTo>
                <a:lnTo>
                  <a:pt x="72417" y="175534"/>
                </a:lnTo>
                <a:lnTo>
                  <a:pt x="87470" y="172688"/>
                </a:lnTo>
                <a:lnTo>
                  <a:pt x="81779" y="142582"/>
                </a:lnTo>
                <a:close/>
              </a:path>
              <a:path w="1007110" h="233044">
                <a:moveTo>
                  <a:pt x="87470" y="172688"/>
                </a:moveTo>
                <a:lnTo>
                  <a:pt x="72417" y="175534"/>
                </a:lnTo>
                <a:lnTo>
                  <a:pt x="78108" y="205639"/>
                </a:lnTo>
                <a:lnTo>
                  <a:pt x="93162" y="202793"/>
                </a:lnTo>
                <a:lnTo>
                  <a:pt x="87470" y="172688"/>
                </a:lnTo>
                <a:close/>
              </a:path>
              <a:path w="1007110" h="233044">
                <a:moveTo>
                  <a:pt x="93162" y="202793"/>
                </a:moveTo>
                <a:lnTo>
                  <a:pt x="78108" y="205639"/>
                </a:lnTo>
                <a:lnTo>
                  <a:pt x="93700" y="205639"/>
                </a:lnTo>
                <a:lnTo>
                  <a:pt x="93162" y="202793"/>
                </a:lnTo>
                <a:close/>
              </a:path>
              <a:path w="1007110" h="233044">
                <a:moveTo>
                  <a:pt x="1000865" y="0"/>
                </a:moveTo>
                <a:lnTo>
                  <a:pt x="87470" y="172688"/>
                </a:lnTo>
                <a:lnTo>
                  <a:pt x="93162" y="202793"/>
                </a:lnTo>
                <a:lnTo>
                  <a:pt x="1006557" y="30105"/>
                </a:lnTo>
                <a:lnTo>
                  <a:pt x="10008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3526536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291973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Variables </a:t>
            </a:r>
            <a:r>
              <a:rPr dirty="0"/>
              <a:t>in </a:t>
            </a:r>
            <a:r>
              <a:rPr spc="10" dirty="0"/>
              <a:t>PHP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93517" y="1509280"/>
            <a:ext cx="2369395" cy="17872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81602" y="1497365"/>
            <a:ext cx="2393315" cy="1811655"/>
          </a:xfrm>
          <a:custGeom>
            <a:avLst/>
            <a:gdLst/>
            <a:ahLst/>
            <a:cxnLst/>
            <a:rect l="l" t="t" r="r" b="b"/>
            <a:pathLst>
              <a:path w="2393315" h="1811654">
                <a:moveTo>
                  <a:pt x="0" y="0"/>
                </a:moveTo>
                <a:lnTo>
                  <a:pt x="2393225" y="0"/>
                </a:lnTo>
                <a:lnTo>
                  <a:pt x="2393225" y="1811090"/>
                </a:lnTo>
                <a:lnTo>
                  <a:pt x="0" y="1811090"/>
                </a:lnTo>
                <a:lnTo>
                  <a:pt x="0" y="0"/>
                </a:lnTo>
                <a:close/>
              </a:path>
            </a:pathLst>
          </a:custGeom>
          <a:ln w="2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89685" y="3585907"/>
            <a:ext cx="8088630" cy="294131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5805497" y="2560130"/>
            <a:ext cx="991235" cy="910590"/>
          </a:xfrm>
          <a:custGeom>
            <a:avLst/>
            <a:gdLst/>
            <a:ahLst/>
            <a:cxnLst/>
            <a:rect l="l" t="t" r="r" b="b"/>
            <a:pathLst>
              <a:path w="991234" h="910589">
                <a:moveTo>
                  <a:pt x="36701" y="814042"/>
                </a:moveTo>
                <a:lnTo>
                  <a:pt x="0" y="910029"/>
                </a:lnTo>
                <a:lnTo>
                  <a:pt x="98811" y="881797"/>
                </a:lnTo>
                <a:lnTo>
                  <a:pt x="87596" y="869563"/>
                </a:lnTo>
                <a:lnTo>
                  <a:pt x="66815" y="869563"/>
                </a:lnTo>
                <a:lnTo>
                  <a:pt x="46112" y="846978"/>
                </a:lnTo>
                <a:lnTo>
                  <a:pt x="57404" y="836627"/>
                </a:lnTo>
                <a:lnTo>
                  <a:pt x="36701" y="814042"/>
                </a:lnTo>
                <a:close/>
              </a:path>
              <a:path w="991234" h="910589">
                <a:moveTo>
                  <a:pt x="57404" y="836627"/>
                </a:moveTo>
                <a:lnTo>
                  <a:pt x="46112" y="846978"/>
                </a:lnTo>
                <a:lnTo>
                  <a:pt x="66815" y="869563"/>
                </a:lnTo>
                <a:lnTo>
                  <a:pt x="78108" y="859212"/>
                </a:lnTo>
                <a:lnTo>
                  <a:pt x="57404" y="836627"/>
                </a:lnTo>
                <a:close/>
              </a:path>
              <a:path w="991234" h="910589">
                <a:moveTo>
                  <a:pt x="78108" y="859212"/>
                </a:moveTo>
                <a:lnTo>
                  <a:pt x="66815" y="869563"/>
                </a:lnTo>
                <a:lnTo>
                  <a:pt x="87596" y="869563"/>
                </a:lnTo>
                <a:lnTo>
                  <a:pt x="78108" y="859212"/>
                </a:lnTo>
                <a:close/>
              </a:path>
              <a:path w="991234" h="910589">
                <a:moveTo>
                  <a:pt x="970088" y="0"/>
                </a:moveTo>
                <a:lnTo>
                  <a:pt x="57404" y="836627"/>
                </a:lnTo>
                <a:lnTo>
                  <a:pt x="78108" y="859212"/>
                </a:lnTo>
                <a:lnTo>
                  <a:pt x="990791" y="22585"/>
                </a:lnTo>
                <a:lnTo>
                  <a:pt x="970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508193" y="1233423"/>
            <a:ext cx="3281679" cy="1311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Resulting </a:t>
            </a:r>
            <a:r>
              <a:rPr sz="2100" spc="-10" dirty="0">
                <a:solidFill>
                  <a:srgbClr val="0070C0"/>
                </a:solidFill>
                <a:latin typeface="Calibri"/>
                <a:cs typeface="Calibri"/>
              </a:rPr>
              <a:t>Web</a:t>
            </a:r>
            <a:r>
              <a:rPr sz="2100" spc="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70C0"/>
                </a:solidFill>
                <a:latin typeface="Calibri"/>
                <a:cs typeface="Calibri"/>
              </a:rPr>
              <a:t>Page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1282065">
              <a:lnSpc>
                <a:spcPct val="100000"/>
              </a:lnSpc>
              <a:spcBef>
                <a:spcPts val="2210"/>
              </a:spcBef>
            </a:pP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Generated</a:t>
            </a:r>
            <a:r>
              <a:rPr sz="2100" spc="-5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Source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03765" y="1568214"/>
            <a:ext cx="991235" cy="910590"/>
          </a:xfrm>
          <a:custGeom>
            <a:avLst/>
            <a:gdLst/>
            <a:ahLst/>
            <a:cxnLst/>
            <a:rect l="l" t="t" r="r" b="b"/>
            <a:pathLst>
              <a:path w="991235" h="910589">
                <a:moveTo>
                  <a:pt x="36701" y="814042"/>
                </a:moveTo>
                <a:lnTo>
                  <a:pt x="0" y="910029"/>
                </a:lnTo>
                <a:lnTo>
                  <a:pt x="98811" y="881797"/>
                </a:lnTo>
                <a:lnTo>
                  <a:pt x="87596" y="869563"/>
                </a:lnTo>
                <a:lnTo>
                  <a:pt x="66815" y="869563"/>
                </a:lnTo>
                <a:lnTo>
                  <a:pt x="46112" y="846978"/>
                </a:lnTo>
                <a:lnTo>
                  <a:pt x="57404" y="836627"/>
                </a:lnTo>
                <a:lnTo>
                  <a:pt x="36701" y="814042"/>
                </a:lnTo>
                <a:close/>
              </a:path>
              <a:path w="991235" h="910589">
                <a:moveTo>
                  <a:pt x="57404" y="836627"/>
                </a:moveTo>
                <a:lnTo>
                  <a:pt x="46112" y="846978"/>
                </a:lnTo>
                <a:lnTo>
                  <a:pt x="66815" y="869563"/>
                </a:lnTo>
                <a:lnTo>
                  <a:pt x="78108" y="859212"/>
                </a:lnTo>
                <a:lnTo>
                  <a:pt x="57404" y="836627"/>
                </a:lnTo>
                <a:close/>
              </a:path>
              <a:path w="991235" h="910589">
                <a:moveTo>
                  <a:pt x="78108" y="859212"/>
                </a:moveTo>
                <a:lnTo>
                  <a:pt x="66815" y="869563"/>
                </a:lnTo>
                <a:lnTo>
                  <a:pt x="87596" y="869563"/>
                </a:lnTo>
                <a:lnTo>
                  <a:pt x="78108" y="859212"/>
                </a:lnTo>
                <a:close/>
              </a:path>
              <a:path w="991235" h="910589">
                <a:moveTo>
                  <a:pt x="970088" y="0"/>
                </a:moveTo>
                <a:lnTo>
                  <a:pt x="57404" y="836627"/>
                </a:lnTo>
                <a:lnTo>
                  <a:pt x="78108" y="859212"/>
                </a:lnTo>
                <a:lnTo>
                  <a:pt x="990791" y="22585"/>
                </a:lnTo>
                <a:lnTo>
                  <a:pt x="9700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2627376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201930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</a:t>
            </a:r>
            <a:r>
              <a:rPr spc="-45" dirty="0"/>
              <a:t> </a:t>
            </a:r>
            <a:r>
              <a:rPr spc="-20" dirty="0"/>
              <a:t>Syntax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5658" y="1113484"/>
            <a:ext cx="8980170" cy="568071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1019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900" spc="-50" dirty="0">
                <a:latin typeface="Calibri"/>
                <a:cs typeface="Calibri"/>
              </a:rPr>
              <a:t>Syntax</a:t>
            </a:r>
            <a:r>
              <a:rPr sz="3900" spc="-30" dirty="0">
                <a:latin typeface="Calibri"/>
                <a:cs typeface="Calibri"/>
              </a:rPr>
              <a:t> </a:t>
            </a:r>
            <a:r>
              <a:rPr sz="3900" spc="-20" dirty="0">
                <a:latin typeface="Calibri"/>
                <a:cs typeface="Calibri"/>
              </a:rPr>
              <a:t>Rules</a:t>
            </a:r>
            <a:endParaRPr sz="3900">
              <a:latin typeface="Calibri"/>
              <a:cs typeface="Calibri"/>
            </a:endParaRPr>
          </a:p>
          <a:p>
            <a:pPr marL="748030" lvl="1" indent="-367665">
              <a:lnSpc>
                <a:spcPct val="100000"/>
              </a:lnSpc>
              <a:spcBef>
                <a:spcPts val="70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3000" dirty="0">
                <a:latin typeface="Calibri"/>
                <a:cs typeface="Calibri"/>
              </a:rPr>
              <a:t>PHP </a:t>
            </a:r>
            <a:r>
              <a:rPr sz="3000" spc="-20" dirty="0">
                <a:latin typeface="Calibri"/>
                <a:cs typeface="Calibri"/>
              </a:rPr>
              <a:t>statements </a:t>
            </a:r>
            <a:r>
              <a:rPr sz="3000" dirty="0">
                <a:latin typeface="Calibri"/>
                <a:cs typeface="Calibri"/>
              </a:rPr>
              <a:t>end </a:t>
            </a:r>
            <a:r>
              <a:rPr sz="3000" spc="-5" dirty="0">
                <a:latin typeface="Calibri"/>
                <a:cs typeface="Calibri"/>
              </a:rPr>
              <a:t>with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5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semicolon.</a:t>
            </a:r>
            <a:endParaRPr sz="3000">
              <a:latin typeface="Calibri"/>
              <a:cs typeface="Calibri"/>
            </a:endParaRPr>
          </a:p>
          <a:p>
            <a:pPr marL="748030" lvl="1" indent="-367665">
              <a:lnSpc>
                <a:spcPct val="100000"/>
              </a:lnSpc>
              <a:spcBef>
                <a:spcPts val="820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3000" dirty="0">
                <a:latin typeface="Calibri"/>
                <a:cs typeface="Calibri"/>
              </a:rPr>
              <a:t>PHP </a:t>
            </a:r>
            <a:r>
              <a:rPr sz="3000" spc="-10" dirty="0">
                <a:latin typeface="Calibri"/>
                <a:cs typeface="Calibri"/>
              </a:rPr>
              <a:t>ignores </a:t>
            </a:r>
            <a:r>
              <a:rPr sz="3000" spc="-25" dirty="0">
                <a:latin typeface="Calibri"/>
                <a:cs typeface="Calibri"/>
              </a:rPr>
              <a:t>extra </a:t>
            </a:r>
            <a:r>
              <a:rPr sz="3000" spc="-5" dirty="0">
                <a:latin typeface="Calibri"/>
                <a:cs typeface="Calibri"/>
              </a:rPr>
              <a:t>whitespace in</a:t>
            </a:r>
            <a:r>
              <a:rPr sz="3000" spc="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statements.</a:t>
            </a:r>
            <a:endParaRPr sz="3000">
              <a:latin typeface="Calibri"/>
              <a:cs typeface="Calibri"/>
            </a:endParaRPr>
          </a:p>
          <a:p>
            <a:pPr marL="748030" lvl="1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3000" dirty="0">
                <a:latin typeface="Calibri"/>
                <a:cs typeface="Calibri"/>
              </a:rPr>
              <a:t>PHP </a:t>
            </a:r>
            <a:r>
              <a:rPr sz="3000" spc="-5" dirty="0">
                <a:latin typeface="Calibri"/>
                <a:cs typeface="Calibri"/>
              </a:rPr>
              <a:t>is case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sensitive</a:t>
            </a:r>
            <a:endParaRPr sz="3000">
              <a:latin typeface="Calibri"/>
              <a:cs typeface="Calibri"/>
            </a:endParaRPr>
          </a:p>
          <a:p>
            <a:pPr marL="747395" marR="5080" lvl="1" indent="-367665">
              <a:lnSpc>
                <a:spcPct val="100000"/>
              </a:lnSpc>
              <a:spcBef>
                <a:spcPts val="695"/>
              </a:spcBef>
              <a:buFont typeface="Times New Roman"/>
              <a:buChar char="•"/>
              <a:tabLst>
                <a:tab pos="747395" algn="l"/>
                <a:tab pos="748030" algn="l"/>
              </a:tabLst>
            </a:pPr>
            <a:r>
              <a:rPr sz="3000" dirty="0">
                <a:latin typeface="Calibri"/>
                <a:cs typeface="Calibri"/>
              </a:rPr>
              <a:t>PHP </a:t>
            </a:r>
            <a:r>
              <a:rPr sz="3000" spc="-10" dirty="0">
                <a:latin typeface="Calibri"/>
                <a:cs typeface="Calibri"/>
              </a:rPr>
              <a:t>can </a:t>
            </a:r>
            <a:r>
              <a:rPr sz="3000" dirty="0">
                <a:latin typeface="Calibri"/>
                <a:cs typeface="Calibri"/>
              </a:rPr>
              <a:t>be run </a:t>
            </a:r>
            <a:r>
              <a:rPr sz="3000" spc="-15" dirty="0">
                <a:latin typeface="Calibri"/>
                <a:cs typeface="Calibri"/>
              </a:rPr>
              <a:t>from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5" dirty="0">
                <a:latin typeface="Calibri"/>
                <a:cs typeface="Calibri"/>
              </a:rPr>
              <a:t>command </a:t>
            </a:r>
            <a:r>
              <a:rPr sz="3000" spc="-10" dirty="0">
                <a:latin typeface="Calibri"/>
                <a:cs typeface="Calibri"/>
              </a:rPr>
              <a:t>prompt </a:t>
            </a:r>
            <a:r>
              <a:rPr sz="3000" spc="-15" dirty="0">
                <a:latin typeface="Calibri"/>
                <a:cs typeface="Calibri"/>
              </a:rPr>
              <a:t>(great </a:t>
            </a:r>
            <a:r>
              <a:rPr sz="3000" spc="-25" dirty="0">
                <a:latin typeface="Calibri"/>
                <a:cs typeface="Calibri"/>
              </a:rPr>
              <a:t>for  </a:t>
            </a:r>
            <a:r>
              <a:rPr sz="3000" dirty="0">
                <a:latin typeface="Calibri"/>
                <a:cs typeface="Calibri"/>
              </a:rPr>
              <a:t>simple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testing)</a:t>
            </a:r>
            <a:endParaRPr sz="3000">
              <a:latin typeface="Calibri"/>
              <a:cs typeface="Calibri"/>
            </a:endParaRPr>
          </a:p>
          <a:p>
            <a:pPr marL="747395">
              <a:lnSpc>
                <a:spcPct val="100000"/>
              </a:lnSpc>
              <a:spcBef>
                <a:spcPts val="590"/>
              </a:spcBef>
            </a:pP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c:\xampp\php\php.exe</a:t>
            </a:r>
            <a:r>
              <a:rPr sz="2100" spc="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–a</a:t>
            </a:r>
            <a:endParaRPr sz="2100">
              <a:latin typeface="Calibri"/>
              <a:cs typeface="Calibri"/>
            </a:endParaRPr>
          </a:p>
          <a:p>
            <a:pPr marL="747395">
              <a:lnSpc>
                <a:spcPct val="100000"/>
              </a:lnSpc>
              <a:spcBef>
                <a:spcPts val="575"/>
              </a:spcBef>
            </a:pPr>
            <a:r>
              <a:rPr sz="2100" spc="10" dirty="0">
                <a:latin typeface="Calibri"/>
                <a:cs typeface="Calibri"/>
              </a:rPr>
              <a:t>(Will </a:t>
            </a:r>
            <a:r>
              <a:rPr sz="2100" spc="15" dirty="0">
                <a:latin typeface="Calibri"/>
                <a:cs typeface="Calibri"/>
              </a:rPr>
              <a:t>open </a:t>
            </a:r>
            <a:r>
              <a:rPr sz="2100" spc="10" dirty="0">
                <a:latin typeface="Calibri"/>
                <a:cs typeface="Calibri"/>
              </a:rPr>
              <a:t>an </a:t>
            </a:r>
            <a:r>
              <a:rPr sz="2100" spc="5" dirty="0">
                <a:latin typeface="Calibri"/>
                <a:cs typeface="Calibri"/>
              </a:rPr>
              <a:t>interactive </a:t>
            </a:r>
            <a:r>
              <a:rPr sz="2100" spc="10" dirty="0">
                <a:latin typeface="Calibri"/>
                <a:cs typeface="Calibri"/>
              </a:rPr>
              <a:t>php</a:t>
            </a:r>
            <a:r>
              <a:rPr sz="2100" spc="85" dirty="0">
                <a:latin typeface="Calibri"/>
                <a:cs typeface="Calibri"/>
              </a:rPr>
              <a:t> </a:t>
            </a:r>
            <a:r>
              <a:rPr sz="2100" spc="10" dirty="0">
                <a:latin typeface="Calibri"/>
                <a:cs typeface="Calibri"/>
              </a:rPr>
              <a:t>shell)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Times New Roman"/>
              <a:cs typeface="Times New Roman"/>
            </a:endParaRPr>
          </a:p>
          <a:p>
            <a:pPr marL="747395">
              <a:lnSpc>
                <a:spcPct val="100000"/>
              </a:lnSpc>
            </a:pP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c:\xampp\php\php.exe</a:t>
            </a:r>
            <a:r>
              <a:rPr sz="2100" spc="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myphpfile.php</a:t>
            </a:r>
            <a:endParaRPr sz="2100">
              <a:latin typeface="Calibri"/>
              <a:cs typeface="Calibri"/>
            </a:endParaRPr>
          </a:p>
          <a:p>
            <a:pPr marL="747395">
              <a:lnSpc>
                <a:spcPct val="100000"/>
              </a:lnSpc>
              <a:spcBef>
                <a:spcPts val="575"/>
              </a:spcBef>
            </a:pPr>
            <a:r>
              <a:rPr sz="2100" spc="10" dirty="0">
                <a:latin typeface="Calibri"/>
                <a:cs typeface="Calibri"/>
              </a:rPr>
              <a:t>(Will </a:t>
            </a:r>
            <a:r>
              <a:rPr sz="2100" spc="5" dirty="0">
                <a:latin typeface="Calibri"/>
                <a:cs typeface="Calibri"/>
              </a:rPr>
              <a:t>evaluate </a:t>
            </a:r>
            <a:r>
              <a:rPr sz="2100" spc="10" dirty="0">
                <a:latin typeface="Calibri"/>
                <a:cs typeface="Calibri"/>
              </a:rPr>
              <a:t>the </a:t>
            </a:r>
            <a:r>
              <a:rPr sz="2100" spc="15" dirty="0">
                <a:latin typeface="Calibri"/>
                <a:cs typeface="Calibri"/>
              </a:rPr>
              <a:t>PHP </a:t>
            </a:r>
            <a:r>
              <a:rPr sz="2100" spc="10" dirty="0">
                <a:latin typeface="Calibri"/>
                <a:cs typeface="Calibri"/>
              </a:rPr>
              <a:t>script </a:t>
            </a:r>
            <a:r>
              <a:rPr sz="2100" dirty="0">
                <a:latin typeface="Calibri"/>
                <a:cs typeface="Calibri"/>
              </a:rPr>
              <a:t>– </a:t>
            </a:r>
            <a:r>
              <a:rPr sz="2100" spc="10" dirty="0">
                <a:latin typeface="Calibri"/>
                <a:cs typeface="Calibri"/>
              </a:rPr>
              <a:t>NB </a:t>
            </a:r>
            <a:r>
              <a:rPr sz="2100" spc="5" dirty="0">
                <a:latin typeface="Calibri"/>
                <a:cs typeface="Calibri"/>
              </a:rPr>
              <a:t>args </a:t>
            </a:r>
            <a:r>
              <a:rPr sz="2100" spc="10" dirty="0">
                <a:latin typeface="Calibri"/>
                <a:cs typeface="Calibri"/>
              </a:rPr>
              <a:t>can be </a:t>
            </a:r>
            <a:r>
              <a:rPr sz="2100" spc="15" dirty="0">
                <a:latin typeface="Calibri"/>
                <a:cs typeface="Calibri"/>
              </a:rPr>
              <a:t>passed </a:t>
            </a:r>
            <a:r>
              <a:rPr sz="2100" spc="5" dirty="0">
                <a:latin typeface="Calibri"/>
                <a:cs typeface="Calibri"/>
              </a:rPr>
              <a:t>in </a:t>
            </a:r>
            <a:r>
              <a:rPr sz="2100" spc="10" dirty="0">
                <a:latin typeface="Calibri"/>
                <a:cs typeface="Calibri"/>
              </a:rPr>
              <a:t>but not </a:t>
            </a:r>
            <a:r>
              <a:rPr sz="2100" spc="-5" dirty="0">
                <a:latin typeface="Calibri"/>
                <a:cs typeface="Calibri"/>
              </a:rPr>
              <a:t>for</a:t>
            </a:r>
            <a:r>
              <a:rPr sz="2100" spc="330" dirty="0">
                <a:latin typeface="Calibri"/>
                <a:cs typeface="Calibri"/>
              </a:rPr>
              <a:t> </a:t>
            </a:r>
            <a:r>
              <a:rPr sz="2100" spc="-30" dirty="0">
                <a:latin typeface="Calibri"/>
                <a:cs typeface="Calibri"/>
              </a:rPr>
              <a:t>$GET,</a:t>
            </a:r>
            <a:endParaRPr sz="2100">
              <a:latin typeface="Calibri"/>
              <a:cs typeface="Calibri"/>
            </a:endParaRPr>
          </a:p>
          <a:p>
            <a:pPr marL="747395">
              <a:lnSpc>
                <a:spcPct val="100000"/>
              </a:lnSpc>
              <a:spcBef>
                <a:spcPts val="70"/>
              </a:spcBef>
            </a:pPr>
            <a:r>
              <a:rPr sz="2100" spc="15" dirty="0">
                <a:latin typeface="Calibri"/>
                <a:cs typeface="Calibri"/>
              </a:rPr>
              <a:t>$POST</a:t>
            </a:r>
            <a:r>
              <a:rPr sz="2100" spc="25" dirty="0">
                <a:latin typeface="Calibri"/>
                <a:cs typeface="Calibri"/>
              </a:rPr>
              <a:t> </a:t>
            </a:r>
            <a:r>
              <a:rPr sz="2100" spc="5" dirty="0">
                <a:latin typeface="Calibri"/>
                <a:cs typeface="Calibri"/>
              </a:rPr>
              <a:t>etc.)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3419855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28136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-10" dirty="0"/>
              <a:t>Data</a:t>
            </a:r>
            <a:r>
              <a:rPr spc="-35" dirty="0"/>
              <a:t> </a:t>
            </a:r>
            <a:r>
              <a:rPr spc="-30" dirty="0"/>
              <a:t>Types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50172" y="1123548"/>
            <a:ext cx="4784725" cy="4517903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4100" b="1" spc="-415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4100" b="1" spc="-315" dirty="0">
                <a:solidFill>
                  <a:srgbClr val="0033CC"/>
                </a:solidFill>
                <a:latin typeface="Arial"/>
                <a:cs typeface="Arial"/>
              </a:rPr>
              <a:t>six </a:t>
            </a:r>
            <a:r>
              <a:rPr sz="4100" b="1" spc="-480" dirty="0">
                <a:solidFill>
                  <a:srgbClr val="0033CC"/>
                </a:solidFill>
                <a:latin typeface="Arial"/>
                <a:cs typeface="Arial"/>
              </a:rPr>
              <a:t>PHP </a:t>
            </a:r>
            <a:r>
              <a:rPr sz="4100" b="1" spc="-355" dirty="0">
                <a:solidFill>
                  <a:srgbClr val="0033CC"/>
                </a:solidFill>
                <a:latin typeface="Arial"/>
                <a:cs typeface="Arial"/>
              </a:rPr>
              <a:t>data</a:t>
            </a:r>
            <a:r>
              <a:rPr sz="4100" b="1" spc="-27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4100" b="1" spc="-380" dirty="0">
                <a:solidFill>
                  <a:srgbClr val="0033CC"/>
                </a:solidFill>
                <a:latin typeface="Arial"/>
                <a:cs typeface="Arial"/>
              </a:rPr>
              <a:t>types</a:t>
            </a:r>
            <a:endParaRPr sz="41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lang="en-IE" sz="3400" spc="-235" dirty="0">
                <a:latin typeface="Times New Roman"/>
                <a:cs typeface="Times New Roman"/>
              </a:rPr>
              <a:t>I</a:t>
            </a:r>
            <a:r>
              <a:rPr sz="3400" spc="-235" dirty="0" err="1">
                <a:latin typeface="Times New Roman"/>
                <a:cs typeface="Times New Roman"/>
              </a:rPr>
              <a:t>nteger</a:t>
            </a:r>
            <a:endParaRPr lang="en-IE" sz="34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sz="3400" spc="-260" dirty="0">
                <a:latin typeface="Times New Roman"/>
                <a:cs typeface="Times New Roman"/>
              </a:rPr>
              <a:t>double  </a:t>
            </a:r>
            <a:endParaRPr lang="en-IE" sz="3400" spc="-26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sz="3400" spc="-265" dirty="0" err="1">
                <a:latin typeface="Times New Roman"/>
                <a:cs typeface="Times New Roman"/>
              </a:rPr>
              <a:t>b</a:t>
            </a:r>
            <a:r>
              <a:rPr sz="3400" spc="-320" dirty="0" err="1">
                <a:latin typeface="Times New Roman"/>
                <a:cs typeface="Times New Roman"/>
              </a:rPr>
              <a:t>o</a:t>
            </a:r>
            <a:r>
              <a:rPr sz="3400" spc="-265" dirty="0" err="1">
                <a:latin typeface="Times New Roman"/>
                <a:cs typeface="Times New Roman"/>
              </a:rPr>
              <a:t>o</a:t>
            </a:r>
            <a:r>
              <a:rPr sz="3400" spc="-185" dirty="0" err="1">
                <a:latin typeface="Times New Roman"/>
                <a:cs typeface="Times New Roman"/>
              </a:rPr>
              <a:t>l</a:t>
            </a:r>
            <a:r>
              <a:rPr sz="3400" spc="-285" dirty="0" err="1">
                <a:latin typeface="Times New Roman"/>
                <a:cs typeface="Times New Roman"/>
              </a:rPr>
              <a:t>e</a:t>
            </a:r>
            <a:r>
              <a:rPr lang="en-IE" sz="3400" spc="-285" dirty="0">
                <a:latin typeface="Times New Roman"/>
                <a:cs typeface="Times New Roman"/>
              </a:rPr>
              <a:t>a</a:t>
            </a:r>
            <a:r>
              <a:rPr sz="3400" spc="-195" dirty="0">
                <a:latin typeface="Times New Roman"/>
                <a:cs typeface="Times New Roman"/>
              </a:rPr>
              <a:t>n  </a:t>
            </a:r>
            <a:endParaRPr lang="en-IE" sz="3400" spc="-195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sz="3400" spc="-220" dirty="0">
                <a:latin typeface="Times New Roman"/>
                <a:cs typeface="Times New Roman"/>
              </a:rPr>
              <a:t>string  </a:t>
            </a:r>
            <a:endParaRPr lang="en-IE" sz="3400" spc="-22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sz="3400" spc="-235" dirty="0">
                <a:latin typeface="Times New Roman"/>
                <a:cs typeface="Times New Roman"/>
              </a:rPr>
              <a:t>array  </a:t>
            </a:r>
            <a:endParaRPr lang="en-IE" sz="3400" spc="-235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5"/>
              </a:spcBef>
              <a:buFont typeface="Arial" panose="020B0604020202020204" pitchFamily="34" charset="0"/>
              <a:buChar char="•"/>
            </a:pPr>
            <a:r>
              <a:rPr sz="3400" spc="-240" dirty="0">
                <a:latin typeface="Times New Roman"/>
                <a:cs typeface="Times New Roman"/>
              </a:rPr>
              <a:t>object</a:t>
            </a:r>
            <a:endParaRPr sz="34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3419855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28136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-10" dirty="0"/>
              <a:t>Data</a:t>
            </a:r>
            <a:r>
              <a:rPr spc="-35" dirty="0"/>
              <a:t> </a:t>
            </a:r>
            <a:r>
              <a:rPr spc="-30" dirty="0"/>
              <a:t>Types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67621" y="1260755"/>
            <a:ext cx="5024755" cy="4273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10" dirty="0">
                <a:solidFill>
                  <a:srgbClr val="0033CC"/>
                </a:solidFill>
                <a:latin typeface="Arial"/>
                <a:cs typeface="Arial"/>
              </a:rPr>
              <a:t>Integer </a:t>
            </a:r>
            <a:r>
              <a:rPr sz="2600" b="1" spc="5" dirty="0">
                <a:solidFill>
                  <a:srgbClr val="0033CC"/>
                </a:solidFill>
                <a:latin typeface="Arial"/>
                <a:cs typeface="Arial"/>
              </a:rPr>
              <a:t>values </a:t>
            </a:r>
            <a:r>
              <a:rPr sz="2600" b="1" spc="10" dirty="0">
                <a:solidFill>
                  <a:srgbClr val="0033CC"/>
                </a:solidFill>
                <a:latin typeface="Arial"/>
                <a:cs typeface="Arial"/>
              </a:rPr>
              <a:t>(whole</a:t>
            </a:r>
            <a:r>
              <a:rPr sz="2600" b="1" spc="-6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600" b="1" spc="10" dirty="0">
                <a:solidFill>
                  <a:srgbClr val="0033CC"/>
                </a:solidFill>
                <a:latin typeface="Arial"/>
                <a:cs typeface="Arial"/>
              </a:rPr>
              <a:t>numbers)</a:t>
            </a:r>
            <a:endParaRPr sz="26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1446990" y="1724948"/>
            <a:ext cx="424815" cy="5435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025"/>
              </a:lnSpc>
              <a:spcBef>
                <a:spcPts val="125"/>
              </a:spcBef>
            </a:pPr>
            <a:r>
              <a:rPr sz="1700" b="1" spc="-5" dirty="0">
                <a:latin typeface="Courier New"/>
                <a:cs typeface="Courier New"/>
              </a:rPr>
              <a:t>15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2025"/>
              </a:lnSpc>
            </a:pPr>
            <a:r>
              <a:rPr sz="1700" b="1" dirty="0">
                <a:latin typeface="Courier New"/>
                <a:cs typeface="Courier New"/>
              </a:rPr>
              <a:t>-</a:t>
            </a:r>
            <a:r>
              <a:rPr sz="1700" b="1" spc="35" dirty="0">
                <a:latin typeface="Courier New"/>
                <a:cs typeface="Courier New"/>
              </a:rPr>
              <a:t>21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6815" y="1724948"/>
            <a:ext cx="2816860" cy="5435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025"/>
              </a:lnSpc>
              <a:spcBef>
                <a:spcPts val="125"/>
              </a:spcBef>
            </a:pPr>
            <a:r>
              <a:rPr sz="1700" b="1" spc="25" dirty="0">
                <a:latin typeface="Courier New"/>
                <a:cs typeface="Courier New"/>
              </a:rPr>
              <a:t>// an</a:t>
            </a:r>
            <a:r>
              <a:rPr sz="1700" b="1" dirty="0">
                <a:latin typeface="Courier New"/>
                <a:cs typeface="Courier New"/>
              </a:rPr>
              <a:t> </a:t>
            </a:r>
            <a:r>
              <a:rPr sz="1700" b="1" spc="20" dirty="0">
                <a:latin typeface="Courier New"/>
                <a:cs typeface="Courier New"/>
              </a:rPr>
              <a:t>integer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2025"/>
              </a:lnSpc>
            </a:pPr>
            <a:r>
              <a:rPr sz="1700" b="1" spc="25" dirty="0">
                <a:latin typeface="Courier New"/>
                <a:cs typeface="Courier New"/>
              </a:rPr>
              <a:t>// </a:t>
            </a:r>
            <a:r>
              <a:rPr sz="1700" b="1" spc="15" dirty="0">
                <a:latin typeface="Courier New"/>
                <a:cs typeface="Courier New"/>
              </a:rPr>
              <a:t>a </a:t>
            </a:r>
            <a:r>
              <a:rPr sz="1700" b="1" spc="25" dirty="0">
                <a:latin typeface="Courier New"/>
                <a:cs typeface="Courier New"/>
              </a:rPr>
              <a:t>negative</a:t>
            </a:r>
            <a:r>
              <a:rPr sz="1700" b="1" spc="-45" dirty="0">
                <a:latin typeface="Courier New"/>
                <a:cs typeface="Courier New"/>
              </a:rPr>
              <a:t> </a:t>
            </a:r>
            <a:r>
              <a:rPr sz="1700" b="1" spc="20" dirty="0">
                <a:latin typeface="Courier New"/>
                <a:cs typeface="Courier New"/>
              </a:rPr>
              <a:t>integer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7621" y="2393666"/>
            <a:ext cx="7660640" cy="4273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15" dirty="0">
                <a:solidFill>
                  <a:srgbClr val="0033CC"/>
                </a:solidFill>
                <a:latin typeface="Arial"/>
                <a:cs typeface="Arial"/>
              </a:rPr>
              <a:t>Double </a:t>
            </a:r>
            <a:r>
              <a:rPr sz="2600" b="1" spc="10" dirty="0">
                <a:solidFill>
                  <a:srgbClr val="0033CC"/>
                </a:solidFill>
                <a:latin typeface="Arial"/>
                <a:cs typeface="Arial"/>
              </a:rPr>
              <a:t>values (numbers </a:t>
            </a:r>
            <a:r>
              <a:rPr sz="2600" b="1" spc="15" dirty="0">
                <a:solidFill>
                  <a:srgbClr val="0033CC"/>
                </a:solidFill>
                <a:latin typeface="Arial"/>
                <a:cs typeface="Arial"/>
              </a:rPr>
              <a:t>with </a:t>
            </a:r>
            <a:r>
              <a:rPr sz="2600" b="1" dirty="0">
                <a:solidFill>
                  <a:srgbClr val="0033CC"/>
                </a:solidFill>
                <a:latin typeface="Arial"/>
                <a:cs typeface="Arial"/>
              </a:rPr>
              <a:t>decimal</a:t>
            </a:r>
            <a:r>
              <a:rPr sz="2600" b="1" spc="-12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600" b="1" spc="5" dirty="0">
                <a:solidFill>
                  <a:srgbClr val="0033CC"/>
                </a:solidFill>
                <a:latin typeface="Arial"/>
                <a:cs typeface="Arial"/>
              </a:rPr>
              <a:t>positions)</a:t>
            </a:r>
            <a:endParaRPr sz="2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46990" y="2863262"/>
            <a:ext cx="958850" cy="5384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000"/>
              </a:lnSpc>
              <a:spcBef>
                <a:spcPts val="125"/>
              </a:spcBef>
            </a:pPr>
            <a:r>
              <a:rPr sz="1700" b="1" spc="20" dirty="0">
                <a:latin typeface="Courier New"/>
                <a:cs typeface="Courier New"/>
              </a:rPr>
              <a:t>21.5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2000"/>
              </a:lnSpc>
            </a:pPr>
            <a:r>
              <a:rPr sz="1700" b="1" dirty="0">
                <a:latin typeface="Courier New"/>
                <a:cs typeface="Courier New"/>
              </a:rPr>
              <a:t>-</a:t>
            </a:r>
            <a:r>
              <a:rPr sz="1700" b="1" spc="35" dirty="0">
                <a:latin typeface="Courier New"/>
                <a:cs typeface="Courier New"/>
              </a:rPr>
              <a:t>12</a:t>
            </a:r>
            <a:r>
              <a:rPr sz="1700" b="1" spc="-5" dirty="0">
                <a:latin typeface="Courier New"/>
                <a:cs typeface="Courier New"/>
              </a:rPr>
              <a:t>4</a:t>
            </a:r>
            <a:r>
              <a:rPr sz="1700" b="1" spc="35" dirty="0">
                <a:latin typeface="Courier New"/>
                <a:cs typeface="Courier New"/>
              </a:rPr>
              <a:t>.82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06793" y="2863262"/>
            <a:ext cx="4556125" cy="5384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000"/>
              </a:lnSpc>
              <a:spcBef>
                <a:spcPts val="125"/>
              </a:spcBef>
            </a:pPr>
            <a:r>
              <a:rPr sz="1700" b="1" spc="25" dirty="0">
                <a:latin typeface="Courier New"/>
                <a:cs typeface="Courier New"/>
              </a:rPr>
              <a:t>// </a:t>
            </a:r>
            <a:r>
              <a:rPr sz="1700" b="1" spc="15" dirty="0">
                <a:latin typeface="Courier New"/>
                <a:cs typeface="Courier New"/>
              </a:rPr>
              <a:t>a </a:t>
            </a:r>
            <a:r>
              <a:rPr sz="1700" b="1" spc="25" dirty="0">
                <a:latin typeface="Courier New"/>
                <a:cs typeface="Courier New"/>
              </a:rPr>
              <a:t>floating-point</a:t>
            </a:r>
            <a:r>
              <a:rPr sz="1700" b="1" spc="10" dirty="0">
                <a:latin typeface="Courier New"/>
                <a:cs typeface="Courier New"/>
              </a:rPr>
              <a:t> </a:t>
            </a:r>
            <a:r>
              <a:rPr sz="1700" b="1" spc="25" dirty="0">
                <a:latin typeface="Courier New"/>
                <a:cs typeface="Courier New"/>
              </a:rPr>
              <a:t>value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ts val="2000"/>
              </a:lnSpc>
            </a:pPr>
            <a:r>
              <a:rPr sz="1700" b="1" spc="25" dirty="0">
                <a:latin typeface="Courier New"/>
                <a:cs typeface="Courier New"/>
              </a:rPr>
              <a:t>// </a:t>
            </a:r>
            <a:r>
              <a:rPr sz="1700" b="1" spc="15" dirty="0">
                <a:latin typeface="Courier New"/>
                <a:cs typeface="Courier New"/>
              </a:rPr>
              <a:t>a </a:t>
            </a:r>
            <a:r>
              <a:rPr sz="1700" b="1" spc="25" dirty="0">
                <a:latin typeface="Courier New"/>
                <a:cs typeface="Courier New"/>
              </a:rPr>
              <a:t>negative floating-point</a:t>
            </a:r>
            <a:r>
              <a:rPr sz="1700" b="1" spc="-10" dirty="0">
                <a:latin typeface="Courier New"/>
                <a:cs typeface="Courier New"/>
              </a:rPr>
              <a:t> </a:t>
            </a:r>
            <a:r>
              <a:rPr sz="1700" b="1" spc="25" dirty="0">
                <a:latin typeface="Courier New"/>
                <a:cs typeface="Courier New"/>
              </a:rPr>
              <a:t>value</a:t>
            </a:r>
            <a:endParaRPr sz="1700">
              <a:latin typeface="Courier New"/>
              <a:cs typeface="Courier New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1427940" y="4045490"/>
          <a:ext cx="6845933" cy="4979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0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94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83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8997">
                <a:tc>
                  <a:txBody>
                    <a:bodyPr/>
                    <a:lstStyle/>
                    <a:p>
                      <a:pPr marL="31750">
                        <a:lnSpc>
                          <a:spcPts val="1780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true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6515" algn="r">
                        <a:lnSpc>
                          <a:spcPts val="1780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//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0"/>
                        </a:lnSpc>
                      </a:pPr>
                      <a:r>
                        <a:rPr sz="1700" b="1" spc="25" dirty="0">
                          <a:latin typeface="Courier New"/>
                          <a:cs typeface="Courier New"/>
                        </a:rPr>
                        <a:t>equivalent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780"/>
                        </a:lnSpc>
                      </a:pPr>
                      <a:r>
                        <a:rPr sz="1700" b="1" spc="35" dirty="0">
                          <a:latin typeface="Courier New"/>
                          <a:cs typeface="Courier New"/>
                        </a:rPr>
                        <a:t>to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780"/>
                        </a:lnSpc>
                      </a:pPr>
                      <a:r>
                        <a:rPr sz="1700" b="1" spc="25" dirty="0">
                          <a:latin typeface="Courier New"/>
                          <a:cs typeface="Courier New"/>
                        </a:rPr>
                        <a:t>true, </a:t>
                      </a:r>
                      <a:r>
                        <a:rPr sz="1700" b="1" spc="20" dirty="0">
                          <a:latin typeface="Courier New"/>
                          <a:cs typeface="Courier New"/>
                        </a:rPr>
                        <a:t>yes, </a:t>
                      </a:r>
                      <a:r>
                        <a:rPr sz="1700" b="1" spc="25" dirty="0">
                          <a:latin typeface="Courier New"/>
                          <a:cs typeface="Courier New"/>
                        </a:rPr>
                        <a:t>or</a:t>
                      </a:r>
                      <a:r>
                        <a:rPr sz="17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35" dirty="0">
                          <a:latin typeface="Courier New"/>
                          <a:cs typeface="Courier New"/>
                        </a:rPr>
                        <a:t>on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997">
                <a:tc>
                  <a:txBody>
                    <a:bodyPr/>
                    <a:lstStyle/>
                    <a:p>
                      <a:pPr marL="31750">
                        <a:lnSpc>
                          <a:spcPts val="1780"/>
                        </a:lnSpc>
                      </a:pPr>
                      <a:r>
                        <a:rPr sz="1700" b="1" spc="10" dirty="0">
                          <a:latin typeface="Courier New"/>
                          <a:cs typeface="Courier New"/>
                        </a:rPr>
                        <a:t>false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0325" algn="r">
                        <a:lnSpc>
                          <a:spcPts val="1780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780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equivalent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80"/>
                        </a:lnSpc>
                      </a:pPr>
                      <a:r>
                        <a:rPr sz="1700" b="1" spc="25" dirty="0">
                          <a:latin typeface="Courier New"/>
                          <a:cs typeface="Courier New"/>
                        </a:rPr>
                        <a:t>to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ts val="1780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false, 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no, </a:t>
                      </a:r>
                      <a:r>
                        <a:rPr sz="1700" b="1" spc="25" dirty="0">
                          <a:latin typeface="Courier New"/>
                          <a:cs typeface="Courier New"/>
                        </a:rPr>
                        <a:t>or</a:t>
                      </a:r>
                      <a:r>
                        <a:rPr sz="17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30" dirty="0">
                          <a:latin typeface="Courier New"/>
                          <a:cs typeface="Courier New"/>
                        </a:rPr>
                        <a:t>off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1067621" y="3526577"/>
            <a:ext cx="3818890" cy="15652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00" b="1" spc="5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2600" b="1" spc="20" dirty="0">
                <a:solidFill>
                  <a:srgbClr val="0033CC"/>
                </a:solidFill>
                <a:latin typeface="Arial"/>
                <a:cs typeface="Arial"/>
              </a:rPr>
              <a:t>two </a:t>
            </a:r>
            <a:r>
              <a:rPr sz="2600" b="1" spc="5" dirty="0">
                <a:solidFill>
                  <a:srgbClr val="0033CC"/>
                </a:solidFill>
                <a:latin typeface="Arial"/>
                <a:cs typeface="Arial"/>
              </a:rPr>
              <a:t>Boolean</a:t>
            </a:r>
            <a:r>
              <a:rPr sz="2600" b="1" spc="-6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600" b="1" spc="5" dirty="0">
                <a:solidFill>
                  <a:srgbClr val="0033CC"/>
                </a:solidFill>
                <a:latin typeface="Arial"/>
                <a:cs typeface="Arial"/>
              </a:rPr>
              <a:t>values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sz="2600" b="1" spc="15" dirty="0">
                <a:solidFill>
                  <a:srgbClr val="0033CC"/>
                </a:solidFill>
                <a:latin typeface="Arial"/>
                <a:cs typeface="Arial"/>
              </a:rPr>
              <a:t>String</a:t>
            </a:r>
            <a:r>
              <a:rPr sz="2600" b="1" spc="-2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600" b="1" spc="5" dirty="0">
                <a:solidFill>
                  <a:srgbClr val="0033CC"/>
                </a:solidFill>
                <a:latin typeface="Arial"/>
                <a:cs typeface="Arial"/>
              </a:rPr>
              <a:t>values</a:t>
            </a:r>
            <a:endParaRPr sz="2600">
              <a:latin typeface="Arial"/>
              <a:cs typeface="Arial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1427940" y="5178429"/>
          <a:ext cx="6310629" cy="1002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657">
                <a:tc>
                  <a:txBody>
                    <a:bodyPr/>
                    <a:lstStyle/>
                    <a:p>
                      <a:pPr marL="31750">
                        <a:lnSpc>
                          <a:spcPts val="1780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'Ray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20" dirty="0">
                          <a:latin typeface="Courier New"/>
                          <a:cs typeface="Courier New"/>
                        </a:rPr>
                        <a:t>Harris'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780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80"/>
                        </a:lnSpc>
                      </a:pPr>
                      <a:r>
                        <a:rPr sz="1700" b="1" spc="15" dirty="0">
                          <a:latin typeface="Courier New"/>
                          <a:cs typeface="Courier New"/>
                        </a:rPr>
                        <a:t>a </a:t>
                      </a:r>
                      <a:r>
                        <a:rPr sz="1700" b="1" spc="25" dirty="0">
                          <a:latin typeface="Courier New"/>
                          <a:cs typeface="Courier New"/>
                        </a:rPr>
                        <a:t>string </a:t>
                      </a:r>
                      <a:r>
                        <a:rPr sz="1700" b="1" spc="20" dirty="0">
                          <a:latin typeface="Courier New"/>
                          <a:cs typeface="Courier New"/>
                        </a:rPr>
                        <a:t>with single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20" dirty="0">
                          <a:latin typeface="Courier New"/>
                          <a:cs typeface="Courier New"/>
                        </a:rPr>
                        <a:t>quotes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47">
                <a:tc>
                  <a:txBody>
                    <a:bodyPr/>
                    <a:lstStyle/>
                    <a:p>
                      <a:pPr marL="31750">
                        <a:lnSpc>
                          <a:spcPts val="1805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"Ray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20" dirty="0">
                          <a:latin typeface="Courier New"/>
                          <a:cs typeface="Courier New"/>
                        </a:rPr>
                        <a:t>Harris"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805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805"/>
                        </a:lnSpc>
                      </a:pPr>
                      <a:r>
                        <a:rPr sz="1700" b="1" spc="15" dirty="0">
                          <a:latin typeface="Courier New"/>
                          <a:cs typeface="Courier New"/>
                        </a:rPr>
                        <a:t>a </a:t>
                      </a:r>
                      <a:r>
                        <a:rPr sz="1700" b="1" spc="25" dirty="0">
                          <a:latin typeface="Courier New"/>
                          <a:cs typeface="Courier New"/>
                        </a:rPr>
                        <a:t>string </a:t>
                      </a:r>
                      <a:r>
                        <a:rPr sz="1700" b="1" spc="20" dirty="0">
                          <a:latin typeface="Courier New"/>
                          <a:cs typeface="Courier New"/>
                        </a:rPr>
                        <a:t>with double</a:t>
                      </a:r>
                      <a:r>
                        <a:rPr sz="1700" b="1" spc="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20" dirty="0">
                          <a:latin typeface="Courier New"/>
                          <a:cs typeface="Courier New"/>
                        </a:rPr>
                        <a:t>quotes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53">
                <a:tc>
                  <a:txBody>
                    <a:bodyPr/>
                    <a:lstStyle/>
                    <a:p>
                      <a:pPr marL="31750">
                        <a:lnSpc>
                          <a:spcPts val="1780"/>
                        </a:lnSpc>
                      </a:pPr>
                      <a:r>
                        <a:rPr sz="1700" b="1" spc="-5" dirty="0">
                          <a:latin typeface="Courier New"/>
                          <a:cs typeface="Courier New"/>
                        </a:rPr>
                        <a:t>''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ts val="1780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ts val="1780"/>
                        </a:lnSpc>
                      </a:pPr>
                      <a:r>
                        <a:rPr sz="1700" b="1" spc="25" dirty="0">
                          <a:latin typeface="Courier New"/>
                          <a:cs typeface="Courier New"/>
                        </a:rPr>
                        <a:t>an empty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15" dirty="0">
                          <a:latin typeface="Courier New"/>
                          <a:cs typeface="Courier New"/>
                        </a:rPr>
                        <a:t>string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163">
                <a:tc>
                  <a:txBody>
                    <a:bodyPr/>
                    <a:lstStyle/>
                    <a:p>
                      <a:pPr marL="31750">
                        <a:lnSpc>
                          <a:spcPts val="1785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null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150" algn="r">
                        <a:lnSpc>
                          <a:spcPts val="1785"/>
                        </a:lnSpc>
                      </a:pPr>
                      <a:r>
                        <a:rPr sz="170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700" b="1" dirty="0">
                          <a:latin typeface="Courier New"/>
                          <a:cs typeface="Courier New"/>
                        </a:rPr>
                        <a:t>/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785"/>
                        </a:lnSpc>
                      </a:pPr>
                      <a:r>
                        <a:rPr sz="1700" b="1" spc="15" dirty="0">
                          <a:latin typeface="Courier New"/>
                          <a:cs typeface="Courier New"/>
                        </a:rPr>
                        <a:t>a </a:t>
                      </a:r>
                      <a:r>
                        <a:rPr sz="1700" b="1" spc="20" dirty="0">
                          <a:latin typeface="Courier New"/>
                          <a:cs typeface="Courier New"/>
                        </a:rPr>
                        <a:t>NULL</a:t>
                      </a:r>
                      <a:r>
                        <a:rPr sz="1700" b="1" spc="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700" b="1" spc="10" dirty="0">
                          <a:latin typeface="Courier New"/>
                          <a:cs typeface="Courier New"/>
                        </a:rPr>
                        <a:t>value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44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5081016" cy="9784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4647"/>
            <a:ext cx="9802368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6706"/>
            <a:ext cx="9801225" cy="737235"/>
          </a:xfrm>
          <a:custGeom>
            <a:avLst/>
            <a:gdLst/>
            <a:ahLst/>
            <a:cxnLst/>
            <a:rect l="l" t="t" r="r" b="b"/>
            <a:pathLst>
              <a:path w="9801225" h="737235">
                <a:moveTo>
                  <a:pt x="0" y="0"/>
                </a:moveTo>
                <a:lnTo>
                  <a:pt x="9800994" y="0"/>
                </a:lnTo>
                <a:lnTo>
                  <a:pt x="9800994" y="737031"/>
                </a:lnTo>
                <a:lnTo>
                  <a:pt x="0" y="737031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4495" y="144271"/>
            <a:ext cx="447611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-20" dirty="0"/>
              <a:t>Variable</a:t>
            </a:r>
            <a:r>
              <a:rPr spc="-10" dirty="0"/>
              <a:t> </a:t>
            </a:r>
            <a:r>
              <a:rPr dirty="0"/>
              <a:t>Declaration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1448" y="1247591"/>
            <a:ext cx="7948295" cy="11112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4250"/>
              </a:lnSpc>
              <a:spcBef>
                <a:spcPts val="135"/>
              </a:spcBef>
            </a:pPr>
            <a:r>
              <a:rPr sz="3600" b="1" spc="-325" dirty="0">
                <a:solidFill>
                  <a:srgbClr val="0033CC"/>
                </a:solidFill>
                <a:latin typeface="Arial"/>
                <a:cs typeface="Arial"/>
              </a:rPr>
              <a:t>Using </a:t>
            </a:r>
            <a:r>
              <a:rPr sz="3600" b="1" spc="-295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3600" b="1" spc="-335" dirty="0">
                <a:solidFill>
                  <a:srgbClr val="0033CC"/>
                </a:solidFill>
                <a:latin typeface="Arial"/>
                <a:cs typeface="Arial"/>
              </a:rPr>
              <a:t>assignment </a:t>
            </a:r>
            <a:r>
              <a:rPr sz="3600" b="1" spc="-305" dirty="0">
                <a:solidFill>
                  <a:srgbClr val="0033CC"/>
                </a:solidFill>
                <a:latin typeface="Arial"/>
                <a:cs typeface="Arial"/>
              </a:rPr>
              <a:t>operator</a:t>
            </a:r>
            <a:r>
              <a:rPr sz="3600" b="1" spc="29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600" b="1" spc="-265" dirty="0">
                <a:solidFill>
                  <a:srgbClr val="0033CC"/>
                </a:solidFill>
                <a:latin typeface="Arial"/>
                <a:cs typeface="Arial"/>
              </a:rPr>
              <a:t>(=)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250"/>
              </a:lnSpc>
            </a:pPr>
            <a:r>
              <a:rPr sz="3600" b="1" spc="-330" dirty="0">
                <a:solidFill>
                  <a:srgbClr val="0033CC"/>
                </a:solidFill>
                <a:latin typeface="Arial"/>
                <a:cs typeface="Arial"/>
              </a:rPr>
              <a:t>as </a:t>
            </a:r>
            <a:r>
              <a:rPr sz="3600" b="1" spc="-395" dirty="0">
                <a:solidFill>
                  <a:srgbClr val="0033CC"/>
                </a:solidFill>
                <a:latin typeface="Arial"/>
                <a:cs typeface="Arial"/>
              </a:rPr>
              <a:t>you </a:t>
            </a:r>
            <a:r>
              <a:rPr sz="3600" b="1" spc="-295" dirty="0">
                <a:solidFill>
                  <a:srgbClr val="0033CC"/>
                </a:solidFill>
                <a:latin typeface="Arial"/>
                <a:cs typeface="Arial"/>
              </a:rPr>
              <a:t>declare </a:t>
            </a:r>
            <a:r>
              <a:rPr sz="3600" b="1" spc="-320" dirty="0">
                <a:solidFill>
                  <a:srgbClr val="0033CC"/>
                </a:solidFill>
                <a:latin typeface="Arial"/>
                <a:cs typeface="Arial"/>
              </a:rPr>
              <a:t>a </a:t>
            </a:r>
            <a:r>
              <a:rPr sz="3600" b="1" spc="-280" dirty="0">
                <a:solidFill>
                  <a:srgbClr val="0033CC"/>
                </a:solidFill>
                <a:latin typeface="Arial"/>
                <a:cs typeface="Arial"/>
              </a:rPr>
              <a:t>variable </a:t>
            </a:r>
            <a:r>
              <a:rPr sz="3600" b="1" spc="-365" dirty="0">
                <a:solidFill>
                  <a:srgbClr val="0033CC"/>
                </a:solidFill>
                <a:latin typeface="Arial"/>
                <a:cs typeface="Arial"/>
              </a:rPr>
              <a:t>and </a:t>
            </a:r>
            <a:r>
              <a:rPr sz="3600" b="1" spc="-300" dirty="0">
                <a:solidFill>
                  <a:srgbClr val="0033CC"/>
                </a:solidFill>
                <a:latin typeface="Arial"/>
                <a:cs typeface="Arial"/>
              </a:rPr>
              <a:t>give </a:t>
            </a:r>
            <a:r>
              <a:rPr sz="3600" b="1" spc="-170" dirty="0">
                <a:solidFill>
                  <a:srgbClr val="0033CC"/>
                </a:solidFill>
                <a:latin typeface="Arial"/>
                <a:cs typeface="Arial"/>
              </a:rPr>
              <a:t>it </a:t>
            </a:r>
            <a:r>
              <a:rPr sz="3600" b="1" spc="-320" dirty="0">
                <a:solidFill>
                  <a:srgbClr val="0033CC"/>
                </a:solidFill>
                <a:latin typeface="Arial"/>
                <a:cs typeface="Arial"/>
              </a:rPr>
              <a:t>a</a:t>
            </a:r>
            <a:r>
              <a:rPr sz="3600" b="1" spc="-34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600" b="1" spc="-300" dirty="0">
                <a:solidFill>
                  <a:srgbClr val="0033CC"/>
                </a:solidFill>
                <a:latin typeface="Arial"/>
                <a:cs typeface="Arial"/>
              </a:rPr>
              <a:t>value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1366779" y="2419703"/>
            <a:ext cx="3070860" cy="17754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2765"/>
              </a:lnSpc>
              <a:spcBef>
                <a:spcPts val="135"/>
              </a:spcBef>
            </a:pPr>
            <a:r>
              <a:rPr sz="2350" b="1" spc="-220" dirty="0">
                <a:latin typeface="Courier New"/>
                <a:cs typeface="Courier New"/>
              </a:rPr>
              <a:t>$count =</a:t>
            </a:r>
            <a:r>
              <a:rPr sz="2350" b="1" spc="-185" dirty="0">
                <a:latin typeface="Courier New"/>
                <a:cs typeface="Courier New"/>
              </a:rPr>
              <a:t> </a:t>
            </a:r>
            <a:r>
              <a:rPr sz="2350" b="1" spc="-220" dirty="0">
                <a:latin typeface="Courier New"/>
                <a:cs typeface="Courier New"/>
              </a:rPr>
              <a:t>10;</a:t>
            </a:r>
            <a:endParaRPr sz="2350">
              <a:latin typeface="Courier New"/>
              <a:cs typeface="Courier New"/>
            </a:endParaRPr>
          </a:p>
          <a:p>
            <a:pPr marL="12700">
              <a:lnSpc>
                <a:spcPts val="2740"/>
              </a:lnSpc>
            </a:pPr>
            <a:r>
              <a:rPr sz="2350" b="1" spc="-220" dirty="0">
                <a:latin typeface="Courier New"/>
                <a:cs typeface="Courier New"/>
              </a:rPr>
              <a:t>$list_price =</a:t>
            </a:r>
            <a:r>
              <a:rPr sz="2350" b="1" spc="-190" dirty="0">
                <a:latin typeface="Courier New"/>
                <a:cs typeface="Courier New"/>
              </a:rPr>
              <a:t> </a:t>
            </a:r>
            <a:r>
              <a:rPr sz="2350" b="1" spc="-215" dirty="0">
                <a:latin typeface="Courier New"/>
                <a:cs typeface="Courier New"/>
              </a:rPr>
              <a:t>9.50;</a:t>
            </a:r>
            <a:endParaRPr sz="2350">
              <a:latin typeface="Courier New"/>
              <a:cs typeface="Courier New"/>
            </a:endParaRPr>
          </a:p>
          <a:p>
            <a:pPr marL="12700">
              <a:lnSpc>
                <a:spcPts val="2740"/>
              </a:lnSpc>
            </a:pPr>
            <a:r>
              <a:rPr sz="2350" b="1" spc="-220" dirty="0">
                <a:latin typeface="Courier New"/>
                <a:cs typeface="Courier New"/>
              </a:rPr>
              <a:t>$first_name =</a:t>
            </a:r>
            <a:r>
              <a:rPr sz="2350" b="1" spc="-225" dirty="0">
                <a:latin typeface="Courier New"/>
                <a:cs typeface="Courier New"/>
              </a:rPr>
              <a:t> </a:t>
            </a:r>
            <a:r>
              <a:rPr sz="2350" b="1" spc="-220" dirty="0">
                <a:latin typeface="Courier New"/>
                <a:cs typeface="Courier New"/>
              </a:rPr>
              <a:t>'Bob';</a:t>
            </a:r>
            <a:endParaRPr sz="2350">
              <a:latin typeface="Courier New"/>
              <a:cs typeface="Courier New"/>
            </a:endParaRPr>
          </a:p>
          <a:p>
            <a:pPr marL="12700">
              <a:lnSpc>
                <a:spcPts val="2715"/>
              </a:lnSpc>
            </a:pPr>
            <a:r>
              <a:rPr sz="2350" b="1" spc="-220" dirty="0">
                <a:latin typeface="Courier New"/>
                <a:cs typeface="Courier New"/>
              </a:rPr>
              <a:t>$first_name =</a:t>
            </a:r>
            <a:r>
              <a:rPr sz="2350" b="1" spc="-225" dirty="0">
                <a:latin typeface="Courier New"/>
                <a:cs typeface="Courier New"/>
              </a:rPr>
              <a:t> </a:t>
            </a:r>
            <a:r>
              <a:rPr sz="2350" b="1" spc="-220" dirty="0">
                <a:latin typeface="Courier New"/>
                <a:cs typeface="Courier New"/>
              </a:rPr>
              <a:t>"Bob";</a:t>
            </a:r>
            <a:endParaRPr sz="2350">
              <a:latin typeface="Courier New"/>
              <a:cs typeface="Courier New"/>
            </a:endParaRPr>
          </a:p>
          <a:p>
            <a:pPr marL="12700">
              <a:lnSpc>
                <a:spcPts val="2765"/>
              </a:lnSpc>
            </a:pPr>
            <a:r>
              <a:rPr sz="2350" b="1" spc="-215" dirty="0">
                <a:latin typeface="Courier New"/>
                <a:cs typeface="Courier New"/>
              </a:rPr>
              <a:t>$is_valid </a:t>
            </a:r>
            <a:r>
              <a:rPr sz="2350" b="1" spc="-220" dirty="0">
                <a:latin typeface="Courier New"/>
                <a:cs typeface="Courier New"/>
              </a:rPr>
              <a:t>=</a:t>
            </a:r>
            <a:r>
              <a:rPr sz="2350" b="1" spc="-210" dirty="0">
                <a:latin typeface="Courier New"/>
                <a:cs typeface="Courier New"/>
              </a:rPr>
              <a:t> </a:t>
            </a:r>
            <a:r>
              <a:rPr sz="2350" b="1" spc="-220" dirty="0">
                <a:latin typeface="Courier New"/>
                <a:cs typeface="Courier New"/>
              </a:rPr>
              <a:t>false;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37533" y="2419703"/>
            <a:ext cx="3231515" cy="17754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335">
              <a:lnSpc>
                <a:spcPts val="2765"/>
              </a:lnSpc>
              <a:spcBef>
                <a:spcPts val="135"/>
              </a:spcBef>
            </a:pPr>
            <a:r>
              <a:rPr sz="2350" b="1" spc="-210" dirty="0">
                <a:latin typeface="Courier New"/>
                <a:cs typeface="Courier New"/>
              </a:rPr>
              <a:t>// an </a:t>
            </a:r>
            <a:r>
              <a:rPr sz="2350" b="1" spc="-215" dirty="0">
                <a:latin typeface="Courier New"/>
                <a:cs typeface="Courier New"/>
              </a:rPr>
              <a:t>integer</a:t>
            </a:r>
            <a:r>
              <a:rPr sz="2350" b="1" spc="-270" dirty="0">
                <a:latin typeface="Courier New"/>
                <a:cs typeface="Courier New"/>
              </a:rPr>
              <a:t> </a:t>
            </a:r>
            <a:r>
              <a:rPr sz="2350" b="1" spc="-215" dirty="0">
                <a:latin typeface="Courier New"/>
                <a:cs typeface="Courier New"/>
              </a:rPr>
              <a:t>literal</a:t>
            </a:r>
            <a:endParaRPr sz="2350">
              <a:latin typeface="Courier New"/>
              <a:cs typeface="Courier New"/>
            </a:endParaRPr>
          </a:p>
          <a:p>
            <a:pPr marL="12700">
              <a:lnSpc>
                <a:spcPts val="2740"/>
              </a:lnSpc>
            </a:pPr>
            <a:r>
              <a:rPr sz="2350" b="1" spc="-210" dirty="0">
                <a:latin typeface="Courier New"/>
                <a:cs typeface="Courier New"/>
              </a:rPr>
              <a:t>// </a:t>
            </a:r>
            <a:r>
              <a:rPr sz="2350" b="1" spc="-220" dirty="0">
                <a:latin typeface="Courier New"/>
                <a:cs typeface="Courier New"/>
              </a:rPr>
              <a:t>a </a:t>
            </a:r>
            <a:r>
              <a:rPr sz="2350" b="1" spc="-210" dirty="0">
                <a:latin typeface="Courier New"/>
                <a:cs typeface="Courier New"/>
              </a:rPr>
              <a:t>double</a:t>
            </a:r>
            <a:r>
              <a:rPr sz="2350" b="1" spc="-270" dirty="0">
                <a:latin typeface="Courier New"/>
                <a:cs typeface="Courier New"/>
              </a:rPr>
              <a:t> </a:t>
            </a:r>
            <a:r>
              <a:rPr sz="2350" b="1" spc="-215" dirty="0">
                <a:latin typeface="Courier New"/>
                <a:cs typeface="Courier New"/>
              </a:rPr>
              <a:t>literal</a:t>
            </a:r>
            <a:endParaRPr sz="2350">
              <a:latin typeface="Courier New"/>
              <a:cs typeface="Courier New"/>
            </a:endParaRPr>
          </a:p>
          <a:p>
            <a:pPr marL="12700">
              <a:lnSpc>
                <a:spcPts val="2740"/>
              </a:lnSpc>
            </a:pPr>
            <a:r>
              <a:rPr sz="2350" b="1" spc="-210" dirty="0">
                <a:latin typeface="Courier New"/>
                <a:cs typeface="Courier New"/>
              </a:rPr>
              <a:t>// </a:t>
            </a:r>
            <a:r>
              <a:rPr sz="2350" b="1" spc="-220" dirty="0">
                <a:latin typeface="Courier New"/>
                <a:cs typeface="Courier New"/>
              </a:rPr>
              <a:t>a </a:t>
            </a:r>
            <a:r>
              <a:rPr sz="2350" b="1" spc="-210" dirty="0">
                <a:latin typeface="Courier New"/>
                <a:cs typeface="Courier New"/>
              </a:rPr>
              <a:t>string</a:t>
            </a:r>
            <a:r>
              <a:rPr sz="2350" b="1" spc="-270" dirty="0">
                <a:latin typeface="Courier New"/>
                <a:cs typeface="Courier New"/>
              </a:rPr>
              <a:t> </a:t>
            </a:r>
            <a:r>
              <a:rPr sz="2350" b="1" spc="-215" dirty="0">
                <a:latin typeface="Courier New"/>
                <a:cs typeface="Courier New"/>
              </a:rPr>
              <a:t>literal</a:t>
            </a:r>
            <a:endParaRPr sz="2350">
              <a:latin typeface="Courier New"/>
              <a:cs typeface="Courier New"/>
            </a:endParaRPr>
          </a:p>
          <a:p>
            <a:pPr marL="13335">
              <a:lnSpc>
                <a:spcPts val="2715"/>
              </a:lnSpc>
            </a:pPr>
            <a:r>
              <a:rPr sz="2350" b="1" spc="-210" dirty="0">
                <a:latin typeface="Courier New"/>
                <a:cs typeface="Courier New"/>
              </a:rPr>
              <a:t>// </a:t>
            </a:r>
            <a:r>
              <a:rPr sz="2350" b="1" spc="-220" dirty="0">
                <a:latin typeface="Courier New"/>
                <a:cs typeface="Courier New"/>
              </a:rPr>
              <a:t>a </a:t>
            </a:r>
            <a:r>
              <a:rPr sz="2350" b="1" spc="-210" dirty="0">
                <a:latin typeface="Courier New"/>
                <a:cs typeface="Courier New"/>
              </a:rPr>
              <a:t>string</a:t>
            </a:r>
            <a:r>
              <a:rPr sz="2350" b="1" spc="-270" dirty="0">
                <a:latin typeface="Courier New"/>
                <a:cs typeface="Courier New"/>
              </a:rPr>
              <a:t> </a:t>
            </a:r>
            <a:r>
              <a:rPr sz="2350" b="1" spc="-215" dirty="0">
                <a:latin typeface="Courier New"/>
                <a:cs typeface="Courier New"/>
              </a:rPr>
              <a:t>literal</a:t>
            </a:r>
            <a:endParaRPr sz="2350">
              <a:latin typeface="Courier New"/>
              <a:cs typeface="Courier New"/>
            </a:endParaRPr>
          </a:p>
          <a:p>
            <a:pPr marL="13335">
              <a:lnSpc>
                <a:spcPts val="2765"/>
              </a:lnSpc>
            </a:pPr>
            <a:r>
              <a:rPr sz="2350" b="1" spc="-210" dirty="0">
                <a:latin typeface="Courier New"/>
                <a:cs typeface="Courier New"/>
              </a:rPr>
              <a:t>// </a:t>
            </a:r>
            <a:r>
              <a:rPr sz="2350" b="1" spc="-220" dirty="0">
                <a:latin typeface="Courier New"/>
                <a:cs typeface="Courier New"/>
              </a:rPr>
              <a:t>a </a:t>
            </a:r>
            <a:r>
              <a:rPr sz="2350" b="1" spc="-215" dirty="0">
                <a:latin typeface="Courier New"/>
                <a:cs typeface="Courier New"/>
              </a:rPr>
              <a:t>Boolean</a:t>
            </a:r>
            <a:r>
              <a:rPr sz="2350" b="1" spc="-265" dirty="0">
                <a:latin typeface="Courier New"/>
                <a:cs typeface="Courier New"/>
              </a:rPr>
              <a:t> </a:t>
            </a:r>
            <a:r>
              <a:rPr sz="2350" b="1" spc="-215" dirty="0">
                <a:latin typeface="Courier New"/>
                <a:cs typeface="Courier New"/>
              </a:rPr>
              <a:t>literal</a:t>
            </a:r>
            <a:endParaRPr sz="2350">
              <a:latin typeface="Courier New"/>
              <a:cs typeface="Courier New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347729" y="4565292"/>
          <a:ext cx="7533004" cy="1039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049">
                <a:tc>
                  <a:txBody>
                    <a:bodyPr/>
                    <a:lstStyle/>
                    <a:p>
                      <a:pPr marL="31750">
                        <a:lnSpc>
                          <a:spcPts val="2460"/>
                        </a:lnSpc>
                      </a:pPr>
                      <a:r>
                        <a:rPr sz="2350" b="1" spc="-215" dirty="0">
                          <a:latin typeface="Courier New"/>
                          <a:cs typeface="Courier New"/>
                        </a:rPr>
                        <a:t>$product_count </a:t>
                      </a:r>
                      <a:r>
                        <a:rPr sz="2350" b="1" spc="-22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350" b="1" spc="-2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350" b="1" spc="-215" dirty="0">
                          <a:latin typeface="Courier New"/>
                          <a:cs typeface="Courier New"/>
                        </a:rPr>
                        <a:t>$count;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2460"/>
                        </a:lnSpc>
                      </a:pPr>
                      <a:r>
                        <a:rPr sz="2350" b="1" spc="-210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2350" b="1" spc="-2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350" b="1" spc="-220" dirty="0">
                          <a:latin typeface="Courier New"/>
                          <a:cs typeface="Courier New"/>
                        </a:rPr>
                        <a:t>$product_count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2460"/>
                        </a:lnSpc>
                      </a:pPr>
                      <a:r>
                        <a:rPr sz="2350" b="1" spc="-245" dirty="0">
                          <a:latin typeface="Courier New"/>
                          <a:cs typeface="Courier New"/>
                        </a:rPr>
                        <a:t>is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460"/>
                        </a:lnSpc>
                      </a:pPr>
                      <a:r>
                        <a:rPr sz="2350" b="1" spc="-245" dirty="0">
                          <a:latin typeface="Courier New"/>
                          <a:cs typeface="Courier New"/>
                        </a:rPr>
                        <a:t>10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946">
                <a:tc>
                  <a:txBody>
                    <a:bodyPr/>
                    <a:lstStyle/>
                    <a:p>
                      <a:pPr marL="31750">
                        <a:lnSpc>
                          <a:spcPts val="2435"/>
                        </a:lnSpc>
                      </a:pPr>
                      <a:r>
                        <a:rPr sz="2350" b="1" spc="-220" dirty="0">
                          <a:latin typeface="Courier New"/>
                          <a:cs typeface="Courier New"/>
                        </a:rPr>
                        <a:t>$price =</a:t>
                      </a:r>
                      <a:r>
                        <a:rPr sz="2350" b="1" spc="-1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350" b="1" spc="-215" dirty="0">
                          <a:latin typeface="Courier New"/>
                          <a:cs typeface="Courier New"/>
                        </a:rPr>
                        <a:t>$list_price;</a:t>
                      </a:r>
                      <a:endParaRPr sz="235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ts val="2795"/>
                        </a:lnSpc>
                      </a:pPr>
                      <a:r>
                        <a:rPr sz="2350" b="1" spc="-220" dirty="0">
                          <a:latin typeface="Courier New"/>
                          <a:cs typeface="Courier New"/>
                        </a:rPr>
                        <a:t>$name =</a:t>
                      </a:r>
                      <a:r>
                        <a:rPr sz="2350" b="1" spc="-18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350" b="1" spc="-220" dirty="0">
                          <a:latin typeface="Courier New"/>
                          <a:cs typeface="Courier New"/>
                        </a:rPr>
                        <a:t>$first_name;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ts val="2435"/>
                        </a:lnSpc>
                      </a:pPr>
                      <a:r>
                        <a:rPr sz="2350" b="1" spc="-210" dirty="0">
                          <a:latin typeface="Courier New"/>
                          <a:cs typeface="Courier New"/>
                        </a:rPr>
                        <a:t>// </a:t>
                      </a:r>
                      <a:r>
                        <a:rPr sz="2350" b="1" spc="-220" dirty="0">
                          <a:latin typeface="Courier New"/>
                          <a:cs typeface="Courier New"/>
                        </a:rPr>
                        <a:t>$price </a:t>
                      </a:r>
                      <a:r>
                        <a:rPr sz="2350" b="1" spc="-229" dirty="0"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2350" b="1" spc="-2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350" b="1" spc="-220" dirty="0">
                          <a:latin typeface="Courier New"/>
                          <a:cs typeface="Courier New"/>
                        </a:rPr>
                        <a:t>9.50</a:t>
                      </a:r>
                      <a:endParaRPr sz="2350">
                        <a:latin typeface="Courier New"/>
                        <a:cs typeface="Courier New"/>
                      </a:endParaRPr>
                    </a:p>
                    <a:p>
                      <a:pPr marL="153035">
                        <a:lnSpc>
                          <a:spcPts val="2795"/>
                        </a:lnSpc>
                      </a:pPr>
                      <a:r>
                        <a:rPr sz="2350" b="1" spc="-210" dirty="0">
                          <a:latin typeface="Courier New"/>
                          <a:cs typeface="Courier New"/>
                        </a:rPr>
                        <a:t>// </a:t>
                      </a:r>
                      <a:r>
                        <a:rPr sz="2350" b="1" spc="-215" dirty="0">
                          <a:latin typeface="Courier New"/>
                          <a:cs typeface="Courier New"/>
                        </a:rPr>
                        <a:t>$name </a:t>
                      </a:r>
                      <a:r>
                        <a:rPr sz="2350" b="1" spc="-210" dirty="0"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2350" b="1" spc="-29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350" b="1" spc="-225" dirty="0">
                          <a:latin typeface="Courier New"/>
                          <a:cs typeface="Courier New"/>
                        </a:rPr>
                        <a:t>"Bob"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366779" y="5542812"/>
            <a:ext cx="3070860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b="1" spc="-215" dirty="0">
                <a:latin typeface="Courier New"/>
                <a:cs typeface="Courier New"/>
              </a:rPr>
              <a:t>$is_new </a:t>
            </a:r>
            <a:r>
              <a:rPr sz="2350" b="1" spc="-220" dirty="0">
                <a:latin typeface="Courier New"/>
                <a:cs typeface="Courier New"/>
              </a:rPr>
              <a:t>=</a:t>
            </a:r>
            <a:r>
              <a:rPr sz="2350" b="1" spc="-254" dirty="0">
                <a:latin typeface="Courier New"/>
                <a:cs typeface="Courier New"/>
              </a:rPr>
              <a:t> </a:t>
            </a:r>
            <a:r>
              <a:rPr sz="2350" b="1" spc="-220" dirty="0">
                <a:latin typeface="Courier New"/>
                <a:cs typeface="Courier New"/>
              </a:rPr>
              <a:t>$is_valid;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33207" y="5542812"/>
            <a:ext cx="2924175" cy="389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50" b="1" spc="-210" dirty="0">
                <a:latin typeface="Courier New"/>
                <a:cs typeface="Courier New"/>
              </a:rPr>
              <a:t>// </a:t>
            </a:r>
            <a:r>
              <a:rPr sz="2350" b="1" spc="-215" dirty="0">
                <a:latin typeface="Courier New"/>
                <a:cs typeface="Courier New"/>
              </a:rPr>
              <a:t>$is_new </a:t>
            </a:r>
            <a:r>
              <a:rPr sz="2350" b="1" spc="-210" dirty="0">
                <a:latin typeface="Courier New"/>
                <a:cs typeface="Courier New"/>
              </a:rPr>
              <a:t>is</a:t>
            </a:r>
            <a:r>
              <a:rPr sz="2350" b="1" spc="-275" dirty="0">
                <a:latin typeface="Courier New"/>
                <a:cs typeface="Courier New"/>
              </a:rPr>
              <a:t> </a:t>
            </a:r>
            <a:r>
              <a:rPr sz="2350" b="1" spc="-215" dirty="0">
                <a:latin typeface="Courier New"/>
                <a:cs typeface="Courier New"/>
              </a:rPr>
              <a:t>FALSE</a:t>
            </a:r>
            <a:endParaRPr sz="23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44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4267200" cy="9784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4647"/>
            <a:ext cx="9802368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6706"/>
            <a:ext cx="9801225" cy="737235"/>
          </a:xfrm>
          <a:custGeom>
            <a:avLst/>
            <a:gdLst/>
            <a:ahLst/>
            <a:cxnLst/>
            <a:rect l="l" t="t" r="r" b="b"/>
            <a:pathLst>
              <a:path w="9801225" h="737235">
                <a:moveTo>
                  <a:pt x="0" y="0"/>
                </a:moveTo>
                <a:lnTo>
                  <a:pt x="9800994" y="0"/>
                </a:lnTo>
                <a:lnTo>
                  <a:pt x="9800994" y="737031"/>
                </a:lnTo>
                <a:lnTo>
                  <a:pt x="0" y="737031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4495" y="144271"/>
            <a:ext cx="36620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-20" dirty="0"/>
              <a:t>Variable</a:t>
            </a:r>
            <a:r>
              <a:rPr spc="-10" dirty="0"/>
              <a:t> </a:t>
            </a:r>
            <a:r>
              <a:rPr spc="10" dirty="0"/>
              <a:t>Names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66339" y="1223759"/>
            <a:ext cx="8549640" cy="3660140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3200" b="1" spc="-140" dirty="0">
                <a:solidFill>
                  <a:srgbClr val="0033CC"/>
                </a:solidFill>
                <a:latin typeface="Arial"/>
                <a:cs typeface="Arial"/>
              </a:rPr>
              <a:t>Rules </a:t>
            </a:r>
            <a:r>
              <a:rPr sz="3200" b="1" spc="-110" dirty="0">
                <a:solidFill>
                  <a:srgbClr val="0033CC"/>
                </a:solidFill>
                <a:latin typeface="Arial"/>
                <a:cs typeface="Arial"/>
              </a:rPr>
              <a:t>for </a:t>
            </a:r>
            <a:r>
              <a:rPr sz="3200" b="1" spc="-125" dirty="0">
                <a:solidFill>
                  <a:srgbClr val="0033CC"/>
                </a:solidFill>
                <a:latin typeface="Arial"/>
                <a:cs typeface="Arial"/>
              </a:rPr>
              <a:t>creating variable</a:t>
            </a:r>
            <a:r>
              <a:rPr sz="3200" b="1" spc="8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00" b="1" spc="-160" dirty="0">
                <a:solidFill>
                  <a:srgbClr val="0033CC"/>
                </a:solidFill>
                <a:latin typeface="Arial"/>
                <a:cs typeface="Arial"/>
              </a:rPr>
              <a:t>names</a:t>
            </a:r>
            <a:endParaRPr sz="3200">
              <a:latin typeface="Arial"/>
              <a:cs typeface="Arial"/>
            </a:endParaRPr>
          </a:p>
          <a:p>
            <a:pPr marL="439420" indent="-427355">
              <a:lnSpc>
                <a:spcPct val="100000"/>
              </a:lnSpc>
              <a:spcBef>
                <a:spcPts val="910"/>
              </a:spcBef>
              <a:buFont typeface="Symbol"/>
              <a:buChar char=""/>
              <a:tabLst>
                <a:tab pos="439420" algn="l"/>
                <a:tab pos="440055" algn="l"/>
              </a:tabLst>
            </a:pPr>
            <a:r>
              <a:rPr sz="2650" spc="-95" dirty="0">
                <a:latin typeface="Times New Roman"/>
                <a:cs typeface="Times New Roman"/>
              </a:rPr>
              <a:t>Variable </a:t>
            </a:r>
            <a:r>
              <a:rPr sz="2650" spc="-114" dirty="0">
                <a:latin typeface="Times New Roman"/>
                <a:cs typeface="Times New Roman"/>
              </a:rPr>
              <a:t>names </a:t>
            </a:r>
            <a:r>
              <a:rPr sz="2650" spc="-90" dirty="0">
                <a:latin typeface="Times New Roman"/>
                <a:cs typeface="Times New Roman"/>
              </a:rPr>
              <a:t>are</a:t>
            </a:r>
            <a:r>
              <a:rPr sz="2650" spc="-20" dirty="0">
                <a:latin typeface="Times New Roman"/>
                <a:cs typeface="Times New Roman"/>
              </a:rPr>
              <a:t> </a:t>
            </a:r>
            <a:r>
              <a:rPr sz="2650" spc="-90" dirty="0">
                <a:latin typeface="Times New Roman"/>
                <a:cs typeface="Times New Roman"/>
              </a:rPr>
              <a:t>case-sensitive.</a:t>
            </a:r>
            <a:endParaRPr sz="2650">
              <a:latin typeface="Times New Roman"/>
              <a:cs typeface="Times New Roman"/>
            </a:endParaRPr>
          </a:p>
          <a:p>
            <a:pPr marL="439420" indent="-427355">
              <a:lnSpc>
                <a:spcPct val="100000"/>
              </a:lnSpc>
              <a:spcBef>
                <a:spcPts val="940"/>
              </a:spcBef>
              <a:buFont typeface="Symbol"/>
              <a:buChar char=""/>
              <a:tabLst>
                <a:tab pos="439420" algn="l"/>
                <a:tab pos="440055" algn="l"/>
              </a:tabLst>
            </a:pPr>
            <a:r>
              <a:rPr sz="2650" spc="-95" dirty="0">
                <a:latin typeface="Times New Roman"/>
                <a:cs typeface="Times New Roman"/>
              </a:rPr>
              <a:t>Variable </a:t>
            </a:r>
            <a:r>
              <a:rPr sz="2650" spc="-114" dirty="0">
                <a:latin typeface="Times New Roman"/>
                <a:cs typeface="Times New Roman"/>
              </a:rPr>
              <a:t>names </a:t>
            </a:r>
            <a:r>
              <a:rPr sz="2650" spc="-100" dirty="0">
                <a:latin typeface="Times New Roman"/>
                <a:cs typeface="Times New Roman"/>
              </a:rPr>
              <a:t>can </a:t>
            </a:r>
            <a:r>
              <a:rPr sz="2650" spc="-95" dirty="0">
                <a:latin typeface="Times New Roman"/>
                <a:cs typeface="Times New Roman"/>
              </a:rPr>
              <a:t>contain </a:t>
            </a:r>
            <a:r>
              <a:rPr sz="2650" spc="-85" dirty="0">
                <a:latin typeface="Times New Roman"/>
                <a:cs typeface="Times New Roman"/>
              </a:rPr>
              <a:t>letters, </a:t>
            </a:r>
            <a:r>
              <a:rPr sz="2650" spc="-105" dirty="0">
                <a:latin typeface="Times New Roman"/>
                <a:cs typeface="Times New Roman"/>
              </a:rPr>
              <a:t>numbers, </a:t>
            </a:r>
            <a:r>
              <a:rPr sz="2650" spc="-100" dirty="0">
                <a:latin typeface="Times New Roman"/>
                <a:cs typeface="Times New Roman"/>
              </a:rPr>
              <a:t>and</a:t>
            </a:r>
            <a:r>
              <a:rPr sz="2650" spc="120" dirty="0">
                <a:latin typeface="Times New Roman"/>
                <a:cs typeface="Times New Roman"/>
              </a:rPr>
              <a:t> </a:t>
            </a:r>
            <a:r>
              <a:rPr sz="2650" spc="-95" dirty="0">
                <a:latin typeface="Times New Roman"/>
                <a:cs typeface="Times New Roman"/>
              </a:rPr>
              <a:t>underscores.</a:t>
            </a:r>
            <a:endParaRPr sz="2650">
              <a:latin typeface="Times New Roman"/>
              <a:cs typeface="Times New Roman"/>
            </a:endParaRPr>
          </a:p>
          <a:p>
            <a:pPr marL="439420" indent="-427355">
              <a:lnSpc>
                <a:spcPct val="100000"/>
              </a:lnSpc>
              <a:spcBef>
                <a:spcPts val="940"/>
              </a:spcBef>
              <a:buFont typeface="Symbol"/>
              <a:buChar char=""/>
              <a:tabLst>
                <a:tab pos="439420" algn="l"/>
                <a:tab pos="440055" algn="l"/>
              </a:tabLst>
            </a:pPr>
            <a:r>
              <a:rPr sz="2650" spc="-95" dirty="0">
                <a:latin typeface="Times New Roman"/>
                <a:cs typeface="Times New Roman"/>
              </a:rPr>
              <a:t>Variable </a:t>
            </a:r>
            <a:r>
              <a:rPr sz="2650" spc="-114" dirty="0">
                <a:latin typeface="Times New Roman"/>
                <a:cs typeface="Times New Roman"/>
              </a:rPr>
              <a:t>names </a:t>
            </a:r>
            <a:r>
              <a:rPr sz="2650" spc="-90" dirty="0">
                <a:latin typeface="Times New Roman"/>
                <a:cs typeface="Times New Roman"/>
              </a:rPr>
              <a:t>can’t </a:t>
            </a:r>
            <a:r>
              <a:rPr sz="2650" spc="-95" dirty="0">
                <a:latin typeface="Times New Roman"/>
                <a:cs typeface="Times New Roman"/>
              </a:rPr>
              <a:t>contain </a:t>
            </a:r>
            <a:r>
              <a:rPr sz="2650" spc="-90" dirty="0">
                <a:latin typeface="Times New Roman"/>
                <a:cs typeface="Times New Roman"/>
              </a:rPr>
              <a:t>special</a:t>
            </a:r>
            <a:r>
              <a:rPr sz="2650" spc="10" dirty="0">
                <a:latin typeface="Times New Roman"/>
                <a:cs typeface="Times New Roman"/>
              </a:rPr>
              <a:t> </a:t>
            </a:r>
            <a:r>
              <a:rPr sz="2650" spc="-90" dirty="0">
                <a:latin typeface="Times New Roman"/>
                <a:cs typeface="Times New Roman"/>
              </a:rPr>
              <a:t>characters.</a:t>
            </a:r>
            <a:endParaRPr sz="2650">
              <a:latin typeface="Times New Roman"/>
              <a:cs typeface="Times New Roman"/>
            </a:endParaRPr>
          </a:p>
          <a:p>
            <a:pPr marL="439420" indent="-427355">
              <a:lnSpc>
                <a:spcPct val="100000"/>
              </a:lnSpc>
              <a:spcBef>
                <a:spcPts val="940"/>
              </a:spcBef>
              <a:buFont typeface="Symbol"/>
              <a:buChar char=""/>
              <a:tabLst>
                <a:tab pos="439420" algn="l"/>
                <a:tab pos="440055" algn="l"/>
              </a:tabLst>
            </a:pPr>
            <a:r>
              <a:rPr sz="2650" spc="-95" dirty="0">
                <a:latin typeface="Times New Roman"/>
                <a:cs typeface="Times New Roman"/>
              </a:rPr>
              <a:t>Variable </a:t>
            </a:r>
            <a:r>
              <a:rPr sz="2650" spc="-114" dirty="0">
                <a:latin typeface="Times New Roman"/>
                <a:cs typeface="Times New Roman"/>
              </a:rPr>
              <a:t>names </a:t>
            </a:r>
            <a:r>
              <a:rPr sz="2650" spc="-90" dirty="0">
                <a:latin typeface="Times New Roman"/>
                <a:cs typeface="Times New Roman"/>
              </a:rPr>
              <a:t>can’t </a:t>
            </a:r>
            <a:r>
              <a:rPr sz="2650" spc="-95" dirty="0">
                <a:latin typeface="Times New Roman"/>
                <a:cs typeface="Times New Roman"/>
              </a:rPr>
              <a:t>begin </a:t>
            </a:r>
            <a:r>
              <a:rPr sz="2650" spc="-100" dirty="0">
                <a:latin typeface="Times New Roman"/>
                <a:cs typeface="Times New Roman"/>
              </a:rPr>
              <a:t>with </a:t>
            </a:r>
            <a:r>
              <a:rPr sz="2650" spc="-85" dirty="0">
                <a:latin typeface="Times New Roman"/>
                <a:cs typeface="Times New Roman"/>
              </a:rPr>
              <a:t>a digit </a:t>
            </a:r>
            <a:r>
              <a:rPr sz="2650" spc="-80" dirty="0">
                <a:latin typeface="Times New Roman"/>
                <a:cs typeface="Times New Roman"/>
              </a:rPr>
              <a:t>or </a:t>
            </a:r>
            <a:r>
              <a:rPr sz="2650" spc="-110" dirty="0">
                <a:latin typeface="Times New Roman"/>
                <a:cs typeface="Times New Roman"/>
              </a:rPr>
              <a:t>two</a:t>
            </a:r>
            <a:r>
              <a:rPr sz="2650" spc="100" dirty="0">
                <a:latin typeface="Times New Roman"/>
                <a:cs typeface="Times New Roman"/>
              </a:rPr>
              <a:t> </a:t>
            </a:r>
            <a:r>
              <a:rPr sz="2650" spc="-95" dirty="0">
                <a:latin typeface="Times New Roman"/>
                <a:cs typeface="Times New Roman"/>
              </a:rPr>
              <a:t>underscores.</a:t>
            </a:r>
            <a:endParaRPr sz="2650">
              <a:latin typeface="Times New Roman"/>
              <a:cs typeface="Times New Roman"/>
            </a:endParaRPr>
          </a:p>
          <a:p>
            <a:pPr marL="439420" marR="5080" indent="-427355">
              <a:lnSpc>
                <a:spcPts val="3140"/>
              </a:lnSpc>
              <a:spcBef>
                <a:spcPts val="1080"/>
              </a:spcBef>
              <a:buFont typeface="Symbol"/>
              <a:buChar char=""/>
              <a:tabLst>
                <a:tab pos="439420" algn="l"/>
                <a:tab pos="440055" algn="l"/>
              </a:tabLst>
            </a:pPr>
            <a:r>
              <a:rPr sz="2650" spc="-95" dirty="0">
                <a:latin typeface="Times New Roman"/>
                <a:cs typeface="Times New Roman"/>
              </a:rPr>
              <a:t>Variable </a:t>
            </a:r>
            <a:r>
              <a:rPr sz="2650" spc="-114" dirty="0">
                <a:latin typeface="Times New Roman"/>
                <a:cs typeface="Times New Roman"/>
              </a:rPr>
              <a:t>names </a:t>
            </a:r>
            <a:r>
              <a:rPr sz="2650" spc="-90" dirty="0">
                <a:latin typeface="Times New Roman"/>
                <a:cs typeface="Times New Roman"/>
              </a:rPr>
              <a:t>can’t </a:t>
            </a:r>
            <a:r>
              <a:rPr sz="2650" spc="-95" dirty="0">
                <a:latin typeface="Times New Roman"/>
                <a:cs typeface="Times New Roman"/>
              </a:rPr>
              <a:t>use </a:t>
            </a:r>
            <a:r>
              <a:rPr sz="2650" spc="-114" dirty="0">
                <a:latin typeface="Times New Roman"/>
                <a:cs typeface="Times New Roman"/>
              </a:rPr>
              <a:t>names </a:t>
            </a:r>
            <a:r>
              <a:rPr sz="2650" spc="-85" dirty="0">
                <a:latin typeface="Times New Roman"/>
                <a:cs typeface="Times New Roman"/>
              </a:rPr>
              <a:t>that </a:t>
            </a:r>
            <a:r>
              <a:rPr sz="2650" spc="-90" dirty="0">
                <a:latin typeface="Times New Roman"/>
                <a:cs typeface="Times New Roman"/>
              </a:rPr>
              <a:t>are </a:t>
            </a:r>
            <a:r>
              <a:rPr sz="2650" spc="-95" dirty="0">
                <a:latin typeface="Times New Roman"/>
                <a:cs typeface="Times New Roman"/>
              </a:rPr>
              <a:t>reserved by </a:t>
            </a:r>
            <a:r>
              <a:rPr sz="2650" spc="-125" dirty="0">
                <a:latin typeface="Times New Roman"/>
                <a:cs typeface="Times New Roman"/>
              </a:rPr>
              <a:t>PHP </a:t>
            </a:r>
            <a:r>
              <a:rPr sz="2650" spc="-100" dirty="0">
                <a:latin typeface="Times New Roman"/>
                <a:cs typeface="Times New Roman"/>
              </a:rPr>
              <a:t>such </a:t>
            </a:r>
            <a:r>
              <a:rPr sz="2650" spc="-90" dirty="0">
                <a:latin typeface="Times New Roman"/>
                <a:cs typeface="Times New Roman"/>
              </a:rPr>
              <a:t>as  </a:t>
            </a:r>
            <a:r>
              <a:rPr sz="2650" spc="-85" dirty="0">
                <a:latin typeface="Times New Roman"/>
                <a:cs typeface="Times New Roman"/>
              </a:rPr>
              <a:t>the </a:t>
            </a:r>
            <a:r>
              <a:rPr sz="2650" spc="-90" dirty="0">
                <a:latin typeface="Times New Roman"/>
                <a:cs typeface="Times New Roman"/>
              </a:rPr>
              <a:t>variable </a:t>
            </a:r>
            <a:r>
              <a:rPr sz="2650" spc="-120" dirty="0">
                <a:latin typeface="Times New Roman"/>
                <a:cs typeface="Times New Roman"/>
              </a:rPr>
              <a:t>named </a:t>
            </a:r>
            <a:r>
              <a:rPr sz="2650" spc="-85" dirty="0">
                <a:latin typeface="Times New Roman"/>
                <a:cs typeface="Times New Roman"/>
              </a:rPr>
              <a:t>$this that’s </a:t>
            </a:r>
            <a:r>
              <a:rPr sz="2650" spc="-95" dirty="0">
                <a:latin typeface="Times New Roman"/>
                <a:cs typeface="Times New Roman"/>
              </a:rPr>
              <a:t>reserved </a:t>
            </a:r>
            <a:r>
              <a:rPr sz="2650" spc="-80" dirty="0">
                <a:latin typeface="Times New Roman"/>
                <a:cs typeface="Times New Roman"/>
              </a:rPr>
              <a:t>for </a:t>
            </a:r>
            <a:r>
              <a:rPr sz="2650" spc="-95" dirty="0">
                <a:latin typeface="Times New Roman"/>
                <a:cs typeface="Times New Roman"/>
              </a:rPr>
              <a:t>use </a:t>
            </a:r>
            <a:r>
              <a:rPr sz="2650" spc="-100" dirty="0">
                <a:latin typeface="Times New Roman"/>
                <a:cs typeface="Times New Roman"/>
              </a:rPr>
              <a:t>with</a:t>
            </a:r>
            <a:r>
              <a:rPr sz="2650" spc="90" dirty="0">
                <a:latin typeface="Times New Roman"/>
                <a:cs typeface="Times New Roman"/>
              </a:rPr>
              <a:t> </a:t>
            </a:r>
            <a:r>
              <a:rPr sz="2650" spc="-90" dirty="0">
                <a:latin typeface="Times New Roman"/>
                <a:cs typeface="Times New Roman"/>
              </a:rPr>
              <a:t>objects.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1068405" y="5243803"/>
            <a:ext cx="3188335" cy="466725"/>
          </a:xfrm>
          <a:prstGeom prst="rect">
            <a:avLst/>
          </a:prstGeom>
          <a:ln w="10212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85"/>
              </a:spcBef>
            </a:pPr>
            <a:r>
              <a:rPr sz="2600" spc="-15" dirty="0">
                <a:latin typeface="Arial"/>
                <a:cs typeface="Arial"/>
              </a:rPr>
              <a:t>Always </a:t>
            </a:r>
            <a:r>
              <a:rPr sz="2600" spc="-10" dirty="0">
                <a:latin typeface="Arial"/>
                <a:cs typeface="Arial"/>
              </a:rPr>
              <a:t>begin with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$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95" y="144271"/>
            <a:ext cx="263969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</a:t>
            </a:r>
            <a:r>
              <a:rPr spc="-30" dirty="0"/>
              <a:t> </a:t>
            </a:r>
            <a:r>
              <a:rPr spc="-5" dirty="0"/>
              <a:t>Constants</a:t>
            </a:r>
          </a:p>
        </p:txBody>
      </p:sp>
      <p:sp>
        <p:nvSpPr>
          <p:cNvPr id="3" name="object 3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08893" y="1168783"/>
            <a:ext cx="4886960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50" b="1" spc="-390" dirty="0">
                <a:solidFill>
                  <a:srgbClr val="0033CC"/>
                </a:solidFill>
                <a:latin typeface="Arial"/>
                <a:cs typeface="Arial"/>
              </a:rPr>
              <a:t>How </a:t>
            </a:r>
            <a:r>
              <a:rPr sz="3650" b="1" spc="-265" dirty="0">
                <a:solidFill>
                  <a:srgbClr val="0033CC"/>
                </a:solidFill>
                <a:latin typeface="Arial"/>
                <a:cs typeface="Arial"/>
              </a:rPr>
              <a:t>to </a:t>
            </a:r>
            <a:r>
              <a:rPr sz="3650" b="1" spc="-280" dirty="0">
                <a:solidFill>
                  <a:srgbClr val="0033CC"/>
                </a:solidFill>
                <a:latin typeface="Arial"/>
                <a:cs typeface="Arial"/>
              </a:rPr>
              <a:t>declare </a:t>
            </a:r>
            <a:r>
              <a:rPr sz="3650" b="1" spc="-300" dirty="0">
                <a:solidFill>
                  <a:srgbClr val="0033CC"/>
                </a:solidFill>
                <a:latin typeface="Arial"/>
                <a:cs typeface="Arial"/>
              </a:rPr>
              <a:t>a</a:t>
            </a:r>
            <a:r>
              <a:rPr sz="3650" b="1" spc="-45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650" b="1" spc="-295" dirty="0">
                <a:solidFill>
                  <a:srgbClr val="0033CC"/>
                </a:solidFill>
                <a:latin typeface="Arial"/>
                <a:cs typeface="Arial"/>
              </a:rPr>
              <a:t>constant</a:t>
            </a:r>
            <a:endParaRPr sz="36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255367" y="1714240"/>
            <a:ext cx="3937000" cy="141605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400" b="1" spc="-215" dirty="0">
                <a:latin typeface="Courier New"/>
                <a:cs typeface="Courier New"/>
              </a:rPr>
              <a:t>define('MAX_QTY',</a:t>
            </a:r>
            <a:r>
              <a:rPr sz="2400" b="1" spc="-175" dirty="0">
                <a:latin typeface="Courier New"/>
                <a:cs typeface="Courier New"/>
              </a:rPr>
              <a:t> </a:t>
            </a:r>
            <a:r>
              <a:rPr sz="2400" b="1" spc="-225" dirty="0">
                <a:latin typeface="Courier New"/>
                <a:cs typeface="Courier New"/>
              </a:rPr>
              <a:t>100);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400" b="1" spc="-210" dirty="0">
                <a:latin typeface="Courier New"/>
                <a:cs typeface="Courier New"/>
              </a:rPr>
              <a:t>define('PI',</a:t>
            </a:r>
            <a:r>
              <a:rPr sz="2400" b="1" spc="-270" dirty="0">
                <a:latin typeface="Courier New"/>
                <a:cs typeface="Courier New"/>
              </a:rPr>
              <a:t> </a:t>
            </a:r>
            <a:r>
              <a:rPr sz="2400" b="1" spc="-210" dirty="0">
                <a:latin typeface="Courier New"/>
                <a:cs typeface="Courier New"/>
              </a:rPr>
              <a:t>3.14159265);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400" b="1" spc="-215" dirty="0">
                <a:latin typeface="Courier New"/>
                <a:cs typeface="Courier New"/>
              </a:rPr>
              <a:t>define('MALE',</a:t>
            </a:r>
            <a:r>
              <a:rPr sz="2400" b="1" spc="-180" dirty="0">
                <a:latin typeface="Courier New"/>
                <a:cs typeface="Courier New"/>
              </a:rPr>
              <a:t> </a:t>
            </a:r>
            <a:r>
              <a:rPr sz="2400" b="1" spc="-225" dirty="0">
                <a:latin typeface="Courier New"/>
                <a:cs typeface="Courier New"/>
              </a:rPr>
              <a:t>'m');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3208" y="1714240"/>
            <a:ext cx="3467735" cy="141605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400" b="1" spc="-204" dirty="0">
                <a:latin typeface="Courier New"/>
                <a:cs typeface="Courier New"/>
              </a:rPr>
              <a:t>// an </a:t>
            </a:r>
            <a:r>
              <a:rPr sz="2400" b="1" spc="-210" dirty="0">
                <a:latin typeface="Courier New"/>
                <a:cs typeface="Courier New"/>
              </a:rPr>
              <a:t>integer</a:t>
            </a:r>
            <a:r>
              <a:rPr sz="2400" b="1" spc="-315" dirty="0">
                <a:latin typeface="Courier New"/>
                <a:cs typeface="Courier New"/>
              </a:rPr>
              <a:t> </a:t>
            </a:r>
            <a:r>
              <a:rPr sz="2400" b="1" spc="-210" dirty="0">
                <a:latin typeface="Courier New"/>
                <a:cs typeface="Courier New"/>
              </a:rPr>
              <a:t>constant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400" b="1" spc="-204" dirty="0">
                <a:latin typeface="Courier New"/>
                <a:cs typeface="Courier New"/>
              </a:rPr>
              <a:t>// </a:t>
            </a:r>
            <a:r>
              <a:rPr sz="2400" b="1" spc="-215" dirty="0">
                <a:latin typeface="Courier New"/>
                <a:cs typeface="Courier New"/>
              </a:rPr>
              <a:t>a double</a:t>
            </a:r>
            <a:r>
              <a:rPr sz="2400" b="1" spc="-250" dirty="0">
                <a:latin typeface="Courier New"/>
                <a:cs typeface="Courier New"/>
              </a:rPr>
              <a:t> </a:t>
            </a:r>
            <a:r>
              <a:rPr sz="2400" b="1" spc="-210" dirty="0">
                <a:latin typeface="Courier New"/>
                <a:cs typeface="Courier New"/>
              </a:rPr>
              <a:t>constant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400" b="1" spc="-204" dirty="0">
                <a:latin typeface="Courier New"/>
                <a:cs typeface="Courier New"/>
              </a:rPr>
              <a:t>// </a:t>
            </a:r>
            <a:r>
              <a:rPr sz="2400" b="1" spc="-215" dirty="0">
                <a:latin typeface="Courier New"/>
                <a:cs typeface="Courier New"/>
              </a:rPr>
              <a:t>a string</a:t>
            </a:r>
            <a:r>
              <a:rPr sz="2400" b="1" spc="-250" dirty="0">
                <a:latin typeface="Courier New"/>
                <a:cs typeface="Courier New"/>
              </a:rPr>
              <a:t> </a:t>
            </a:r>
            <a:r>
              <a:rPr sz="2400" b="1" spc="-210" dirty="0">
                <a:latin typeface="Courier New"/>
                <a:cs typeface="Courier New"/>
              </a:rPr>
              <a:t>constant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05916" y="1184454"/>
            <a:ext cx="7763509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b="1" spc="-275" dirty="0">
                <a:solidFill>
                  <a:srgbClr val="0033CC"/>
                </a:solidFill>
                <a:latin typeface="Arial"/>
                <a:cs typeface="Arial"/>
              </a:rPr>
              <a:t>An </a:t>
            </a:r>
            <a:r>
              <a:rPr sz="3100" b="1" spc="-240" dirty="0">
                <a:solidFill>
                  <a:srgbClr val="0033CC"/>
                </a:solidFill>
                <a:latin typeface="Arial"/>
                <a:cs typeface="Arial"/>
              </a:rPr>
              <a:t>HTML </a:t>
            </a:r>
            <a:r>
              <a:rPr sz="3100" b="1" spc="-204" dirty="0">
                <a:solidFill>
                  <a:srgbClr val="0033CC"/>
                </a:solidFill>
                <a:latin typeface="Arial"/>
                <a:cs typeface="Arial"/>
              </a:rPr>
              <a:t>form </a:t>
            </a:r>
            <a:r>
              <a:rPr sz="3100" b="1" spc="-165" dirty="0">
                <a:solidFill>
                  <a:srgbClr val="0033CC"/>
                </a:solidFill>
                <a:latin typeface="Arial"/>
                <a:cs typeface="Arial"/>
              </a:rPr>
              <a:t>that </a:t>
            </a:r>
            <a:r>
              <a:rPr sz="3100" b="1" spc="-204" dirty="0">
                <a:solidFill>
                  <a:srgbClr val="0033CC"/>
                </a:solidFill>
                <a:latin typeface="Arial"/>
                <a:cs typeface="Arial"/>
              </a:rPr>
              <a:t>does an </a:t>
            </a:r>
            <a:r>
              <a:rPr sz="3100" b="1" spc="-250" dirty="0">
                <a:solidFill>
                  <a:srgbClr val="0033CC"/>
                </a:solidFill>
                <a:latin typeface="Arial"/>
                <a:cs typeface="Arial"/>
              </a:rPr>
              <a:t>HTTP GET</a:t>
            </a:r>
            <a:r>
              <a:rPr sz="3100" b="1" spc="22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100" b="1" spc="-180" dirty="0">
                <a:solidFill>
                  <a:srgbClr val="0033CC"/>
                </a:solidFill>
                <a:latin typeface="Arial"/>
                <a:cs typeface="Arial"/>
              </a:rPr>
              <a:t>request</a:t>
            </a:r>
            <a:endParaRPr sz="3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85746" y="1789329"/>
            <a:ext cx="1670050" cy="302260"/>
          </a:xfrm>
          <a:custGeom>
            <a:avLst/>
            <a:gdLst/>
            <a:ahLst/>
            <a:cxnLst/>
            <a:rect l="l" t="t" r="r" b="b"/>
            <a:pathLst>
              <a:path w="1670050" h="302260">
                <a:moveTo>
                  <a:pt x="0" y="302152"/>
                </a:moveTo>
                <a:lnTo>
                  <a:pt x="1670020" y="302152"/>
                </a:lnTo>
                <a:lnTo>
                  <a:pt x="1670020" y="0"/>
                </a:lnTo>
                <a:lnTo>
                  <a:pt x="0" y="0"/>
                </a:lnTo>
                <a:lnTo>
                  <a:pt x="0" y="30215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25535" y="2387653"/>
            <a:ext cx="2371725" cy="295910"/>
          </a:xfrm>
          <a:custGeom>
            <a:avLst/>
            <a:gdLst/>
            <a:ahLst/>
            <a:cxnLst/>
            <a:rect l="l" t="t" r="r" b="b"/>
            <a:pathLst>
              <a:path w="2371725" h="295910">
                <a:moveTo>
                  <a:pt x="0" y="295841"/>
                </a:moveTo>
                <a:lnTo>
                  <a:pt x="2371520" y="295841"/>
                </a:lnTo>
                <a:lnTo>
                  <a:pt x="2371520" y="0"/>
                </a:lnTo>
                <a:lnTo>
                  <a:pt x="0" y="0"/>
                </a:lnTo>
                <a:lnTo>
                  <a:pt x="0" y="29584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03616" y="1735212"/>
            <a:ext cx="6723380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20"/>
              </a:lnSpc>
              <a:spcBef>
                <a:spcPts val="100"/>
              </a:spcBef>
            </a:pPr>
            <a:r>
              <a:rPr sz="2050" b="1" i="1" spc="-145" dirty="0">
                <a:latin typeface="Courier New"/>
                <a:cs typeface="Courier New"/>
              </a:rPr>
              <a:t>&lt;form </a:t>
            </a:r>
            <a:r>
              <a:rPr sz="2050" b="1" i="1" spc="-140" dirty="0">
                <a:latin typeface="Courier New"/>
                <a:cs typeface="Courier New"/>
              </a:rPr>
              <a:t>action="display.php"</a:t>
            </a:r>
            <a:r>
              <a:rPr sz="2050" b="1" i="1" spc="-10" dirty="0">
                <a:latin typeface="Courier New"/>
                <a:cs typeface="Courier New"/>
              </a:rPr>
              <a:t> </a:t>
            </a:r>
            <a:r>
              <a:rPr sz="2050" b="1" i="1" spc="-140" dirty="0">
                <a:latin typeface="Courier New"/>
                <a:cs typeface="Courier New"/>
              </a:rPr>
              <a:t>method="get"&gt;</a:t>
            </a:r>
            <a:endParaRPr sz="2050" i="1" dirty="0">
              <a:latin typeface="Courier New"/>
              <a:cs typeface="Courier New"/>
            </a:endParaRPr>
          </a:p>
          <a:p>
            <a:pPr marL="566420">
              <a:lnSpc>
                <a:spcPts val="2355"/>
              </a:lnSpc>
            </a:pPr>
            <a:r>
              <a:rPr sz="2050" b="1" i="1" spc="-135" dirty="0">
                <a:latin typeface="Courier New"/>
                <a:cs typeface="Courier New"/>
              </a:rPr>
              <a:t>&lt;label&gt;First name:</a:t>
            </a:r>
            <a:r>
              <a:rPr sz="2050" b="1" i="1" spc="-150" dirty="0">
                <a:latin typeface="Courier New"/>
                <a:cs typeface="Courier New"/>
              </a:rPr>
              <a:t> </a:t>
            </a:r>
            <a:r>
              <a:rPr sz="2050" b="1" i="1" spc="-135" dirty="0">
                <a:latin typeface="Courier New"/>
                <a:cs typeface="Courier New"/>
              </a:rPr>
              <a:t>&lt;/label&gt;</a:t>
            </a:r>
            <a:endParaRPr sz="2050" i="1" dirty="0">
              <a:latin typeface="Courier New"/>
              <a:cs typeface="Courier New"/>
            </a:endParaRPr>
          </a:p>
          <a:p>
            <a:pPr marL="566420">
              <a:lnSpc>
                <a:spcPts val="2395"/>
              </a:lnSpc>
            </a:pPr>
            <a:r>
              <a:rPr sz="2050" b="1" i="1" spc="-135" dirty="0">
                <a:latin typeface="Courier New"/>
                <a:cs typeface="Courier New"/>
              </a:rPr>
              <a:t>&lt;inpu</a:t>
            </a:r>
            <a:r>
              <a:rPr sz="2050" b="1" spc="-135" dirty="0">
                <a:latin typeface="Courier New"/>
                <a:cs typeface="Courier New"/>
              </a:rPr>
              <a:t>t type="text" name="first_name"/&gt;&lt;br</a:t>
            </a:r>
            <a:r>
              <a:rPr sz="2050" b="1" spc="-125" dirty="0">
                <a:latin typeface="Courier New"/>
                <a:cs typeface="Courier New"/>
              </a:rPr>
              <a:t> </a:t>
            </a:r>
            <a:r>
              <a:rPr sz="2050" b="1" spc="-135" dirty="0">
                <a:latin typeface="Courier New"/>
                <a:cs typeface="Courier New"/>
              </a:rPr>
              <a:t>/&gt;</a:t>
            </a:r>
            <a:endParaRPr sz="205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57969" y="2629475"/>
            <a:ext cx="3651885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b="1" spc="-135" dirty="0">
                <a:latin typeface="Courier New"/>
                <a:cs typeface="Courier New"/>
              </a:rPr>
              <a:t>&lt;label&gt;Last name:</a:t>
            </a:r>
            <a:r>
              <a:rPr sz="2050" b="1" spc="-200" dirty="0">
                <a:latin typeface="Courier New"/>
                <a:cs typeface="Courier New"/>
              </a:rPr>
              <a:t> </a:t>
            </a:r>
            <a:r>
              <a:rPr sz="2050" b="1" spc="-135" dirty="0">
                <a:latin typeface="Courier New"/>
                <a:cs typeface="Courier New"/>
              </a:rPr>
              <a:t>&lt;/label&gt;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25535" y="2985745"/>
            <a:ext cx="2230755" cy="295910"/>
          </a:xfrm>
          <a:custGeom>
            <a:avLst/>
            <a:gdLst/>
            <a:ahLst/>
            <a:cxnLst/>
            <a:rect l="l" t="t" r="r" b="b"/>
            <a:pathLst>
              <a:path w="2230754" h="295910">
                <a:moveTo>
                  <a:pt x="0" y="295841"/>
                </a:moveTo>
                <a:lnTo>
                  <a:pt x="2230231" y="295841"/>
                </a:lnTo>
                <a:lnTo>
                  <a:pt x="2230231" y="0"/>
                </a:lnTo>
                <a:lnTo>
                  <a:pt x="0" y="0"/>
                </a:lnTo>
                <a:lnTo>
                  <a:pt x="0" y="29584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5916" y="2931233"/>
            <a:ext cx="8248015" cy="362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4565">
              <a:lnSpc>
                <a:spcPts val="2395"/>
              </a:lnSpc>
              <a:spcBef>
                <a:spcPts val="100"/>
              </a:spcBef>
            </a:pPr>
            <a:r>
              <a:rPr sz="2050" b="1" spc="-135" dirty="0">
                <a:latin typeface="Courier New"/>
                <a:cs typeface="Courier New"/>
              </a:rPr>
              <a:t>&lt;input type="text" name="last_name"/&gt;&lt;br</a:t>
            </a:r>
            <a:r>
              <a:rPr sz="2050" b="1" spc="-125" dirty="0">
                <a:latin typeface="Courier New"/>
                <a:cs typeface="Courier New"/>
              </a:rPr>
              <a:t> </a:t>
            </a:r>
            <a:r>
              <a:rPr sz="2050" b="1" spc="-135" dirty="0">
                <a:latin typeface="Courier New"/>
                <a:cs typeface="Courier New"/>
              </a:rPr>
              <a:t>/&gt;</a:t>
            </a:r>
            <a:endParaRPr sz="2050" dirty="0">
              <a:latin typeface="Courier New"/>
              <a:cs typeface="Courier New"/>
            </a:endParaRPr>
          </a:p>
          <a:p>
            <a:pPr marL="964565">
              <a:lnSpc>
                <a:spcPts val="2330"/>
              </a:lnSpc>
            </a:pPr>
            <a:r>
              <a:rPr sz="2050" b="1" spc="-135" dirty="0">
                <a:latin typeface="Courier New"/>
                <a:cs typeface="Courier New"/>
              </a:rPr>
              <a:t>&lt;label&gt;&amp;nbsp;&lt;/label&gt;</a:t>
            </a:r>
            <a:endParaRPr sz="2050" dirty="0">
              <a:latin typeface="Courier New"/>
              <a:cs typeface="Courier New"/>
            </a:endParaRPr>
          </a:p>
          <a:p>
            <a:pPr marL="964565">
              <a:lnSpc>
                <a:spcPts val="2355"/>
              </a:lnSpc>
            </a:pPr>
            <a:r>
              <a:rPr sz="2050" b="1" spc="-135" dirty="0">
                <a:latin typeface="Courier New"/>
                <a:cs typeface="Courier New"/>
              </a:rPr>
              <a:t>&lt;input type="submit"</a:t>
            </a:r>
            <a:r>
              <a:rPr sz="2050" b="1" spc="-150" dirty="0">
                <a:latin typeface="Courier New"/>
                <a:cs typeface="Courier New"/>
              </a:rPr>
              <a:t> </a:t>
            </a:r>
            <a:r>
              <a:rPr sz="2050" b="1" spc="-135" dirty="0">
                <a:latin typeface="Courier New"/>
                <a:cs typeface="Courier New"/>
              </a:rPr>
              <a:t>value="Submit"/&gt;</a:t>
            </a:r>
            <a:endParaRPr sz="2050" dirty="0">
              <a:latin typeface="Courier New"/>
              <a:cs typeface="Courier New"/>
            </a:endParaRPr>
          </a:p>
          <a:p>
            <a:pPr marL="410209">
              <a:lnSpc>
                <a:spcPts val="2420"/>
              </a:lnSpc>
            </a:pPr>
            <a:r>
              <a:rPr sz="2050" b="1" spc="-135" dirty="0">
                <a:latin typeface="Courier New"/>
                <a:cs typeface="Courier New"/>
              </a:rPr>
              <a:t>&lt;/form&gt;</a:t>
            </a:r>
            <a:endParaRPr sz="20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3100" b="1" spc="-215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3100" b="1" spc="-245" dirty="0">
                <a:solidFill>
                  <a:srgbClr val="0033CC"/>
                </a:solidFill>
                <a:latin typeface="Arial"/>
                <a:cs typeface="Arial"/>
              </a:rPr>
              <a:t>URL </a:t>
            </a:r>
            <a:r>
              <a:rPr sz="3100" b="1" spc="-155" dirty="0">
                <a:solidFill>
                  <a:srgbClr val="0033CC"/>
                </a:solidFill>
                <a:latin typeface="Arial"/>
                <a:cs typeface="Arial"/>
              </a:rPr>
              <a:t>for </a:t>
            </a:r>
            <a:r>
              <a:rPr sz="3100" b="1" spc="-175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3100" b="1" spc="-250" dirty="0">
                <a:solidFill>
                  <a:srgbClr val="0033CC"/>
                </a:solidFill>
                <a:latin typeface="Arial"/>
                <a:cs typeface="Arial"/>
              </a:rPr>
              <a:t>HTTP </a:t>
            </a:r>
            <a:r>
              <a:rPr sz="3100" b="1" spc="-235" dirty="0">
                <a:solidFill>
                  <a:srgbClr val="0033CC"/>
                </a:solidFill>
                <a:latin typeface="Arial"/>
                <a:cs typeface="Arial"/>
              </a:rPr>
              <a:t>GET</a:t>
            </a:r>
            <a:r>
              <a:rPr sz="3100" b="1" spc="-18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100" b="1" spc="-190" dirty="0">
                <a:solidFill>
                  <a:srgbClr val="0033CC"/>
                </a:solidFill>
                <a:latin typeface="Arial"/>
                <a:cs typeface="Arial"/>
              </a:rPr>
              <a:t>request</a:t>
            </a:r>
            <a:endParaRPr sz="3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050" b="1" spc="-135" dirty="0">
                <a:latin typeface="Courier New"/>
                <a:cs typeface="Courier New"/>
              </a:rPr>
              <a:t>//localhost/.../display.php?first_name=Ray&amp;last_name=Harris</a:t>
            </a:r>
            <a:endParaRPr sz="20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3100" b="1" spc="-175" dirty="0">
                <a:solidFill>
                  <a:srgbClr val="0033CC"/>
                </a:solidFill>
                <a:latin typeface="Arial"/>
                <a:cs typeface="Arial"/>
              </a:rPr>
              <a:t>Getting the </a:t>
            </a:r>
            <a:r>
              <a:rPr sz="3100" b="1" spc="-185" dirty="0">
                <a:solidFill>
                  <a:srgbClr val="0033CC"/>
                </a:solidFill>
                <a:latin typeface="Arial"/>
                <a:cs typeface="Arial"/>
              </a:rPr>
              <a:t>data </a:t>
            </a:r>
            <a:r>
              <a:rPr sz="3100" b="1" spc="-220" dirty="0">
                <a:solidFill>
                  <a:srgbClr val="0033CC"/>
                </a:solidFill>
                <a:latin typeface="Arial"/>
                <a:cs typeface="Arial"/>
              </a:rPr>
              <a:t>and </a:t>
            </a:r>
            <a:r>
              <a:rPr sz="3100" b="1" spc="-175" dirty="0">
                <a:solidFill>
                  <a:srgbClr val="0033CC"/>
                </a:solidFill>
                <a:latin typeface="Arial"/>
                <a:cs typeface="Arial"/>
              </a:rPr>
              <a:t>storing </a:t>
            </a:r>
            <a:r>
              <a:rPr sz="3100" b="1" spc="-100" dirty="0">
                <a:solidFill>
                  <a:srgbClr val="0033CC"/>
                </a:solidFill>
                <a:latin typeface="Arial"/>
                <a:cs typeface="Arial"/>
              </a:rPr>
              <a:t>it </a:t>
            </a:r>
            <a:r>
              <a:rPr sz="3100" b="1" spc="-165" dirty="0">
                <a:solidFill>
                  <a:srgbClr val="0033CC"/>
                </a:solidFill>
                <a:latin typeface="Arial"/>
                <a:cs typeface="Arial"/>
              </a:rPr>
              <a:t>in</a:t>
            </a:r>
            <a:r>
              <a:rPr sz="3100" b="1" spc="32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100" b="1" spc="-175" dirty="0">
                <a:solidFill>
                  <a:srgbClr val="0033CC"/>
                </a:solidFill>
                <a:latin typeface="Arial"/>
                <a:cs typeface="Arial"/>
              </a:rPr>
              <a:t>variables</a:t>
            </a:r>
            <a:endParaRPr sz="3100" dirty="0">
              <a:latin typeface="Arial"/>
              <a:cs typeface="Arial"/>
            </a:endParaRPr>
          </a:p>
          <a:p>
            <a:pPr marL="410209">
              <a:lnSpc>
                <a:spcPts val="2395"/>
              </a:lnSpc>
              <a:spcBef>
                <a:spcPts val="640"/>
              </a:spcBef>
            </a:pPr>
            <a:r>
              <a:rPr sz="2050" b="1" spc="-140" dirty="0">
                <a:latin typeface="Courier New"/>
                <a:cs typeface="Courier New"/>
              </a:rPr>
              <a:t>$first_name </a:t>
            </a:r>
            <a:r>
              <a:rPr sz="2050" b="1" spc="-145" dirty="0">
                <a:latin typeface="Courier New"/>
                <a:cs typeface="Courier New"/>
              </a:rPr>
              <a:t>=</a:t>
            </a:r>
            <a:r>
              <a:rPr sz="2050" b="1" spc="-105" dirty="0">
                <a:latin typeface="Courier New"/>
                <a:cs typeface="Courier New"/>
              </a:rPr>
              <a:t> </a:t>
            </a:r>
            <a:r>
              <a:rPr sz="2050" b="1" spc="-135" dirty="0">
                <a:latin typeface="Courier New"/>
                <a:cs typeface="Courier New"/>
              </a:rPr>
              <a:t>$_GET['first_name'];</a:t>
            </a:r>
            <a:endParaRPr sz="2050" dirty="0">
              <a:latin typeface="Courier New"/>
              <a:cs typeface="Courier New"/>
            </a:endParaRPr>
          </a:p>
          <a:p>
            <a:pPr marL="410209">
              <a:lnSpc>
                <a:spcPts val="2395"/>
              </a:lnSpc>
            </a:pPr>
            <a:r>
              <a:rPr sz="2050" b="1" spc="-135" dirty="0">
                <a:latin typeface="Courier New"/>
                <a:cs typeface="Courier New"/>
              </a:rPr>
              <a:t>$last_name </a:t>
            </a:r>
            <a:r>
              <a:rPr sz="2050" b="1" spc="-145" dirty="0">
                <a:latin typeface="Courier New"/>
                <a:cs typeface="Courier New"/>
              </a:rPr>
              <a:t>=</a:t>
            </a:r>
            <a:r>
              <a:rPr sz="2050" b="1" spc="-150" dirty="0">
                <a:latin typeface="Courier New"/>
                <a:cs typeface="Courier New"/>
              </a:rPr>
              <a:t> </a:t>
            </a:r>
            <a:r>
              <a:rPr sz="2050" b="1" spc="-135" dirty="0">
                <a:latin typeface="Courier New"/>
                <a:cs typeface="Courier New"/>
              </a:rPr>
              <a:t>$_GET['last_name'];</a:t>
            </a:r>
            <a:endParaRPr sz="205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1800" y="101599"/>
            <a:ext cx="9804400" cy="844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31800" y="101599"/>
            <a:ext cx="3343655" cy="9784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1800" y="104647"/>
            <a:ext cx="9802368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31800" y="106706"/>
            <a:ext cx="9801225" cy="737235"/>
          </a:xfrm>
          <a:custGeom>
            <a:avLst/>
            <a:gdLst/>
            <a:ahLst/>
            <a:cxnLst/>
            <a:rect l="l" t="t" r="r" b="b"/>
            <a:pathLst>
              <a:path w="9801225" h="737235">
                <a:moveTo>
                  <a:pt x="0" y="0"/>
                </a:moveTo>
                <a:lnTo>
                  <a:pt x="9800994" y="0"/>
                </a:lnTo>
                <a:lnTo>
                  <a:pt x="9800994" y="737031"/>
                </a:lnTo>
                <a:lnTo>
                  <a:pt x="0" y="737031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24495" y="144271"/>
            <a:ext cx="27381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-5" dirty="0"/>
              <a:t>Form</a:t>
            </a:r>
            <a:r>
              <a:rPr spc="-25" dirty="0"/>
              <a:t> </a:t>
            </a:r>
            <a:r>
              <a:rPr spc="-10" dirty="0"/>
              <a:t>Data</a:t>
            </a:r>
          </a:p>
        </p:txBody>
      </p:sp>
      <p:sp>
        <p:nvSpPr>
          <p:cNvPr id="16" name="object 16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591920" y="1771412"/>
            <a:ext cx="330835" cy="2162175"/>
          </a:xfrm>
          <a:custGeom>
            <a:avLst/>
            <a:gdLst/>
            <a:ahLst/>
            <a:cxnLst/>
            <a:rect l="l" t="t" r="r" b="b"/>
            <a:pathLst>
              <a:path w="330834" h="2162175">
                <a:moveTo>
                  <a:pt x="0" y="0"/>
                </a:moveTo>
                <a:lnTo>
                  <a:pt x="37857" y="6021"/>
                </a:lnTo>
                <a:lnTo>
                  <a:pt x="72610" y="23172"/>
                </a:lnTo>
                <a:lnTo>
                  <a:pt x="103267" y="50085"/>
                </a:lnTo>
                <a:lnTo>
                  <a:pt x="128836" y="85390"/>
                </a:lnTo>
                <a:lnTo>
                  <a:pt x="148326" y="127721"/>
                </a:lnTo>
                <a:lnTo>
                  <a:pt x="160748" y="175707"/>
                </a:lnTo>
                <a:lnTo>
                  <a:pt x="165108" y="227982"/>
                </a:lnTo>
                <a:lnTo>
                  <a:pt x="165108" y="755412"/>
                </a:lnTo>
                <a:lnTo>
                  <a:pt x="169469" y="807687"/>
                </a:lnTo>
                <a:lnTo>
                  <a:pt x="181890" y="855673"/>
                </a:lnTo>
                <a:lnTo>
                  <a:pt x="201381" y="898004"/>
                </a:lnTo>
                <a:lnTo>
                  <a:pt x="226950" y="933309"/>
                </a:lnTo>
                <a:lnTo>
                  <a:pt x="257606" y="960222"/>
                </a:lnTo>
                <a:lnTo>
                  <a:pt x="292359" y="977373"/>
                </a:lnTo>
                <a:lnTo>
                  <a:pt x="330217" y="983395"/>
                </a:lnTo>
                <a:lnTo>
                  <a:pt x="292359" y="989416"/>
                </a:lnTo>
                <a:lnTo>
                  <a:pt x="257606" y="1006567"/>
                </a:lnTo>
                <a:lnTo>
                  <a:pt x="226950" y="1033480"/>
                </a:lnTo>
                <a:lnTo>
                  <a:pt x="201381" y="1068786"/>
                </a:lnTo>
                <a:lnTo>
                  <a:pt x="181890" y="1111116"/>
                </a:lnTo>
                <a:lnTo>
                  <a:pt x="169469" y="1159103"/>
                </a:lnTo>
                <a:lnTo>
                  <a:pt x="165108" y="1211377"/>
                </a:lnTo>
                <a:lnTo>
                  <a:pt x="165108" y="1933751"/>
                </a:lnTo>
                <a:lnTo>
                  <a:pt x="160748" y="1986025"/>
                </a:lnTo>
                <a:lnTo>
                  <a:pt x="148326" y="2034012"/>
                </a:lnTo>
                <a:lnTo>
                  <a:pt x="128836" y="2076342"/>
                </a:lnTo>
                <a:lnTo>
                  <a:pt x="103267" y="2111648"/>
                </a:lnTo>
                <a:lnTo>
                  <a:pt x="72610" y="2138561"/>
                </a:lnTo>
                <a:lnTo>
                  <a:pt x="37857" y="2155712"/>
                </a:lnTo>
                <a:lnTo>
                  <a:pt x="0" y="2161733"/>
                </a:lnTo>
              </a:path>
            </a:pathLst>
          </a:custGeom>
          <a:ln w="102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991141" y="2554223"/>
            <a:ext cx="11423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5" dirty="0">
                <a:latin typeface="Arial"/>
                <a:cs typeface="Arial"/>
              </a:rPr>
              <a:t>i</a:t>
            </a:r>
            <a:r>
              <a:rPr sz="1900" spc="15" dirty="0">
                <a:latin typeface="Arial"/>
                <a:cs typeface="Arial"/>
              </a:rPr>
              <a:t>nde</a:t>
            </a:r>
            <a:r>
              <a:rPr sz="1900" spc="10" dirty="0">
                <a:latin typeface="Arial"/>
                <a:cs typeface="Arial"/>
              </a:rPr>
              <a:t>x</a:t>
            </a:r>
            <a:r>
              <a:rPr sz="1900" spc="5" dirty="0">
                <a:latin typeface="Arial"/>
                <a:cs typeface="Arial"/>
              </a:rPr>
              <a:t>.</a:t>
            </a:r>
            <a:r>
              <a:rPr sz="1900" spc="15" dirty="0">
                <a:latin typeface="Arial"/>
                <a:cs typeface="Arial"/>
              </a:rPr>
              <a:t>h</a:t>
            </a:r>
            <a:r>
              <a:rPr sz="1900" spc="5" dirty="0">
                <a:latin typeface="Arial"/>
                <a:cs typeface="Arial"/>
              </a:rPr>
              <a:t>t</a:t>
            </a:r>
            <a:r>
              <a:rPr sz="1900" spc="25" dirty="0">
                <a:latin typeface="Arial"/>
                <a:cs typeface="Arial"/>
              </a:rPr>
              <a:t>m</a:t>
            </a:r>
            <a:r>
              <a:rPr sz="1900" dirty="0">
                <a:latin typeface="Arial"/>
                <a:cs typeface="Arial"/>
              </a:rPr>
              <a:t>l</a:t>
            </a:r>
            <a:endParaRPr sz="19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4407408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37985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-5" dirty="0"/>
              <a:t>Form </a:t>
            </a:r>
            <a:r>
              <a:rPr spc="-10" dirty="0"/>
              <a:t>Data </a:t>
            </a:r>
            <a:r>
              <a:rPr dirty="0"/>
              <a:t>-</a:t>
            </a:r>
            <a:r>
              <a:rPr spc="40" dirty="0"/>
              <a:t> </a:t>
            </a:r>
            <a:r>
              <a:rPr spc="10" dirty="0"/>
              <a:t>GET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5658" y="1241043"/>
            <a:ext cx="893254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5080" indent="-3676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25" dirty="0">
                <a:latin typeface="Calibri"/>
                <a:cs typeface="Calibri"/>
              </a:rPr>
              <a:t>Create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page </a:t>
            </a:r>
            <a:r>
              <a:rPr sz="3000" spc="-5" dirty="0">
                <a:latin typeface="Calibri"/>
                <a:cs typeface="Calibri"/>
              </a:rPr>
              <a:t>with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20" dirty="0">
                <a:latin typeface="Calibri"/>
                <a:cs typeface="Calibri"/>
              </a:rPr>
              <a:t>form </a:t>
            </a:r>
            <a:r>
              <a:rPr sz="3000" spc="-10" dirty="0">
                <a:latin typeface="Calibri"/>
                <a:cs typeface="Calibri"/>
              </a:rPr>
              <a:t>that will result </a:t>
            </a: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10" dirty="0">
                <a:latin typeface="Calibri"/>
                <a:cs typeface="Calibri"/>
              </a:rPr>
              <a:t>HTTP </a:t>
            </a:r>
            <a:r>
              <a:rPr sz="3000" spc="-5" dirty="0">
                <a:latin typeface="Calibri"/>
                <a:cs typeface="Calibri"/>
              </a:rPr>
              <a:t>GET  </a:t>
            </a:r>
            <a:r>
              <a:rPr sz="3000" spc="-15" dirty="0">
                <a:latin typeface="Calibri"/>
                <a:cs typeface="Calibri"/>
              </a:rPr>
              <a:t>request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781608" y="2259929"/>
            <a:ext cx="6640097" cy="40664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4407408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37985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-5" dirty="0"/>
              <a:t>Form </a:t>
            </a:r>
            <a:r>
              <a:rPr spc="-10" dirty="0"/>
              <a:t>Data </a:t>
            </a:r>
            <a:r>
              <a:rPr dirty="0"/>
              <a:t>-</a:t>
            </a:r>
            <a:r>
              <a:rPr spc="40" dirty="0"/>
              <a:t> </a:t>
            </a:r>
            <a:r>
              <a:rPr spc="10" dirty="0"/>
              <a:t>GET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5658" y="1241043"/>
            <a:ext cx="91401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5080" indent="-367665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79730" algn="l"/>
                <a:tab pos="380365" algn="l"/>
              </a:tabLst>
            </a:pPr>
            <a:r>
              <a:rPr sz="3000" spc="-25" dirty="0">
                <a:latin typeface="Calibri"/>
                <a:cs typeface="Calibri"/>
              </a:rPr>
              <a:t>Create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10" dirty="0">
                <a:latin typeface="Calibri"/>
                <a:cs typeface="Calibri"/>
              </a:rPr>
              <a:t>page </a:t>
            </a:r>
            <a:r>
              <a:rPr sz="3000" spc="-20" dirty="0">
                <a:latin typeface="Calibri"/>
                <a:cs typeface="Calibri"/>
              </a:rPr>
              <a:t>(display.php) </a:t>
            </a:r>
            <a:r>
              <a:rPr sz="3000" spc="-10" dirty="0">
                <a:latin typeface="Calibri"/>
                <a:cs typeface="Calibri"/>
              </a:rPr>
              <a:t>that </a:t>
            </a:r>
            <a:r>
              <a:rPr sz="3000" spc="-30" dirty="0">
                <a:latin typeface="Calibri"/>
                <a:cs typeface="Calibri"/>
              </a:rPr>
              <a:t>“gets”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20" dirty="0">
                <a:latin typeface="Calibri"/>
                <a:cs typeface="Calibri"/>
              </a:rPr>
              <a:t>data </a:t>
            </a:r>
            <a:r>
              <a:rPr sz="3000" spc="-15" dirty="0">
                <a:latin typeface="Calibri"/>
                <a:cs typeface="Calibri"/>
              </a:rPr>
              <a:t>from </a:t>
            </a:r>
            <a:r>
              <a:rPr sz="3000" dirty="0">
                <a:latin typeface="Calibri"/>
                <a:cs typeface="Calibri"/>
              </a:rPr>
              <a:t>the  </a:t>
            </a:r>
            <a:r>
              <a:rPr sz="3000" spc="-60" dirty="0">
                <a:latin typeface="Calibri"/>
                <a:cs typeface="Calibri"/>
              </a:rPr>
              <a:t>array, </a:t>
            </a:r>
            <a:r>
              <a:rPr sz="3000" spc="-20" dirty="0">
                <a:latin typeface="Calibri"/>
                <a:cs typeface="Calibri"/>
              </a:rPr>
              <a:t>stores </a:t>
            </a:r>
            <a:r>
              <a:rPr sz="3000" spc="-5" dirty="0">
                <a:latin typeface="Calibri"/>
                <a:cs typeface="Calibri"/>
              </a:rPr>
              <a:t>it in </a:t>
            </a:r>
            <a:r>
              <a:rPr sz="3000" spc="-10" dirty="0">
                <a:latin typeface="Calibri"/>
                <a:cs typeface="Calibri"/>
              </a:rPr>
              <a:t>variables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15" dirty="0">
                <a:latin typeface="Calibri"/>
                <a:cs typeface="Calibri"/>
              </a:rPr>
              <a:t>displays </a:t>
            </a:r>
            <a:r>
              <a:rPr sz="3000" spc="-5" dirty="0">
                <a:latin typeface="Calibri"/>
                <a:cs typeface="Calibri"/>
              </a:rPr>
              <a:t>it in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markup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10532" y="2341633"/>
            <a:ext cx="3954100" cy="20630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10678" y="3065271"/>
            <a:ext cx="27133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5" dirty="0">
                <a:solidFill>
                  <a:srgbClr val="0070C0"/>
                </a:solidFill>
                <a:latin typeface="Calibri"/>
                <a:cs typeface="Calibri"/>
              </a:rPr>
              <a:t>Enter </a:t>
            </a: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details </a:t>
            </a:r>
            <a:r>
              <a:rPr sz="2100" spc="15" dirty="0">
                <a:solidFill>
                  <a:srgbClr val="0070C0"/>
                </a:solidFill>
                <a:latin typeface="Calibri"/>
                <a:cs typeface="Calibri"/>
              </a:rPr>
              <a:t>and</a:t>
            </a:r>
            <a:r>
              <a:rPr sz="21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100" spc="15" dirty="0">
                <a:solidFill>
                  <a:srgbClr val="0070C0"/>
                </a:solidFill>
                <a:latin typeface="Calibri"/>
                <a:cs typeface="Calibri"/>
              </a:rPr>
              <a:t>submit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95698" y="3281222"/>
            <a:ext cx="817244" cy="81915"/>
          </a:xfrm>
          <a:custGeom>
            <a:avLst/>
            <a:gdLst/>
            <a:ahLst/>
            <a:cxnLst/>
            <a:rect l="l" t="t" r="r" b="b"/>
            <a:pathLst>
              <a:path w="817245" h="81914">
                <a:moveTo>
                  <a:pt x="81704" y="0"/>
                </a:moveTo>
                <a:lnTo>
                  <a:pt x="0" y="40850"/>
                </a:lnTo>
                <a:lnTo>
                  <a:pt x="81704" y="81702"/>
                </a:lnTo>
                <a:lnTo>
                  <a:pt x="81704" y="45957"/>
                </a:lnTo>
                <a:lnTo>
                  <a:pt x="68085" y="45957"/>
                </a:lnTo>
                <a:lnTo>
                  <a:pt x="68085" y="35745"/>
                </a:lnTo>
                <a:lnTo>
                  <a:pt x="81704" y="35745"/>
                </a:lnTo>
                <a:lnTo>
                  <a:pt x="81704" y="0"/>
                </a:lnTo>
                <a:close/>
              </a:path>
              <a:path w="817245" h="81914">
                <a:moveTo>
                  <a:pt x="81704" y="35745"/>
                </a:moveTo>
                <a:lnTo>
                  <a:pt x="68085" y="35745"/>
                </a:lnTo>
                <a:lnTo>
                  <a:pt x="68085" y="45957"/>
                </a:lnTo>
                <a:lnTo>
                  <a:pt x="81704" y="45957"/>
                </a:lnTo>
                <a:lnTo>
                  <a:pt x="81704" y="35745"/>
                </a:lnTo>
                <a:close/>
              </a:path>
              <a:path w="817245" h="81914">
                <a:moveTo>
                  <a:pt x="81704" y="45957"/>
                </a:moveTo>
                <a:lnTo>
                  <a:pt x="68085" y="45957"/>
                </a:lnTo>
                <a:lnTo>
                  <a:pt x="81704" y="45957"/>
                </a:lnTo>
                <a:close/>
              </a:path>
              <a:path w="817245" h="81914">
                <a:moveTo>
                  <a:pt x="817034" y="35744"/>
                </a:moveTo>
                <a:lnTo>
                  <a:pt x="81704" y="35745"/>
                </a:lnTo>
                <a:lnTo>
                  <a:pt x="81704" y="45957"/>
                </a:lnTo>
                <a:lnTo>
                  <a:pt x="817034" y="45956"/>
                </a:lnTo>
                <a:lnTo>
                  <a:pt x="817034" y="35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92235" y="4629326"/>
            <a:ext cx="7560962" cy="193875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171340" y="3876039"/>
            <a:ext cx="7080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5" dirty="0">
                <a:solidFill>
                  <a:srgbClr val="0070C0"/>
                </a:solidFill>
                <a:latin typeface="Calibri"/>
                <a:cs typeface="Calibri"/>
              </a:rPr>
              <a:t>R</a:t>
            </a:r>
            <a:r>
              <a:rPr sz="2100" spc="25" dirty="0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sz="2100" spc="20" dirty="0">
                <a:solidFill>
                  <a:srgbClr val="0070C0"/>
                </a:solidFill>
                <a:latin typeface="Calibri"/>
                <a:cs typeface="Calibri"/>
              </a:rPr>
              <a:t>su</a:t>
            </a: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l</a:t>
            </a:r>
            <a:r>
              <a:rPr sz="2100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13995" y="4298901"/>
            <a:ext cx="330835" cy="330835"/>
          </a:xfrm>
          <a:custGeom>
            <a:avLst/>
            <a:gdLst/>
            <a:ahLst/>
            <a:cxnLst/>
            <a:rect l="l" t="t" r="r" b="b"/>
            <a:pathLst>
              <a:path w="330835" h="330835">
                <a:moveTo>
                  <a:pt x="28886" y="243765"/>
                </a:moveTo>
                <a:lnTo>
                  <a:pt x="0" y="330424"/>
                </a:lnTo>
                <a:lnTo>
                  <a:pt x="86659" y="301538"/>
                </a:lnTo>
                <a:lnTo>
                  <a:pt x="71012" y="285890"/>
                </a:lnTo>
                <a:lnTo>
                  <a:pt x="51755" y="285890"/>
                </a:lnTo>
                <a:lnTo>
                  <a:pt x="44533" y="278669"/>
                </a:lnTo>
                <a:lnTo>
                  <a:pt x="54162" y="269041"/>
                </a:lnTo>
                <a:lnTo>
                  <a:pt x="28886" y="243765"/>
                </a:lnTo>
                <a:close/>
              </a:path>
              <a:path w="330835" h="330835">
                <a:moveTo>
                  <a:pt x="54162" y="269041"/>
                </a:moveTo>
                <a:lnTo>
                  <a:pt x="44533" y="278669"/>
                </a:lnTo>
                <a:lnTo>
                  <a:pt x="51755" y="285890"/>
                </a:lnTo>
                <a:lnTo>
                  <a:pt x="61383" y="276262"/>
                </a:lnTo>
                <a:lnTo>
                  <a:pt x="54162" y="269041"/>
                </a:lnTo>
                <a:close/>
              </a:path>
              <a:path w="330835" h="330835">
                <a:moveTo>
                  <a:pt x="61383" y="276262"/>
                </a:moveTo>
                <a:lnTo>
                  <a:pt x="51755" y="285890"/>
                </a:lnTo>
                <a:lnTo>
                  <a:pt x="71012" y="285890"/>
                </a:lnTo>
                <a:lnTo>
                  <a:pt x="61383" y="276262"/>
                </a:lnTo>
                <a:close/>
              </a:path>
              <a:path w="330835" h="330835">
                <a:moveTo>
                  <a:pt x="323202" y="0"/>
                </a:moveTo>
                <a:lnTo>
                  <a:pt x="54162" y="269041"/>
                </a:lnTo>
                <a:lnTo>
                  <a:pt x="61383" y="276262"/>
                </a:lnTo>
                <a:lnTo>
                  <a:pt x="330424" y="7222"/>
                </a:lnTo>
                <a:lnTo>
                  <a:pt x="3232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664298" y="3924807"/>
            <a:ext cx="306768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0070C0"/>
                </a:solidFill>
                <a:latin typeface="Calibri"/>
                <a:cs typeface="Calibri"/>
              </a:rPr>
              <a:t>Notice URL when </a:t>
            </a: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using</a:t>
            </a:r>
            <a:r>
              <a:rPr sz="210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100" spc="10" dirty="0">
                <a:solidFill>
                  <a:srgbClr val="0070C0"/>
                </a:solidFill>
                <a:latin typeface="Calibri"/>
                <a:cs typeface="Calibri"/>
              </a:rPr>
              <a:t>GET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19985" y="4298427"/>
            <a:ext cx="983615" cy="739775"/>
          </a:xfrm>
          <a:custGeom>
            <a:avLst/>
            <a:gdLst/>
            <a:ahLst/>
            <a:cxnLst/>
            <a:rect l="l" t="t" r="r" b="b"/>
            <a:pathLst>
              <a:path w="983615" h="739775">
                <a:moveTo>
                  <a:pt x="40850" y="657711"/>
                </a:moveTo>
                <a:lnTo>
                  <a:pt x="0" y="739414"/>
                </a:lnTo>
                <a:lnTo>
                  <a:pt x="89872" y="723074"/>
                </a:lnTo>
                <a:lnTo>
                  <a:pt x="74552" y="702647"/>
                </a:lnTo>
                <a:lnTo>
                  <a:pt x="57532" y="702647"/>
                </a:lnTo>
                <a:lnTo>
                  <a:pt x="51404" y="694477"/>
                </a:lnTo>
                <a:lnTo>
                  <a:pt x="62297" y="686307"/>
                </a:lnTo>
                <a:lnTo>
                  <a:pt x="40850" y="657711"/>
                </a:lnTo>
                <a:close/>
              </a:path>
              <a:path w="983615" h="739775">
                <a:moveTo>
                  <a:pt x="62297" y="686307"/>
                </a:moveTo>
                <a:lnTo>
                  <a:pt x="51404" y="694477"/>
                </a:lnTo>
                <a:lnTo>
                  <a:pt x="57532" y="702647"/>
                </a:lnTo>
                <a:lnTo>
                  <a:pt x="68425" y="694477"/>
                </a:lnTo>
                <a:lnTo>
                  <a:pt x="62297" y="686307"/>
                </a:lnTo>
                <a:close/>
              </a:path>
              <a:path w="983615" h="739775">
                <a:moveTo>
                  <a:pt x="68425" y="694477"/>
                </a:moveTo>
                <a:lnTo>
                  <a:pt x="57532" y="702647"/>
                </a:lnTo>
                <a:lnTo>
                  <a:pt x="74552" y="702647"/>
                </a:lnTo>
                <a:lnTo>
                  <a:pt x="68425" y="694477"/>
                </a:lnTo>
                <a:close/>
              </a:path>
              <a:path w="983615" h="739775">
                <a:moveTo>
                  <a:pt x="977375" y="0"/>
                </a:moveTo>
                <a:lnTo>
                  <a:pt x="62297" y="686307"/>
                </a:lnTo>
                <a:lnTo>
                  <a:pt x="68425" y="694477"/>
                </a:lnTo>
                <a:lnTo>
                  <a:pt x="983503" y="8169"/>
                </a:lnTo>
                <a:lnTo>
                  <a:pt x="9773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4629912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40201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-5" dirty="0"/>
              <a:t>Form </a:t>
            </a:r>
            <a:r>
              <a:rPr spc="-10" dirty="0"/>
              <a:t>Data </a:t>
            </a:r>
            <a:r>
              <a:rPr dirty="0"/>
              <a:t>-</a:t>
            </a:r>
            <a:r>
              <a:rPr spc="45" dirty="0"/>
              <a:t> </a:t>
            </a:r>
            <a:r>
              <a:rPr spc="5" dirty="0"/>
              <a:t>POST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9039" y="1073529"/>
            <a:ext cx="8469911" cy="17310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92235" y="3231858"/>
            <a:ext cx="6206490" cy="837565"/>
          </a:xfrm>
          <a:prstGeom prst="rect">
            <a:avLst/>
          </a:prstGeom>
          <a:ln w="10212">
            <a:solidFill>
              <a:srgbClr val="000000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97790" marR="214629">
              <a:lnSpc>
                <a:spcPts val="2810"/>
              </a:lnSpc>
              <a:spcBef>
                <a:spcPts val="440"/>
              </a:spcBef>
            </a:pPr>
            <a:r>
              <a:rPr sz="2600" spc="-15" dirty="0">
                <a:latin typeface="Arial"/>
                <a:cs typeface="Arial"/>
              </a:rPr>
              <a:t>Update </a:t>
            </a:r>
            <a:r>
              <a:rPr sz="2600" spc="-10" dirty="0">
                <a:latin typeface="Arial"/>
                <a:cs typeface="Arial"/>
              </a:rPr>
              <a:t>the form </a:t>
            </a:r>
            <a:r>
              <a:rPr sz="2600" spc="-15" dirty="0">
                <a:latin typeface="Arial"/>
                <a:cs typeface="Arial"/>
              </a:rPr>
              <a:t>page </a:t>
            </a:r>
            <a:r>
              <a:rPr sz="2600" spc="-10" dirty="0">
                <a:latin typeface="Arial"/>
                <a:cs typeface="Arial"/>
              </a:rPr>
              <a:t>and </a:t>
            </a:r>
            <a:r>
              <a:rPr sz="2600" spc="-30" dirty="0">
                <a:latin typeface="Arial"/>
                <a:cs typeface="Arial"/>
              </a:rPr>
              <a:t>display.php</a:t>
            </a:r>
            <a:r>
              <a:rPr sz="2600" spc="-15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to  use </a:t>
            </a:r>
            <a:r>
              <a:rPr sz="2600" spc="-20" dirty="0">
                <a:latin typeface="Arial"/>
                <a:cs typeface="Arial"/>
              </a:rPr>
              <a:t>POST </a:t>
            </a:r>
            <a:r>
              <a:rPr sz="2600" spc="-15" dirty="0">
                <a:latin typeface="Arial"/>
                <a:cs typeface="Arial"/>
              </a:rPr>
              <a:t>instead </a:t>
            </a:r>
            <a:r>
              <a:rPr sz="2600" spc="-10" dirty="0">
                <a:latin typeface="Arial"/>
                <a:cs typeface="Arial"/>
              </a:rPr>
              <a:t>of </a:t>
            </a:r>
            <a:r>
              <a:rPr sz="2600" spc="-90" dirty="0">
                <a:latin typeface="Arial"/>
                <a:cs typeface="Arial"/>
              </a:rPr>
              <a:t>GET. </a:t>
            </a:r>
            <a:r>
              <a:rPr sz="2600" spc="-15" dirty="0">
                <a:latin typeface="Arial"/>
                <a:cs typeface="Arial"/>
              </a:rPr>
              <a:t>Notice</a:t>
            </a:r>
            <a:r>
              <a:rPr sz="2600" spc="-7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Url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23942" y="1597792"/>
            <a:ext cx="788035" cy="1515745"/>
          </a:xfrm>
          <a:custGeom>
            <a:avLst/>
            <a:gdLst/>
            <a:ahLst/>
            <a:cxnLst/>
            <a:rect l="l" t="t" r="r" b="b"/>
            <a:pathLst>
              <a:path w="788034" h="1515745">
                <a:moveTo>
                  <a:pt x="745443" y="70217"/>
                </a:moveTo>
                <a:lnTo>
                  <a:pt x="0" y="1510865"/>
                </a:lnTo>
                <a:lnTo>
                  <a:pt x="9071" y="1515559"/>
                </a:lnTo>
                <a:lnTo>
                  <a:pt x="754513" y="74911"/>
                </a:lnTo>
                <a:lnTo>
                  <a:pt x="745443" y="70217"/>
                </a:lnTo>
                <a:close/>
              </a:path>
              <a:path w="788034" h="1515745">
                <a:moveTo>
                  <a:pt x="786720" y="58121"/>
                </a:moveTo>
                <a:lnTo>
                  <a:pt x="751702" y="58121"/>
                </a:lnTo>
                <a:lnTo>
                  <a:pt x="760773" y="62814"/>
                </a:lnTo>
                <a:lnTo>
                  <a:pt x="754513" y="74911"/>
                </a:lnTo>
                <a:lnTo>
                  <a:pt x="786260" y="91338"/>
                </a:lnTo>
                <a:lnTo>
                  <a:pt x="786720" y="58121"/>
                </a:lnTo>
                <a:close/>
              </a:path>
              <a:path w="788034" h="1515745">
                <a:moveTo>
                  <a:pt x="751702" y="58121"/>
                </a:moveTo>
                <a:lnTo>
                  <a:pt x="745443" y="70217"/>
                </a:lnTo>
                <a:lnTo>
                  <a:pt x="754513" y="74911"/>
                </a:lnTo>
                <a:lnTo>
                  <a:pt x="760773" y="62814"/>
                </a:lnTo>
                <a:lnTo>
                  <a:pt x="751702" y="58121"/>
                </a:lnTo>
                <a:close/>
              </a:path>
              <a:path w="788034" h="1515745">
                <a:moveTo>
                  <a:pt x="787525" y="0"/>
                </a:moveTo>
                <a:lnTo>
                  <a:pt x="713696" y="53790"/>
                </a:lnTo>
                <a:lnTo>
                  <a:pt x="745443" y="70217"/>
                </a:lnTo>
                <a:lnTo>
                  <a:pt x="751702" y="58121"/>
                </a:lnTo>
                <a:lnTo>
                  <a:pt x="786720" y="58121"/>
                </a:lnTo>
                <a:lnTo>
                  <a:pt x="787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6128" y="4503472"/>
            <a:ext cx="8041640" cy="4610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50" b="1" spc="-50" dirty="0">
                <a:solidFill>
                  <a:srgbClr val="0033CC"/>
                </a:solidFill>
                <a:latin typeface="Arial"/>
                <a:cs typeface="Arial"/>
              </a:rPr>
              <a:t>An </a:t>
            </a:r>
            <a:r>
              <a:rPr sz="2850" b="1" spc="-5" dirty="0">
                <a:solidFill>
                  <a:srgbClr val="0033CC"/>
                </a:solidFill>
                <a:latin typeface="Arial"/>
                <a:cs typeface="Arial"/>
              </a:rPr>
              <a:t>HTML </a:t>
            </a:r>
            <a:r>
              <a:rPr sz="2850" b="1" spc="-15" dirty="0">
                <a:solidFill>
                  <a:srgbClr val="0033CC"/>
                </a:solidFill>
                <a:latin typeface="Arial"/>
                <a:cs typeface="Arial"/>
              </a:rPr>
              <a:t>form </a:t>
            </a:r>
            <a:r>
              <a:rPr sz="2850" b="1" spc="-5" dirty="0">
                <a:solidFill>
                  <a:srgbClr val="0033CC"/>
                </a:solidFill>
                <a:latin typeface="Arial"/>
                <a:cs typeface="Arial"/>
              </a:rPr>
              <a:t>that </a:t>
            </a:r>
            <a:r>
              <a:rPr sz="2850" b="1" spc="-10" dirty="0">
                <a:solidFill>
                  <a:srgbClr val="0033CC"/>
                </a:solidFill>
                <a:latin typeface="Arial"/>
                <a:cs typeface="Arial"/>
              </a:rPr>
              <a:t>specifies </a:t>
            </a:r>
            <a:r>
              <a:rPr sz="2850" b="1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2850" b="1" spc="-5" dirty="0">
                <a:solidFill>
                  <a:srgbClr val="0033CC"/>
                </a:solidFill>
                <a:latin typeface="Arial"/>
                <a:cs typeface="Arial"/>
              </a:rPr>
              <a:t>POST</a:t>
            </a:r>
            <a:r>
              <a:rPr sz="2850" b="1" spc="5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50" b="1" spc="-5" dirty="0">
                <a:solidFill>
                  <a:srgbClr val="0033CC"/>
                </a:solidFill>
                <a:latin typeface="Arial"/>
                <a:cs typeface="Arial"/>
              </a:rPr>
              <a:t>method</a:t>
            </a:r>
            <a:endParaRPr sz="28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238107" y="5062761"/>
            <a:ext cx="1873250" cy="271145"/>
          </a:xfrm>
          <a:custGeom>
            <a:avLst/>
            <a:gdLst/>
            <a:ahLst/>
            <a:cxnLst/>
            <a:rect l="l" t="t" r="r" b="b"/>
            <a:pathLst>
              <a:path w="1873250" h="271145">
                <a:moveTo>
                  <a:pt x="0" y="270789"/>
                </a:moveTo>
                <a:lnTo>
                  <a:pt x="1873096" y="270789"/>
                </a:lnTo>
                <a:lnTo>
                  <a:pt x="1873096" y="0"/>
                </a:lnTo>
                <a:lnTo>
                  <a:pt x="0" y="0"/>
                </a:lnTo>
                <a:lnTo>
                  <a:pt x="0" y="27078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16128" y="4904989"/>
            <a:ext cx="8032750" cy="1647189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423545">
              <a:lnSpc>
                <a:spcPct val="100000"/>
              </a:lnSpc>
              <a:spcBef>
                <a:spcPts val="965"/>
              </a:spcBef>
            </a:pPr>
            <a:r>
              <a:rPr sz="1850" b="1" spc="15" dirty="0">
                <a:latin typeface="Courier New"/>
                <a:cs typeface="Courier New"/>
              </a:rPr>
              <a:t>&lt;form </a:t>
            </a:r>
            <a:r>
              <a:rPr sz="1850" b="1" spc="20" dirty="0">
                <a:latin typeface="Courier New"/>
                <a:cs typeface="Courier New"/>
              </a:rPr>
              <a:t>action="display.php"</a:t>
            </a:r>
            <a:r>
              <a:rPr sz="1850" b="1" spc="135" dirty="0">
                <a:latin typeface="Courier New"/>
                <a:cs typeface="Courier New"/>
              </a:rPr>
              <a:t> </a:t>
            </a:r>
            <a:r>
              <a:rPr sz="1850" b="1" spc="20" dirty="0">
                <a:latin typeface="Courier New"/>
                <a:cs typeface="Courier New"/>
              </a:rPr>
              <a:t>method="post"&gt;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850" b="1" dirty="0">
                <a:solidFill>
                  <a:srgbClr val="0033CC"/>
                </a:solidFill>
                <a:latin typeface="Arial"/>
                <a:cs typeface="Arial"/>
              </a:rPr>
              <a:t>Code </a:t>
            </a:r>
            <a:r>
              <a:rPr sz="2850" b="1" spc="-5" dirty="0">
                <a:solidFill>
                  <a:srgbClr val="0033CC"/>
                </a:solidFill>
                <a:latin typeface="Arial"/>
                <a:cs typeface="Arial"/>
              </a:rPr>
              <a:t>that gets </a:t>
            </a:r>
            <a:r>
              <a:rPr sz="2850" b="1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2850" b="1" spc="-5" dirty="0">
                <a:solidFill>
                  <a:srgbClr val="0033CC"/>
                </a:solidFill>
                <a:latin typeface="Arial"/>
                <a:cs typeface="Arial"/>
              </a:rPr>
              <a:t>data </a:t>
            </a:r>
            <a:r>
              <a:rPr sz="2850" b="1" spc="-15" dirty="0">
                <a:solidFill>
                  <a:srgbClr val="0033CC"/>
                </a:solidFill>
                <a:latin typeface="Arial"/>
                <a:cs typeface="Arial"/>
              </a:rPr>
              <a:t>from </a:t>
            </a:r>
            <a:r>
              <a:rPr sz="2850" b="1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2850" b="1" spc="-5" dirty="0">
                <a:solidFill>
                  <a:srgbClr val="0033CC"/>
                </a:solidFill>
                <a:latin typeface="Arial"/>
                <a:cs typeface="Arial"/>
              </a:rPr>
              <a:t>$_POST</a:t>
            </a:r>
            <a:r>
              <a:rPr sz="2850" b="1" spc="-11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0033CC"/>
                </a:solidFill>
                <a:latin typeface="Arial"/>
                <a:cs typeface="Arial"/>
              </a:rPr>
              <a:t>array</a:t>
            </a:r>
            <a:endParaRPr sz="2850">
              <a:latin typeface="Arial"/>
              <a:cs typeface="Arial"/>
            </a:endParaRPr>
          </a:p>
          <a:p>
            <a:pPr marL="423545">
              <a:lnSpc>
                <a:spcPts val="2175"/>
              </a:lnSpc>
              <a:spcBef>
                <a:spcPts val="605"/>
              </a:spcBef>
            </a:pPr>
            <a:r>
              <a:rPr sz="1850" b="1" spc="20" dirty="0">
                <a:latin typeface="Courier New"/>
                <a:cs typeface="Courier New"/>
              </a:rPr>
              <a:t>$first_name </a:t>
            </a:r>
            <a:r>
              <a:rPr sz="1850" b="1" spc="15" dirty="0">
                <a:latin typeface="Courier New"/>
                <a:cs typeface="Courier New"/>
              </a:rPr>
              <a:t>=</a:t>
            </a:r>
            <a:r>
              <a:rPr sz="1850" b="1" spc="45" dirty="0">
                <a:latin typeface="Courier New"/>
                <a:cs typeface="Courier New"/>
              </a:rPr>
              <a:t> </a:t>
            </a:r>
            <a:r>
              <a:rPr sz="1850" b="1" spc="20" dirty="0">
                <a:latin typeface="Courier New"/>
                <a:cs typeface="Courier New"/>
              </a:rPr>
              <a:t>$_POST['first_name'];</a:t>
            </a:r>
            <a:endParaRPr sz="1850">
              <a:latin typeface="Courier New"/>
              <a:cs typeface="Courier New"/>
            </a:endParaRPr>
          </a:p>
          <a:p>
            <a:pPr marL="423545">
              <a:lnSpc>
                <a:spcPts val="2175"/>
              </a:lnSpc>
            </a:pPr>
            <a:r>
              <a:rPr sz="1850" b="1" spc="20" dirty="0">
                <a:latin typeface="Courier New"/>
                <a:cs typeface="Courier New"/>
              </a:rPr>
              <a:t>$last_name </a:t>
            </a:r>
            <a:r>
              <a:rPr sz="1850" b="1" spc="15" dirty="0">
                <a:latin typeface="Courier New"/>
                <a:cs typeface="Courier New"/>
              </a:rPr>
              <a:t>= </a:t>
            </a:r>
            <a:r>
              <a:rPr sz="1850" b="1" spc="20" dirty="0">
                <a:latin typeface="Courier New"/>
                <a:cs typeface="Courier New"/>
              </a:rPr>
              <a:t>$_POST['last_name'];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3291840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26866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Using</a:t>
            </a:r>
            <a:r>
              <a:rPr spc="-35" dirty="0"/>
              <a:t> </a:t>
            </a:r>
            <a:r>
              <a:rPr spc="20" dirty="0"/>
              <a:t>GET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64216" y="1099088"/>
            <a:ext cx="7489825" cy="1989455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2550" b="1" spc="20" dirty="0">
                <a:solidFill>
                  <a:srgbClr val="0033CC"/>
                </a:solidFill>
                <a:latin typeface="Arial"/>
                <a:cs typeface="Arial"/>
              </a:rPr>
              <a:t>When </a:t>
            </a:r>
            <a:r>
              <a:rPr sz="2550" b="1" spc="15" dirty="0">
                <a:solidFill>
                  <a:srgbClr val="0033CC"/>
                </a:solidFill>
                <a:latin typeface="Arial"/>
                <a:cs typeface="Arial"/>
              </a:rPr>
              <a:t>to </a:t>
            </a:r>
            <a:r>
              <a:rPr sz="2550" b="1" spc="20" dirty="0">
                <a:solidFill>
                  <a:srgbClr val="0033CC"/>
                </a:solidFill>
                <a:latin typeface="Arial"/>
                <a:cs typeface="Arial"/>
              </a:rPr>
              <a:t>use </a:t>
            </a:r>
            <a:r>
              <a:rPr sz="2550" b="1" spc="15" dirty="0">
                <a:solidFill>
                  <a:srgbClr val="0033CC"/>
                </a:solidFill>
                <a:latin typeface="Arial"/>
                <a:cs typeface="Arial"/>
              </a:rPr>
              <a:t>the HTTP </a:t>
            </a:r>
            <a:r>
              <a:rPr sz="2550" b="1" spc="20" dirty="0">
                <a:solidFill>
                  <a:srgbClr val="0033CC"/>
                </a:solidFill>
                <a:latin typeface="Arial"/>
                <a:cs typeface="Arial"/>
              </a:rPr>
              <a:t>GET</a:t>
            </a:r>
            <a:r>
              <a:rPr sz="2550" b="1" spc="-4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550" b="1" spc="15" dirty="0">
                <a:solidFill>
                  <a:srgbClr val="0033CC"/>
                </a:solidFill>
                <a:latin typeface="Arial"/>
                <a:cs typeface="Arial"/>
              </a:rPr>
              <a:t>method</a:t>
            </a:r>
            <a:endParaRPr sz="2550">
              <a:latin typeface="Arial"/>
              <a:cs typeface="Arial"/>
            </a:endParaRPr>
          </a:p>
          <a:p>
            <a:pPr marL="386715" marR="535940" indent="-374015">
              <a:lnSpc>
                <a:spcPts val="2500"/>
              </a:lnSpc>
              <a:spcBef>
                <a:spcPts val="835"/>
              </a:spcBef>
              <a:buFont typeface="Symbol"/>
              <a:buChar char=""/>
              <a:tabLst>
                <a:tab pos="386080" algn="l"/>
                <a:tab pos="386715" algn="l"/>
              </a:tabLst>
            </a:pPr>
            <a:r>
              <a:rPr sz="2150" spc="-5" dirty="0">
                <a:latin typeface="Times New Roman"/>
                <a:cs typeface="Times New Roman"/>
              </a:rPr>
              <a:t>When </a:t>
            </a:r>
            <a:r>
              <a:rPr sz="2150" spc="-10" dirty="0">
                <a:latin typeface="Times New Roman"/>
                <a:cs typeface="Times New Roman"/>
              </a:rPr>
              <a:t>the request is </a:t>
            </a:r>
            <a:r>
              <a:rPr sz="2150" spc="-5" dirty="0">
                <a:latin typeface="Times New Roman"/>
                <a:cs typeface="Times New Roman"/>
              </a:rPr>
              <a:t>for </a:t>
            </a:r>
            <a:r>
              <a:rPr sz="2150" dirty="0">
                <a:latin typeface="Times New Roman"/>
                <a:cs typeface="Times New Roman"/>
              </a:rPr>
              <a:t>a </a:t>
            </a:r>
            <a:r>
              <a:rPr sz="2150" spc="-5" dirty="0">
                <a:latin typeface="Times New Roman"/>
                <a:cs typeface="Times New Roman"/>
              </a:rPr>
              <a:t>page </a:t>
            </a:r>
            <a:r>
              <a:rPr sz="2150" spc="-10" dirty="0">
                <a:latin typeface="Times New Roman"/>
                <a:cs typeface="Times New Roman"/>
              </a:rPr>
              <a:t>that gets data </a:t>
            </a:r>
            <a:r>
              <a:rPr sz="2150" spc="-5" dirty="0">
                <a:latin typeface="Times New Roman"/>
                <a:cs typeface="Times New Roman"/>
              </a:rPr>
              <a:t>from </a:t>
            </a:r>
            <a:r>
              <a:rPr sz="2150" dirty="0">
                <a:latin typeface="Times New Roman"/>
                <a:cs typeface="Times New Roman"/>
              </a:rPr>
              <a:t>a</a:t>
            </a:r>
            <a:r>
              <a:rPr sz="2150" spc="-215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database  server.</a:t>
            </a:r>
            <a:endParaRPr sz="2150">
              <a:latin typeface="Times New Roman"/>
              <a:cs typeface="Times New Roman"/>
            </a:endParaRPr>
          </a:p>
          <a:p>
            <a:pPr marL="386715" marR="5080" indent="-374015">
              <a:lnSpc>
                <a:spcPts val="2500"/>
              </a:lnSpc>
              <a:spcBef>
                <a:spcPts val="790"/>
              </a:spcBef>
              <a:buFont typeface="Symbol"/>
              <a:buChar char=""/>
              <a:tabLst>
                <a:tab pos="386080" algn="l"/>
                <a:tab pos="386715" algn="l"/>
              </a:tabLst>
            </a:pPr>
            <a:r>
              <a:rPr sz="2150" spc="-5" dirty="0">
                <a:latin typeface="Times New Roman"/>
                <a:cs typeface="Times New Roman"/>
              </a:rPr>
              <a:t>When </a:t>
            </a:r>
            <a:r>
              <a:rPr sz="2150" spc="-10" dirty="0">
                <a:latin typeface="Times New Roman"/>
                <a:cs typeface="Times New Roman"/>
              </a:rPr>
              <a:t>the request can </a:t>
            </a:r>
            <a:r>
              <a:rPr sz="2150" spc="-5" dirty="0">
                <a:latin typeface="Times New Roman"/>
                <a:cs typeface="Times New Roman"/>
              </a:rPr>
              <a:t>be </a:t>
            </a:r>
            <a:r>
              <a:rPr sz="2150" spc="-10" dirty="0">
                <a:latin typeface="Times New Roman"/>
                <a:cs typeface="Times New Roman"/>
              </a:rPr>
              <a:t>executed </a:t>
            </a:r>
            <a:r>
              <a:rPr sz="2150" spc="-15" dirty="0">
                <a:latin typeface="Times New Roman"/>
                <a:cs typeface="Times New Roman"/>
              </a:rPr>
              <a:t>multiple times </a:t>
            </a:r>
            <a:r>
              <a:rPr sz="2150" spc="-10" dirty="0">
                <a:latin typeface="Times New Roman"/>
                <a:cs typeface="Times New Roman"/>
              </a:rPr>
              <a:t>without</a:t>
            </a:r>
            <a:r>
              <a:rPr sz="2150" spc="-105" dirty="0">
                <a:latin typeface="Times New Roman"/>
                <a:cs typeface="Times New Roman"/>
              </a:rPr>
              <a:t> </a:t>
            </a:r>
            <a:r>
              <a:rPr sz="2150" spc="-10" dirty="0">
                <a:latin typeface="Times New Roman"/>
                <a:cs typeface="Times New Roman"/>
              </a:rPr>
              <a:t>causing  </a:t>
            </a:r>
            <a:r>
              <a:rPr sz="2150" spc="-5" dirty="0">
                <a:latin typeface="Times New Roman"/>
                <a:cs typeface="Times New Roman"/>
              </a:rPr>
              <a:t>any</a:t>
            </a:r>
            <a:r>
              <a:rPr sz="2150" spc="-35" dirty="0">
                <a:latin typeface="Times New Roman"/>
                <a:cs typeface="Times New Roman"/>
              </a:rPr>
              <a:t> </a:t>
            </a:r>
            <a:r>
              <a:rPr sz="2150" spc="-15" dirty="0">
                <a:latin typeface="Times New Roman"/>
                <a:cs typeface="Times New Roman"/>
              </a:rPr>
              <a:t>problems.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3511296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29044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Using</a:t>
            </a:r>
            <a:r>
              <a:rPr spc="-25" dirty="0"/>
              <a:t> </a:t>
            </a:r>
            <a:r>
              <a:rPr spc="5" dirty="0"/>
              <a:t>POST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82939" y="1099176"/>
            <a:ext cx="7663815" cy="323723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550" b="1" spc="20" dirty="0">
                <a:solidFill>
                  <a:srgbClr val="0033CC"/>
                </a:solidFill>
                <a:latin typeface="Arial"/>
                <a:cs typeface="Arial"/>
              </a:rPr>
              <a:t>When </a:t>
            </a:r>
            <a:r>
              <a:rPr sz="2550" b="1" spc="15" dirty="0">
                <a:solidFill>
                  <a:srgbClr val="0033CC"/>
                </a:solidFill>
                <a:latin typeface="Arial"/>
                <a:cs typeface="Arial"/>
              </a:rPr>
              <a:t>to use the HTTP </a:t>
            </a:r>
            <a:r>
              <a:rPr sz="2550" b="1" spc="20" dirty="0">
                <a:solidFill>
                  <a:srgbClr val="0033CC"/>
                </a:solidFill>
                <a:latin typeface="Arial"/>
                <a:cs typeface="Arial"/>
              </a:rPr>
              <a:t>POST</a:t>
            </a:r>
            <a:r>
              <a:rPr sz="2550" b="1" spc="-4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550" b="1" spc="15" dirty="0">
                <a:solidFill>
                  <a:srgbClr val="0033CC"/>
                </a:solidFill>
                <a:latin typeface="Arial"/>
                <a:cs typeface="Arial"/>
              </a:rPr>
              <a:t>method</a:t>
            </a:r>
            <a:endParaRPr sz="2550">
              <a:latin typeface="Arial"/>
              <a:cs typeface="Arial"/>
            </a:endParaRPr>
          </a:p>
          <a:p>
            <a:pPr marL="386715" indent="-374015">
              <a:lnSpc>
                <a:spcPct val="100000"/>
              </a:lnSpc>
              <a:spcBef>
                <a:spcPts val="735"/>
              </a:spcBef>
              <a:buFont typeface="Symbol"/>
              <a:buChar char=""/>
              <a:tabLst>
                <a:tab pos="386080" algn="l"/>
                <a:tab pos="386715" algn="l"/>
              </a:tabLst>
            </a:pPr>
            <a:r>
              <a:rPr sz="2100" spc="25" dirty="0">
                <a:latin typeface="Times New Roman"/>
                <a:cs typeface="Times New Roman"/>
              </a:rPr>
              <a:t>When </a:t>
            </a:r>
            <a:r>
              <a:rPr sz="2100" spc="15" dirty="0">
                <a:latin typeface="Times New Roman"/>
                <a:cs typeface="Times New Roman"/>
              </a:rPr>
              <a:t>the </a:t>
            </a:r>
            <a:r>
              <a:rPr sz="2100" spc="10" dirty="0">
                <a:latin typeface="Times New Roman"/>
                <a:cs typeface="Times New Roman"/>
              </a:rPr>
              <a:t>request </a:t>
            </a:r>
            <a:r>
              <a:rPr sz="2100" spc="5" dirty="0">
                <a:latin typeface="Times New Roman"/>
                <a:cs typeface="Times New Roman"/>
              </a:rPr>
              <a:t>is </a:t>
            </a:r>
            <a:r>
              <a:rPr sz="2100" spc="15" dirty="0">
                <a:latin typeface="Times New Roman"/>
                <a:cs typeface="Times New Roman"/>
              </a:rPr>
              <a:t>for </a:t>
            </a:r>
            <a:r>
              <a:rPr sz="2100" spc="25" dirty="0">
                <a:latin typeface="Times New Roman"/>
                <a:cs typeface="Times New Roman"/>
              </a:rPr>
              <a:t>a </a:t>
            </a:r>
            <a:r>
              <a:rPr sz="2100" spc="20" dirty="0">
                <a:latin typeface="Times New Roman"/>
                <a:cs typeface="Times New Roman"/>
              </a:rPr>
              <a:t>page </a:t>
            </a:r>
            <a:r>
              <a:rPr sz="2100" spc="10" dirty="0">
                <a:latin typeface="Times New Roman"/>
                <a:cs typeface="Times New Roman"/>
              </a:rPr>
              <a:t>that writes data to </a:t>
            </a:r>
            <a:r>
              <a:rPr sz="2100" spc="25" dirty="0">
                <a:latin typeface="Times New Roman"/>
                <a:cs typeface="Times New Roman"/>
              </a:rPr>
              <a:t>a </a:t>
            </a:r>
            <a:r>
              <a:rPr sz="2100" spc="10" dirty="0">
                <a:latin typeface="Times New Roman"/>
                <a:cs typeface="Times New Roman"/>
              </a:rPr>
              <a:t>database</a:t>
            </a:r>
            <a:r>
              <a:rPr sz="2100" spc="-32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server.</a:t>
            </a:r>
            <a:endParaRPr sz="2100">
              <a:latin typeface="Times New Roman"/>
              <a:cs typeface="Times New Roman"/>
            </a:endParaRPr>
          </a:p>
          <a:p>
            <a:pPr marL="386715" indent="-374015">
              <a:lnSpc>
                <a:spcPct val="100000"/>
              </a:lnSpc>
              <a:spcBef>
                <a:spcPts val="760"/>
              </a:spcBef>
              <a:buFont typeface="Symbol"/>
              <a:buChar char=""/>
              <a:tabLst>
                <a:tab pos="386080" algn="l"/>
                <a:tab pos="386715" algn="l"/>
              </a:tabLst>
            </a:pPr>
            <a:r>
              <a:rPr sz="2100" spc="25" dirty="0">
                <a:latin typeface="Times New Roman"/>
                <a:cs typeface="Times New Roman"/>
              </a:rPr>
              <a:t>When </a:t>
            </a:r>
            <a:r>
              <a:rPr sz="2100" spc="10" dirty="0">
                <a:latin typeface="Times New Roman"/>
                <a:cs typeface="Times New Roman"/>
              </a:rPr>
              <a:t>executing </a:t>
            </a:r>
            <a:r>
              <a:rPr sz="2100" spc="15" dirty="0">
                <a:latin typeface="Times New Roman"/>
                <a:cs typeface="Times New Roman"/>
              </a:rPr>
              <a:t>the </a:t>
            </a:r>
            <a:r>
              <a:rPr sz="2100" spc="10" dirty="0">
                <a:latin typeface="Times New Roman"/>
                <a:cs typeface="Times New Roman"/>
              </a:rPr>
              <a:t>request </a:t>
            </a:r>
            <a:r>
              <a:rPr sz="2100" spc="5" dirty="0">
                <a:latin typeface="Times New Roman"/>
                <a:cs typeface="Times New Roman"/>
              </a:rPr>
              <a:t>multiple times </a:t>
            </a:r>
            <a:r>
              <a:rPr sz="2100" spc="10" dirty="0">
                <a:latin typeface="Times New Roman"/>
                <a:cs typeface="Times New Roman"/>
              </a:rPr>
              <a:t>may </a:t>
            </a:r>
            <a:r>
              <a:rPr sz="2100" spc="15" dirty="0">
                <a:latin typeface="Times New Roman"/>
                <a:cs typeface="Times New Roman"/>
              </a:rPr>
              <a:t>cause</a:t>
            </a:r>
            <a:r>
              <a:rPr sz="2100" spc="-17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problems.</a:t>
            </a:r>
            <a:endParaRPr sz="2100">
              <a:latin typeface="Times New Roman"/>
              <a:cs typeface="Times New Roman"/>
            </a:endParaRPr>
          </a:p>
          <a:p>
            <a:pPr marL="386715" marR="452755" indent="-374015">
              <a:lnSpc>
                <a:spcPts val="2500"/>
              </a:lnSpc>
              <a:spcBef>
                <a:spcPts val="860"/>
              </a:spcBef>
              <a:buFont typeface="Symbol"/>
              <a:buChar char=""/>
              <a:tabLst>
                <a:tab pos="386080" algn="l"/>
                <a:tab pos="386715" algn="l"/>
              </a:tabLst>
            </a:pPr>
            <a:r>
              <a:rPr sz="2100" spc="25" dirty="0">
                <a:latin typeface="Times New Roman"/>
                <a:cs typeface="Times New Roman"/>
              </a:rPr>
              <a:t>When </a:t>
            </a:r>
            <a:r>
              <a:rPr sz="2100" spc="20" dirty="0">
                <a:latin typeface="Times New Roman"/>
                <a:cs typeface="Times New Roman"/>
              </a:rPr>
              <a:t>you </a:t>
            </a:r>
            <a:r>
              <a:rPr sz="2100" spc="15" dirty="0">
                <a:latin typeface="Times New Roman"/>
                <a:cs typeface="Times New Roman"/>
              </a:rPr>
              <a:t>don’t </a:t>
            </a:r>
            <a:r>
              <a:rPr sz="2100" spc="20" dirty="0">
                <a:latin typeface="Times New Roman"/>
                <a:cs typeface="Times New Roman"/>
              </a:rPr>
              <a:t>want </a:t>
            </a:r>
            <a:r>
              <a:rPr sz="2100" spc="10" dirty="0">
                <a:latin typeface="Times New Roman"/>
                <a:cs typeface="Times New Roman"/>
              </a:rPr>
              <a:t>to include </a:t>
            </a:r>
            <a:r>
              <a:rPr sz="2100" spc="15" dirty="0">
                <a:latin typeface="Times New Roman"/>
                <a:cs typeface="Times New Roman"/>
              </a:rPr>
              <a:t>the </a:t>
            </a:r>
            <a:r>
              <a:rPr sz="2100" spc="10" dirty="0">
                <a:latin typeface="Times New Roman"/>
                <a:cs typeface="Times New Roman"/>
              </a:rPr>
              <a:t>parameters in </a:t>
            </a:r>
            <a:r>
              <a:rPr sz="2100" spc="15" dirty="0">
                <a:latin typeface="Times New Roman"/>
                <a:cs typeface="Times New Roman"/>
              </a:rPr>
              <a:t>the </a:t>
            </a:r>
            <a:r>
              <a:rPr sz="2100" spc="25" dirty="0">
                <a:latin typeface="Times New Roman"/>
                <a:cs typeface="Times New Roman"/>
              </a:rPr>
              <a:t>URL</a:t>
            </a:r>
            <a:r>
              <a:rPr sz="2100" spc="-290" dirty="0">
                <a:latin typeface="Times New Roman"/>
                <a:cs typeface="Times New Roman"/>
              </a:rPr>
              <a:t> </a:t>
            </a:r>
            <a:r>
              <a:rPr sz="2100" spc="15" dirty="0">
                <a:latin typeface="Times New Roman"/>
                <a:cs typeface="Times New Roman"/>
              </a:rPr>
              <a:t>for  </a:t>
            </a:r>
            <a:r>
              <a:rPr sz="2100" spc="5" dirty="0">
                <a:latin typeface="Times New Roman"/>
                <a:cs typeface="Times New Roman"/>
              </a:rPr>
              <a:t>security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reasons.</a:t>
            </a:r>
            <a:endParaRPr sz="2100">
              <a:latin typeface="Times New Roman"/>
              <a:cs typeface="Times New Roman"/>
            </a:endParaRPr>
          </a:p>
          <a:p>
            <a:pPr marL="386715" marR="122555" indent="-374015">
              <a:lnSpc>
                <a:spcPts val="2500"/>
              </a:lnSpc>
              <a:spcBef>
                <a:spcPts val="785"/>
              </a:spcBef>
              <a:buFont typeface="Symbol"/>
              <a:buChar char=""/>
              <a:tabLst>
                <a:tab pos="386080" algn="l"/>
                <a:tab pos="386715" algn="l"/>
              </a:tabLst>
            </a:pPr>
            <a:r>
              <a:rPr sz="2100" spc="25" dirty="0">
                <a:latin typeface="Times New Roman"/>
                <a:cs typeface="Times New Roman"/>
              </a:rPr>
              <a:t>When </a:t>
            </a:r>
            <a:r>
              <a:rPr sz="2100" spc="20" dirty="0">
                <a:latin typeface="Times New Roman"/>
                <a:cs typeface="Times New Roman"/>
              </a:rPr>
              <a:t>you </a:t>
            </a:r>
            <a:r>
              <a:rPr sz="2100" spc="15" dirty="0">
                <a:latin typeface="Times New Roman"/>
                <a:cs typeface="Times New Roman"/>
              </a:rPr>
              <a:t>don’t </a:t>
            </a:r>
            <a:r>
              <a:rPr sz="2100" spc="20" dirty="0">
                <a:latin typeface="Times New Roman"/>
                <a:cs typeface="Times New Roman"/>
              </a:rPr>
              <a:t>want </a:t>
            </a:r>
            <a:r>
              <a:rPr sz="2100" spc="10" dirty="0">
                <a:latin typeface="Times New Roman"/>
                <a:cs typeface="Times New Roman"/>
              </a:rPr>
              <a:t>users to </a:t>
            </a:r>
            <a:r>
              <a:rPr sz="2100" spc="25" dirty="0">
                <a:latin typeface="Times New Roman"/>
                <a:cs typeface="Times New Roman"/>
              </a:rPr>
              <a:t>be </a:t>
            </a:r>
            <a:r>
              <a:rPr sz="2100" spc="10" dirty="0">
                <a:latin typeface="Times New Roman"/>
                <a:cs typeface="Times New Roman"/>
              </a:rPr>
              <a:t>able to include parameters</a:t>
            </a:r>
            <a:r>
              <a:rPr sz="2100" spc="-27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Times New Roman"/>
                <a:cs typeface="Times New Roman"/>
              </a:rPr>
              <a:t>when  </a:t>
            </a:r>
            <a:r>
              <a:rPr sz="2100" spc="10" dirty="0">
                <a:latin typeface="Times New Roman"/>
                <a:cs typeface="Times New Roman"/>
              </a:rPr>
              <a:t>they </a:t>
            </a:r>
            <a:r>
              <a:rPr sz="2100" spc="15" dirty="0">
                <a:latin typeface="Times New Roman"/>
                <a:cs typeface="Times New Roman"/>
              </a:rPr>
              <a:t>bookmark </a:t>
            </a:r>
            <a:r>
              <a:rPr sz="2100" spc="25" dirty="0">
                <a:latin typeface="Times New Roman"/>
                <a:cs typeface="Times New Roman"/>
              </a:rPr>
              <a:t>a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page.</a:t>
            </a:r>
            <a:endParaRPr sz="2100">
              <a:latin typeface="Times New Roman"/>
              <a:cs typeface="Times New Roman"/>
            </a:endParaRPr>
          </a:p>
          <a:p>
            <a:pPr marL="386715" indent="-374015">
              <a:lnSpc>
                <a:spcPct val="100000"/>
              </a:lnSpc>
              <a:spcBef>
                <a:spcPts val="675"/>
              </a:spcBef>
              <a:buFont typeface="Symbol"/>
              <a:buChar char=""/>
              <a:tabLst>
                <a:tab pos="386080" algn="l"/>
                <a:tab pos="386715" algn="l"/>
              </a:tabLst>
            </a:pPr>
            <a:r>
              <a:rPr sz="2100" spc="25" dirty="0">
                <a:latin typeface="Times New Roman"/>
                <a:cs typeface="Times New Roman"/>
              </a:rPr>
              <a:t>When </a:t>
            </a:r>
            <a:r>
              <a:rPr sz="2100" spc="20" dirty="0">
                <a:latin typeface="Times New Roman"/>
                <a:cs typeface="Times New Roman"/>
              </a:rPr>
              <a:t>you </a:t>
            </a:r>
            <a:r>
              <a:rPr sz="2100" spc="15" dirty="0">
                <a:latin typeface="Times New Roman"/>
                <a:cs typeface="Times New Roman"/>
              </a:rPr>
              <a:t>need </a:t>
            </a:r>
            <a:r>
              <a:rPr sz="2100" spc="10" dirty="0">
                <a:latin typeface="Times New Roman"/>
                <a:cs typeface="Times New Roman"/>
              </a:rPr>
              <a:t>to transfer more than </a:t>
            </a:r>
            <a:r>
              <a:rPr sz="2100" spc="25" dirty="0">
                <a:latin typeface="Times New Roman"/>
                <a:cs typeface="Times New Roman"/>
              </a:rPr>
              <a:t>4 </a:t>
            </a:r>
            <a:r>
              <a:rPr sz="2100" spc="30" dirty="0">
                <a:latin typeface="Times New Roman"/>
                <a:cs typeface="Times New Roman"/>
              </a:rPr>
              <a:t>KB </a:t>
            </a:r>
            <a:r>
              <a:rPr sz="2100" spc="20" dirty="0">
                <a:latin typeface="Times New Roman"/>
                <a:cs typeface="Times New Roman"/>
              </a:rPr>
              <a:t>of</a:t>
            </a:r>
            <a:r>
              <a:rPr sz="2100" spc="-229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Times New Roman"/>
                <a:cs typeface="Times New Roman"/>
              </a:rPr>
              <a:t>data.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16920" y="4549326"/>
            <a:ext cx="7184787" cy="16068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73748" y="6293611"/>
            <a:ext cx="8020684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5" dirty="0">
                <a:solidFill>
                  <a:srgbClr val="0070C0"/>
                </a:solidFill>
                <a:latin typeface="Arial"/>
                <a:cs typeface="Arial"/>
              </a:rPr>
              <a:t>The firefox </a:t>
            </a:r>
            <a:r>
              <a:rPr sz="2600" spc="-10" dirty="0">
                <a:solidFill>
                  <a:srgbClr val="0070C0"/>
                </a:solidFill>
                <a:latin typeface="Arial"/>
                <a:cs typeface="Arial"/>
              </a:rPr>
              <a:t>dialog </a:t>
            </a:r>
            <a:r>
              <a:rPr sz="2600" spc="-5" dirty="0">
                <a:solidFill>
                  <a:srgbClr val="0070C0"/>
                </a:solidFill>
                <a:latin typeface="Arial"/>
                <a:cs typeface="Arial"/>
              </a:rPr>
              <a:t>if </a:t>
            </a:r>
            <a:r>
              <a:rPr sz="2600" dirty="0">
                <a:solidFill>
                  <a:srgbClr val="0070C0"/>
                </a:solidFill>
                <a:latin typeface="Arial"/>
                <a:cs typeface="Arial"/>
              </a:rPr>
              <a:t>a </a:t>
            </a:r>
            <a:r>
              <a:rPr sz="2600" spc="-15" dirty="0">
                <a:solidFill>
                  <a:srgbClr val="0070C0"/>
                </a:solidFill>
                <a:latin typeface="Arial"/>
                <a:cs typeface="Arial"/>
              </a:rPr>
              <a:t>users </a:t>
            </a:r>
            <a:r>
              <a:rPr sz="2600" spc="-10" dirty="0">
                <a:solidFill>
                  <a:srgbClr val="0070C0"/>
                </a:solidFill>
                <a:latin typeface="Arial"/>
                <a:cs typeface="Arial"/>
              </a:rPr>
              <a:t>tries to </a:t>
            </a:r>
            <a:r>
              <a:rPr sz="2600" spc="-15" dirty="0">
                <a:solidFill>
                  <a:srgbClr val="0070C0"/>
                </a:solidFill>
                <a:latin typeface="Arial"/>
                <a:cs typeface="Arial"/>
              </a:rPr>
              <a:t>refresh </a:t>
            </a:r>
            <a:r>
              <a:rPr sz="2600" spc="-10" dirty="0">
                <a:solidFill>
                  <a:srgbClr val="0070C0"/>
                </a:solidFill>
                <a:latin typeface="Arial"/>
                <a:cs typeface="Arial"/>
              </a:rPr>
              <a:t>(f5) </a:t>
            </a:r>
            <a:r>
              <a:rPr sz="2600" dirty="0">
                <a:solidFill>
                  <a:srgbClr val="0070C0"/>
                </a:solidFill>
                <a:latin typeface="Arial"/>
                <a:cs typeface="Arial"/>
              </a:rPr>
              <a:t>a</a:t>
            </a:r>
            <a:r>
              <a:rPr sz="2600" spc="-1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spc="-80" dirty="0">
                <a:solidFill>
                  <a:srgbClr val="0070C0"/>
                </a:solidFill>
                <a:latin typeface="Arial"/>
                <a:cs typeface="Arial"/>
              </a:rPr>
              <a:t>POST.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4715256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410845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5" dirty="0"/>
              <a:t>String</a:t>
            </a:r>
            <a:r>
              <a:rPr spc="-5" dirty="0"/>
              <a:t> </a:t>
            </a:r>
            <a:r>
              <a:rPr spc="5" dirty="0"/>
              <a:t>Expressions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2937" y="1093906"/>
            <a:ext cx="6614795" cy="211010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800" b="1" spc="-5" dirty="0">
                <a:solidFill>
                  <a:srgbClr val="0033CC"/>
                </a:solidFill>
                <a:latin typeface="Arial"/>
                <a:cs typeface="Arial"/>
              </a:rPr>
              <a:t>How </a:t>
            </a:r>
            <a:r>
              <a:rPr sz="2800" b="1" spc="-15" dirty="0">
                <a:solidFill>
                  <a:srgbClr val="0033CC"/>
                </a:solidFill>
                <a:latin typeface="Arial"/>
                <a:cs typeface="Arial"/>
              </a:rPr>
              <a:t>assign string</a:t>
            </a:r>
            <a:r>
              <a:rPr sz="2800" b="1" spc="4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33CC"/>
                </a:solidFill>
                <a:latin typeface="Arial"/>
                <a:cs typeface="Arial"/>
              </a:rPr>
              <a:t>expressions</a:t>
            </a:r>
            <a:endParaRPr sz="2800">
              <a:latin typeface="Arial"/>
              <a:cs typeface="Arial"/>
            </a:endParaRPr>
          </a:p>
          <a:p>
            <a:pPr marL="415925">
              <a:lnSpc>
                <a:spcPct val="100000"/>
              </a:lnSpc>
              <a:spcBef>
                <a:spcPts val="560"/>
              </a:spcBef>
            </a:pPr>
            <a:r>
              <a:rPr sz="2350" b="1" spc="-20" dirty="0">
                <a:latin typeface="Arial"/>
                <a:cs typeface="Arial"/>
              </a:rPr>
              <a:t>Use </a:t>
            </a:r>
            <a:r>
              <a:rPr sz="2350" b="1" spc="-30" dirty="0">
                <a:latin typeface="Arial"/>
                <a:cs typeface="Arial"/>
              </a:rPr>
              <a:t>single </a:t>
            </a:r>
            <a:r>
              <a:rPr sz="2350" b="1" spc="-25" dirty="0">
                <a:latin typeface="Arial"/>
                <a:cs typeface="Arial"/>
              </a:rPr>
              <a:t>quotes </a:t>
            </a:r>
            <a:r>
              <a:rPr sz="2350" b="1" spc="10" dirty="0">
                <a:latin typeface="Arial"/>
                <a:cs typeface="Arial"/>
              </a:rPr>
              <a:t>to </a:t>
            </a:r>
            <a:r>
              <a:rPr sz="2350" b="1" spc="-25" dirty="0">
                <a:latin typeface="Arial"/>
                <a:cs typeface="Arial"/>
              </a:rPr>
              <a:t>improve </a:t>
            </a:r>
            <a:r>
              <a:rPr sz="2350" b="1" spc="-35" dirty="0">
                <a:latin typeface="Arial"/>
                <a:cs typeface="Arial"/>
              </a:rPr>
              <a:t>PHP</a:t>
            </a:r>
            <a:r>
              <a:rPr sz="2350" b="1" spc="-265" dirty="0">
                <a:latin typeface="Arial"/>
                <a:cs typeface="Arial"/>
              </a:rPr>
              <a:t> </a:t>
            </a:r>
            <a:r>
              <a:rPr sz="2350" b="1" spc="-25" dirty="0">
                <a:latin typeface="Arial"/>
                <a:cs typeface="Arial"/>
              </a:rPr>
              <a:t>efficiency</a:t>
            </a:r>
            <a:endParaRPr sz="2350">
              <a:latin typeface="Arial"/>
              <a:cs typeface="Arial"/>
            </a:endParaRPr>
          </a:p>
          <a:p>
            <a:pPr marL="415925">
              <a:lnSpc>
                <a:spcPts val="2155"/>
              </a:lnSpc>
              <a:spcBef>
                <a:spcPts val="525"/>
              </a:spcBef>
            </a:pPr>
            <a:r>
              <a:rPr sz="1850" b="1" spc="-5" dirty="0">
                <a:latin typeface="Courier New"/>
                <a:cs typeface="Courier New"/>
              </a:rPr>
              <a:t>$first_name =</a:t>
            </a:r>
            <a:r>
              <a:rPr sz="1850" b="1" spc="30" dirty="0">
                <a:latin typeface="Courier New"/>
                <a:cs typeface="Courier New"/>
              </a:rPr>
              <a:t> </a:t>
            </a:r>
            <a:r>
              <a:rPr sz="1850" b="1" spc="-5" dirty="0">
                <a:latin typeface="Courier New"/>
                <a:cs typeface="Courier New"/>
              </a:rPr>
              <a:t>'Bob';</a:t>
            </a:r>
            <a:endParaRPr sz="1850">
              <a:latin typeface="Courier New"/>
              <a:cs typeface="Courier New"/>
            </a:endParaRPr>
          </a:p>
          <a:p>
            <a:pPr marL="415925">
              <a:lnSpc>
                <a:spcPts val="2155"/>
              </a:lnSpc>
            </a:pPr>
            <a:r>
              <a:rPr sz="1850" b="1" dirty="0">
                <a:latin typeface="Courier New"/>
                <a:cs typeface="Courier New"/>
              </a:rPr>
              <a:t>$last_name </a:t>
            </a:r>
            <a:r>
              <a:rPr sz="1850" b="1" spc="-5" dirty="0">
                <a:latin typeface="Courier New"/>
                <a:cs typeface="Courier New"/>
              </a:rPr>
              <a:t>=</a:t>
            </a:r>
            <a:r>
              <a:rPr sz="1850" b="1" spc="-15" dirty="0">
                <a:latin typeface="Courier New"/>
                <a:cs typeface="Courier New"/>
              </a:rPr>
              <a:t> </a:t>
            </a:r>
            <a:r>
              <a:rPr sz="1850" b="1" spc="-5" dirty="0">
                <a:latin typeface="Courier New"/>
                <a:cs typeface="Courier New"/>
              </a:rPr>
              <a:t>'Roberts';</a:t>
            </a:r>
            <a:endParaRPr sz="1850">
              <a:latin typeface="Courier New"/>
              <a:cs typeface="Courier New"/>
            </a:endParaRPr>
          </a:p>
          <a:p>
            <a:pPr marL="415925">
              <a:lnSpc>
                <a:spcPct val="100000"/>
              </a:lnSpc>
              <a:spcBef>
                <a:spcPts val="1340"/>
              </a:spcBef>
            </a:pPr>
            <a:r>
              <a:rPr sz="2350" b="1" spc="-20" dirty="0">
                <a:latin typeface="Arial"/>
                <a:cs typeface="Arial"/>
              </a:rPr>
              <a:t>Assign </a:t>
            </a:r>
            <a:r>
              <a:rPr sz="2350" b="1" spc="-35" dirty="0">
                <a:latin typeface="Arial"/>
                <a:cs typeface="Arial"/>
              </a:rPr>
              <a:t>NULL </a:t>
            </a:r>
            <a:r>
              <a:rPr sz="2350" b="1" spc="-25" dirty="0">
                <a:latin typeface="Arial"/>
                <a:cs typeface="Arial"/>
              </a:rPr>
              <a:t>values </a:t>
            </a:r>
            <a:r>
              <a:rPr sz="2350" b="1" spc="-30" dirty="0">
                <a:latin typeface="Arial"/>
                <a:cs typeface="Arial"/>
              </a:rPr>
              <a:t>and </a:t>
            </a:r>
            <a:r>
              <a:rPr sz="2350" b="1" spc="-25" dirty="0">
                <a:latin typeface="Arial"/>
                <a:cs typeface="Arial"/>
              </a:rPr>
              <a:t>empty</a:t>
            </a:r>
            <a:r>
              <a:rPr sz="2350" b="1" spc="-170" dirty="0">
                <a:latin typeface="Arial"/>
                <a:cs typeface="Arial"/>
              </a:rPr>
              <a:t> </a:t>
            </a:r>
            <a:r>
              <a:rPr sz="2350" b="1" spc="-25" dirty="0">
                <a:latin typeface="Arial"/>
                <a:cs typeface="Arial"/>
              </a:rPr>
              <a:t>strings</a:t>
            </a:r>
            <a:endParaRPr sz="235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12" name="object 12"/>
          <p:cNvSpPr txBox="1"/>
          <p:nvPr/>
        </p:nvSpPr>
        <p:spPr>
          <a:xfrm>
            <a:off x="1246370" y="3240810"/>
            <a:ext cx="2423160" cy="577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175"/>
              </a:lnSpc>
              <a:spcBef>
                <a:spcPts val="90"/>
              </a:spcBef>
            </a:pPr>
            <a:r>
              <a:rPr sz="1850" b="1" spc="-5" dirty="0">
                <a:latin typeface="Courier New"/>
                <a:cs typeface="Courier New"/>
              </a:rPr>
              <a:t>$address2 =</a:t>
            </a:r>
            <a:r>
              <a:rPr sz="1850" b="1" spc="5" dirty="0">
                <a:latin typeface="Courier New"/>
                <a:cs typeface="Courier New"/>
              </a:rPr>
              <a:t> </a:t>
            </a:r>
            <a:r>
              <a:rPr sz="1850" b="1" spc="-5" dirty="0">
                <a:latin typeface="Courier New"/>
                <a:cs typeface="Courier New"/>
              </a:rPr>
              <a:t>'';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75"/>
              </a:lnSpc>
            </a:pPr>
            <a:r>
              <a:rPr sz="1850" b="1" spc="-5" dirty="0">
                <a:latin typeface="Courier New"/>
                <a:cs typeface="Courier New"/>
              </a:rPr>
              <a:t>$address2 =</a:t>
            </a:r>
            <a:r>
              <a:rPr sz="1850" b="1" spc="-20" dirty="0">
                <a:latin typeface="Courier New"/>
                <a:cs typeface="Courier New"/>
              </a:rPr>
              <a:t> </a:t>
            </a:r>
            <a:r>
              <a:rPr sz="1850" b="1" spc="-10" dirty="0">
                <a:latin typeface="Courier New"/>
                <a:cs typeface="Courier New"/>
              </a:rPr>
              <a:t>null;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3371" y="3240810"/>
            <a:ext cx="2566670" cy="5772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175"/>
              </a:lnSpc>
              <a:spcBef>
                <a:spcPts val="90"/>
              </a:spcBef>
            </a:pPr>
            <a:r>
              <a:rPr sz="1850" b="1" spc="5" dirty="0">
                <a:latin typeface="Courier New"/>
                <a:cs typeface="Courier New"/>
              </a:rPr>
              <a:t>// an </a:t>
            </a:r>
            <a:r>
              <a:rPr sz="1850" b="1" dirty="0">
                <a:latin typeface="Courier New"/>
                <a:cs typeface="Courier New"/>
              </a:rPr>
              <a:t>empty</a:t>
            </a:r>
            <a:r>
              <a:rPr sz="1850" b="1" spc="-105" dirty="0">
                <a:latin typeface="Courier New"/>
                <a:cs typeface="Courier New"/>
              </a:rPr>
              <a:t> </a:t>
            </a:r>
            <a:r>
              <a:rPr sz="1850" b="1" spc="-5" dirty="0">
                <a:latin typeface="Courier New"/>
                <a:cs typeface="Courier New"/>
              </a:rPr>
              <a:t>string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75"/>
              </a:lnSpc>
            </a:pPr>
            <a:r>
              <a:rPr sz="1850" b="1" spc="5" dirty="0">
                <a:latin typeface="Courier New"/>
                <a:cs typeface="Courier New"/>
              </a:rPr>
              <a:t>// </a:t>
            </a:r>
            <a:r>
              <a:rPr sz="1850" b="1" spc="-5" dirty="0">
                <a:latin typeface="Courier New"/>
                <a:cs typeface="Courier New"/>
              </a:rPr>
              <a:t>a </a:t>
            </a:r>
            <a:r>
              <a:rPr sz="1850" b="1" dirty="0">
                <a:latin typeface="Courier New"/>
                <a:cs typeface="Courier New"/>
              </a:rPr>
              <a:t>NULL</a:t>
            </a:r>
            <a:r>
              <a:rPr sz="1850" b="1" spc="-25" dirty="0">
                <a:latin typeface="Courier New"/>
                <a:cs typeface="Courier New"/>
              </a:rPr>
              <a:t> </a:t>
            </a:r>
            <a:r>
              <a:rPr sz="1850" b="1" spc="-10" dirty="0">
                <a:latin typeface="Courier New"/>
                <a:cs typeface="Courier New"/>
              </a:rPr>
              <a:t>value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6370" y="3958027"/>
            <a:ext cx="6047105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b="1" spc="-15" dirty="0">
                <a:latin typeface="Arial"/>
                <a:cs typeface="Arial"/>
              </a:rPr>
              <a:t>Use </a:t>
            </a:r>
            <a:r>
              <a:rPr sz="2350" b="1" spc="-30" dirty="0">
                <a:latin typeface="Arial"/>
                <a:cs typeface="Arial"/>
              </a:rPr>
              <a:t>double </a:t>
            </a:r>
            <a:r>
              <a:rPr sz="2350" b="1" spc="-25" dirty="0">
                <a:latin typeface="Arial"/>
                <a:cs typeface="Arial"/>
              </a:rPr>
              <a:t>quotes </a:t>
            </a:r>
            <a:r>
              <a:rPr sz="2350" b="1" spc="-20" dirty="0">
                <a:latin typeface="Arial"/>
                <a:cs typeface="Arial"/>
              </a:rPr>
              <a:t>for </a:t>
            </a:r>
            <a:r>
              <a:rPr sz="2350" b="1" spc="-25" dirty="0">
                <a:latin typeface="Arial"/>
                <a:cs typeface="Arial"/>
              </a:rPr>
              <a:t>variable</a:t>
            </a:r>
            <a:r>
              <a:rPr sz="2350" b="1" spc="-150" dirty="0">
                <a:latin typeface="Arial"/>
                <a:cs typeface="Arial"/>
              </a:rPr>
              <a:t> </a:t>
            </a:r>
            <a:r>
              <a:rPr sz="2350" b="1" spc="-30" dirty="0">
                <a:latin typeface="Arial"/>
                <a:cs typeface="Arial"/>
              </a:rPr>
              <a:t>substitution</a:t>
            </a:r>
            <a:endParaRPr sz="23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46370" y="4382787"/>
            <a:ext cx="4690745" cy="572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155"/>
              </a:lnSpc>
              <a:spcBef>
                <a:spcPts val="90"/>
              </a:spcBef>
            </a:pPr>
            <a:r>
              <a:rPr sz="1850" b="1" spc="-5" dirty="0">
                <a:latin typeface="Courier New"/>
                <a:cs typeface="Courier New"/>
              </a:rPr>
              <a:t>$name = "Name:</a:t>
            </a:r>
            <a:r>
              <a:rPr sz="1850" b="1" spc="75" dirty="0">
                <a:latin typeface="Courier New"/>
                <a:cs typeface="Courier New"/>
              </a:rPr>
              <a:t> </a:t>
            </a:r>
            <a:r>
              <a:rPr sz="1850" b="1" dirty="0">
                <a:latin typeface="Courier New"/>
                <a:cs typeface="Courier New"/>
              </a:rPr>
              <a:t>$first_name";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55"/>
              </a:lnSpc>
            </a:pPr>
            <a:r>
              <a:rPr sz="1850" b="1" spc="-5" dirty="0">
                <a:latin typeface="Courier New"/>
                <a:cs typeface="Courier New"/>
              </a:rPr>
              <a:t>$name = </a:t>
            </a:r>
            <a:r>
              <a:rPr sz="1850" b="1" dirty="0">
                <a:latin typeface="Courier New"/>
                <a:cs typeface="Courier New"/>
              </a:rPr>
              <a:t>"$first_name</a:t>
            </a:r>
            <a:r>
              <a:rPr sz="1850" b="1" spc="-20" dirty="0">
                <a:latin typeface="Courier New"/>
                <a:cs typeface="Courier New"/>
              </a:rPr>
              <a:t> </a:t>
            </a:r>
            <a:r>
              <a:rPr sz="1850" b="1" dirty="0">
                <a:latin typeface="Courier New"/>
                <a:cs typeface="Courier New"/>
              </a:rPr>
              <a:t>$last_name";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76344" y="4382787"/>
            <a:ext cx="2006600" cy="572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240">
              <a:lnSpc>
                <a:spcPts val="2155"/>
              </a:lnSpc>
              <a:spcBef>
                <a:spcPts val="90"/>
              </a:spcBef>
            </a:pPr>
            <a:r>
              <a:rPr sz="1850" b="1" spc="5" dirty="0">
                <a:latin typeface="Courier New"/>
                <a:cs typeface="Courier New"/>
              </a:rPr>
              <a:t>// </a:t>
            </a:r>
            <a:r>
              <a:rPr sz="1850" b="1" dirty="0">
                <a:latin typeface="Courier New"/>
                <a:cs typeface="Courier New"/>
              </a:rPr>
              <a:t>Name:</a:t>
            </a:r>
            <a:r>
              <a:rPr sz="1850" b="1" spc="-60" dirty="0">
                <a:latin typeface="Courier New"/>
                <a:cs typeface="Courier New"/>
              </a:rPr>
              <a:t> </a:t>
            </a:r>
            <a:r>
              <a:rPr sz="1850" b="1" spc="-5" dirty="0">
                <a:latin typeface="Courier New"/>
                <a:cs typeface="Courier New"/>
              </a:rPr>
              <a:t>Bob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55"/>
              </a:lnSpc>
            </a:pPr>
            <a:r>
              <a:rPr sz="1850" b="1" spc="5" dirty="0">
                <a:latin typeface="Courier New"/>
                <a:cs typeface="Courier New"/>
              </a:rPr>
              <a:t>// </a:t>
            </a:r>
            <a:r>
              <a:rPr sz="1850" b="1" spc="-5" dirty="0">
                <a:latin typeface="Courier New"/>
                <a:cs typeface="Courier New"/>
              </a:rPr>
              <a:t>Bob</a:t>
            </a:r>
            <a:r>
              <a:rPr sz="1850" b="1" spc="-65" dirty="0">
                <a:latin typeface="Courier New"/>
                <a:cs typeface="Courier New"/>
              </a:rPr>
              <a:t> </a:t>
            </a:r>
            <a:r>
              <a:rPr sz="1850" b="1" dirty="0">
                <a:latin typeface="Courier New"/>
                <a:cs typeface="Courier New"/>
              </a:rPr>
              <a:t>Roberts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46370" y="5099679"/>
            <a:ext cx="7053580" cy="3829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b="1" spc="-15" dirty="0">
                <a:latin typeface="Arial"/>
                <a:cs typeface="Arial"/>
              </a:rPr>
              <a:t>Mix </a:t>
            </a:r>
            <a:r>
              <a:rPr sz="2350" b="1" spc="-30" dirty="0">
                <a:latin typeface="Arial"/>
                <a:cs typeface="Arial"/>
              </a:rPr>
              <a:t>single and </a:t>
            </a:r>
            <a:r>
              <a:rPr sz="2350" b="1" spc="-35" dirty="0">
                <a:latin typeface="Arial"/>
                <a:cs typeface="Arial"/>
              </a:rPr>
              <a:t>double </a:t>
            </a:r>
            <a:r>
              <a:rPr sz="2350" b="1" spc="-25" dirty="0">
                <a:latin typeface="Arial"/>
                <a:cs typeface="Arial"/>
              </a:rPr>
              <a:t>quotes </a:t>
            </a:r>
            <a:r>
              <a:rPr sz="2350" b="1" spc="-20" dirty="0">
                <a:latin typeface="Arial"/>
                <a:cs typeface="Arial"/>
              </a:rPr>
              <a:t>for </a:t>
            </a:r>
            <a:r>
              <a:rPr sz="2350" b="1" spc="-30" dirty="0">
                <a:latin typeface="Arial"/>
                <a:cs typeface="Arial"/>
              </a:rPr>
              <a:t>special</a:t>
            </a:r>
            <a:r>
              <a:rPr sz="2350" b="1" spc="-85" dirty="0">
                <a:latin typeface="Arial"/>
                <a:cs typeface="Arial"/>
              </a:rPr>
              <a:t> </a:t>
            </a:r>
            <a:r>
              <a:rPr sz="2350" b="1" spc="-30" dirty="0">
                <a:latin typeface="Arial"/>
                <a:cs typeface="Arial"/>
              </a:rPr>
              <a:t>purposes</a:t>
            </a:r>
            <a:endParaRPr sz="23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46370" y="5524439"/>
            <a:ext cx="3696335" cy="572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155"/>
              </a:lnSpc>
              <a:spcBef>
                <a:spcPts val="90"/>
              </a:spcBef>
            </a:pPr>
            <a:r>
              <a:rPr sz="1850" b="1" dirty="0">
                <a:latin typeface="Courier New"/>
                <a:cs typeface="Courier New"/>
              </a:rPr>
              <a:t>$last_name </a:t>
            </a:r>
            <a:r>
              <a:rPr sz="1850" b="1" spc="-5" dirty="0">
                <a:latin typeface="Courier New"/>
                <a:cs typeface="Courier New"/>
              </a:rPr>
              <a:t>=</a:t>
            </a:r>
            <a:r>
              <a:rPr sz="1850" b="1" spc="-30" dirty="0">
                <a:latin typeface="Courier New"/>
                <a:cs typeface="Courier New"/>
              </a:rPr>
              <a:t> </a:t>
            </a:r>
            <a:r>
              <a:rPr sz="1850" b="1" spc="-5" dirty="0">
                <a:latin typeface="Courier New"/>
                <a:cs typeface="Courier New"/>
              </a:rPr>
              <a:t>"O'Brien";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55"/>
              </a:lnSpc>
            </a:pPr>
            <a:r>
              <a:rPr sz="1850" b="1" spc="-5" dirty="0">
                <a:latin typeface="Courier New"/>
                <a:cs typeface="Courier New"/>
              </a:rPr>
              <a:t>$line = </a:t>
            </a:r>
            <a:r>
              <a:rPr sz="1850" b="1" dirty="0">
                <a:latin typeface="Courier New"/>
                <a:cs typeface="Courier New"/>
              </a:rPr>
              <a:t>'She said,</a:t>
            </a:r>
            <a:r>
              <a:rPr sz="1850" b="1" spc="-30" dirty="0">
                <a:latin typeface="Courier New"/>
                <a:cs typeface="Courier New"/>
              </a:rPr>
              <a:t> </a:t>
            </a:r>
            <a:r>
              <a:rPr sz="1850" b="1" spc="-5" dirty="0">
                <a:latin typeface="Courier New"/>
                <a:cs typeface="Courier New"/>
              </a:rPr>
              <a:t>"Hi."';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76344" y="5524439"/>
            <a:ext cx="2566670" cy="5721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155"/>
              </a:lnSpc>
              <a:spcBef>
                <a:spcPts val="90"/>
              </a:spcBef>
            </a:pPr>
            <a:r>
              <a:rPr sz="1850" b="1" spc="5" dirty="0">
                <a:latin typeface="Courier New"/>
                <a:cs typeface="Courier New"/>
              </a:rPr>
              <a:t>//</a:t>
            </a:r>
            <a:r>
              <a:rPr sz="1850" b="1" spc="-20" dirty="0">
                <a:latin typeface="Courier New"/>
                <a:cs typeface="Courier New"/>
              </a:rPr>
              <a:t> </a:t>
            </a:r>
            <a:r>
              <a:rPr sz="1850" b="1" dirty="0">
                <a:latin typeface="Courier New"/>
                <a:cs typeface="Courier New"/>
              </a:rPr>
              <a:t>O'Brien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55"/>
              </a:lnSpc>
            </a:pPr>
            <a:r>
              <a:rPr sz="1850" b="1" spc="5" dirty="0">
                <a:latin typeface="Courier New"/>
                <a:cs typeface="Courier New"/>
              </a:rPr>
              <a:t>// </a:t>
            </a:r>
            <a:r>
              <a:rPr sz="1850" b="1" spc="-5" dirty="0">
                <a:latin typeface="Courier New"/>
                <a:cs typeface="Courier New"/>
              </a:rPr>
              <a:t>She said,</a:t>
            </a:r>
            <a:r>
              <a:rPr sz="1850" b="1" spc="-25" dirty="0">
                <a:latin typeface="Courier New"/>
                <a:cs typeface="Courier New"/>
              </a:rPr>
              <a:t> </a:t>
            </a:r>
            <a:r>
              <a:rPr sz="1850" b="1" spc="-10" dirty="0">
                <a:latin typeface="Courier New"/>
                <a:cs typeface="Courier New"/>
              </a:rPr>
              <a:t>"Hi."</a:t>
            </a:r>
            <a:endParaRPr sz="1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6306312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569912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dirty="0"/>
              <a:t>Concatenation </a:t>
            </a:r>
            <a:r>
              <a:rPr spc="-5" dirty="0"/>
              <a:t>Operator</a:t>
            </a:r>
            <a:r>
              <a:rPr spc="25" dirty="0"/>
              <a:t> </a:t>
            </a:r>
            <a:r>
              <a:rPr spc="5" dirty="0"/>
              <a:t>(.)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24144" y="1308426"/>
            <a:ext cx="9060558" cy="44000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68641" y="5229859"/>
            <a:ext cx="63607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5" dirty="0">
                <a:solidFill>
                  <a:srgbClr val="0070C0"/>
                </a:solidFill>
                <a:latin typeface="Arial"/>
                <a:cs typeface="Arial"/>
              </a:rPr>
              <a:t>Similar </a:t>
            </a:r>
            <a:r>
              <a:rPr sz="2600" spc="-10" dirty="0">
                <a:solidFill>
                  <a:srgbClr val="0070C0"/>
                </a:solidFill>
                <a:latin typeface="Arial"/>
                <a:cs typeface="Arial"/>
              </a:rPr>
              <a:t>to </a:t>
            </a:r>
            <a:r>
              <a:rPr sz="2600" dirty="0">
                <a:solidFill>
                  <a:srgbClr val="0070C0"/>
                </a:solidFill>
                <a:latin typeface="Arial"/>
                <a:cs typeface="Arial"/>
              </a:rPr>
              <a:t>+ </a:t>
            </a:r>
            <a:r>
              <a:rPr sz="2600" spc="-15" dirty="0">
                <a:solidFill>
                  <a:srgbClr val="0070C0"/>
                </a:solidFill>
                <a:latin typeface="Arial"/>
                <a:cs typeface="Arial"/>
              </a:rPr>
              <a:t>operator </a:t>
            </a:r>
            <a:r>
              <a:rPr sz="2600" spc="-5" dirty="0">
                <a:solidFill>
                  <a:srgbClr val="0070C0"/>
                </a:solidFill>
                <a:latin typeface="Arial"/>
                <a:cs typeface="Arial"/>
              </a:rPr>
              <a:t>in </a:t>
            </a:r>
            <a:r>
              <a:rPr sz="2600" spc="-15" dirty="0">
                <a:solidFill>
                  <a:srgbClr val="0070C0"/>
                </a:solidFill>
                <a:latin typeface="Arial"/>
                <a:cs typeface="Arial"/>
              </a:rPr>
              <a:t>Java </a:t>
            </a:r>
            <a:r>
              <a:rPr sz="2600" spc="-10" dirty="0">
                <a:solidFill>
                  <a:srgbClr val="0070C0"/>
                </a:solidFill>
                <a:latin typeface="Arial"/>
                <a:cs typeface="Arial"/>
              </a:rPr>
              <a:t>and</a:t>
            </a:r>
            <a:r>
              <a:rPr sz="2600" spc="-12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600" spc="-15" dirty="0">
                <a:solidFill>
                  <a:srgbClr val="0070C0"/>
                </a:solidFill>
                <a:latin typeface="Arial"/>
                <a:cs typeface="Arial"/>
              </a:rPr>
              <a:t>JavaScript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38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4309872" cy="9723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01599"/>
            <a:ext cx="9804400" cy="737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01599"/>
            <a:ext cx="9804400" cy="737235"/>
          </a:xfrm>
          <a:custGeom>
            <a:avLst/>
            <a:gdLst/>
            <a:ahLst/>
            <a:cxnLst/>
            <a:rect l="l" t="t" r="r" b="b"/>
            <a:pathLst>
              <a:path w="9804400" h="737235">
                <a:moveTo>
                  <a:pt x="0" y="0"/>
                </a:moveTo>
                <a:lnTo>
                  <a:pt x="9804398" y="0"/>
                </a:lnTo>
                <a:lnTo>
                  <a:pt x="9804398" y="737032"/>
                </a:lnTo>
                <a:lnTo>
                  <a:pt x="0" y="737032"/>
                </a:lnTo>
                <a:lnTo>
                  <a:pt x="0" y="0"/>
                </a:lnTo>
                <a:close/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7900" y="138175"/>
            <a:ext cx="37033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-5" dirty="0"/>
              <a:t>Echo</a:t>
            </a:r>
            <a:r>
              <a:rPr spc="-25" dirty="0"/>
              <a:t> </a:t>
            </a:r>
            <a:r>
              <a:rPr spc="-5" dirty="0"/>
              <a:t>Statement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7832" y="1055364"/>
            <a:ext cx="8162925" cy="434276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3250" b="1" spc="-215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3250" b="1" spc="-195" dirty="0">
                <a:solidFill>
                  <a:srgbClr val="0033CC"/>
                </a:solidFill>
                <a:latin typeface="Arial"/>
                <a:cs typeface="Arial"/>
              </a:rPr>
              <a:t>syntax </a:t>
            </a:r>
            <a:r>
              <a:rPr sz="3250" b="1" spc="-155" dirty="0">
                <a:solidFill>
                  <a:srgbClr val="0033CC"/>
                </a:solidFill>
                <a:latin typeface="Arial"/>
                <a:cs typeface="Arial"/>
              </a:rPr>
              <a:t>for </a:t>
            </a:r>
            <a:r>
              <a:rPr sz="3250" b="1" spc="-170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3250" b="1" spc="-200" dirty="0">
                <a:solidFill>
                  <a:srgbClr val="0033CC"/>
                </a:solidFill>
                <a:latin typeface="Arial"/>
                <a:cs typeface="Arial"/>
              </a:rPr>
              <a:t>echo</a:t>
            </a:r>
            <a:r>
              <a:rPr sz="3250" b="1" spc="28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50" b="1" spc="-190" dirty="0">
                <a:solidFill>
                  <a:srgbClr val="0033CC"/>
                </a:solidFill>
                <a:latin typeface="Arial"/>
                <a:cs typeface="Arial"/>
              </a:rPr>
              <a:t>statement</a:t>
            </a:r>
            <a:endParaRPr sz="3250">
              <a:latin typeface="Arial"/>
              <a:cs typeface="Arial"/>
            </a:endParaRPr>
          </a:p>
          <a:p>
            <a:pPr marL="432434">
              <a:lnSpc>
                <a:spcPct val="100000"/>
              </a:lnSpc>
              <a:spcBef>
                <a:spcPts val="615"/>
              </a:spcBef>
            </a:pPr>
            <a:r>
              <a:rPr sz="2150" b="1" spc="-135" dirty="0">
                <a:latin typeface="Courier New"/>
                <a:cs typeface="Courier New"/>
              </a:rPr>
              <a:t>echo </a:t>
            </a:r>
            <a:r>
              <a:rPr sz="2150" b="1" i="1" spc="-135" dirty="0">
                <a:latin typeface="Courier New"/>
                <a:cs typeface="Courier New"/>
              </a:rPr>
              <a:t>string_expression</a:t>
            </a:r>
            <a:r>
              <a:rPr sz="2150" b="1" spc="-135" dirty="0">
                <a:latin typeface="Courier New"/>
                <a:cs typeface="Courier New"/>
              </a:rPr>
              <a:t>;</a:t>
            </a:r>
            <a:endParaRPr sz="2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3250" b="1" spc="-240" dirty="0">
                <a:solidFill>
                  <a:srgbClr val="0033CC"/>
                </a:solidFill>
                <a:latin typeface="Arial"/>
                <a:cs typeface="Arial"/>
              </a:rPr>
              <a:t>How </a:t>
            </a:r>
            <a:r>
              <a:rPr sz="3250" b="1" spc="-160" dirty="0">
                <a:solidFill>
                  <a:srgbClr val="0033CC"/>
                </a:solidFill>
                <a:latin typeface="Arial"/>
                <a:cs typeface="Arial"/>
              </a:rPr>
              <a:t>to </a:t>
            </a:r>
            <a:r>
              <a:rPr sz="3250" b="1" spc="-195" dirty="0">
                <a:solidFill>
                  <a:srgbClr val="0033CC"/>
                </a:solidFill>
                <a:latin typeface="Arial"/>
                <a:cs typeface="Arial"/>
              </a:rPr>
              <a:t>use </a:t>
            </a:r>
            <a:r>
              <a:rPr sz="3250" b="1" spc="-200" dirty="0">
                <a:solidFill>
                  <a:srgbClr val="0033CC"/>
                </a:solidFill>
                <a:latin typeface="Arial"/>
                <a:cs typeface="Arial"/>
              </a:rPr>
              <a:t>an echo </a:t>
            </a:r>
            <a:r>
              <a:rPr sz="3250" b="1" spc="-185" dirty="0">
                <a:solidFill>
                  <a:srgbClr val="0033CC"/>
                </a:solidFill>
                <a:latin typeface="Arial"/>
                <a:cs typeface="Arial"/>
              </a:rPr>
              <a:t>statement </a:t>
            </a:r>
            <a:r>
              <a:rPr sz="3250" b="1" spc="-160" dirty="0">
                <a:solidFill>
                  <a:srgbClr val="0033CC"/>
                </a:solidFill>
                <a:latin typeface="Arial"/>
                <a:cs typeface="Arial"/>
              </a:rPr>
              <a:t>within</a:t>
            </a:r>
            <a:r>
              <a:rPr sz="3250" b="1" spc="34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50" b="1" spc="-245" dirty="0">
                <a:solidFill>
                  <a:srgbClr val="0033CC"/>
                </a:solidFill>
                <a:latin typeface="Arial"/>
                <a:cs typeface="Arial"/>
              </a:rPr>
              <a:t>HTML</a:t>
            </a:r>
            <a:endParaRPr sz="3250">
              <a:latin typeface="Arial"/>
              <a:cs typeface="Arial"/>
            </a:endParaRPr>
          </a:p>
          <a:p>
            <a:pPr marL="432434">
              <a:lnSpc>
                <a:spcPct val="100000"/>
              </a:lnSpc>
              <a:spcBef>
                <a:spcPts val="615"/>
              </a:spcBef>
            </a:pPr>
            <a:r>
              <a:rPr sz="2150" b="1" spc="-140" dirty="0">
                <a:latin typeface="Courier New"/>
                <a:cs typeface="Courier New"/>
              </a:rPr>
              <a:t>&lt;p&gt;Name: &lt;?php </a:t>
            </a:r>
            <a:r>
              <a:rPr sz="2150" b="1" spc="-135" dirty="0">
                <a:latin typeface="Courier New"/>
                <a:cs typeface="Courier New"/>
              </a:rPr>
              <a:t>echo </a:t>
            </a:r>
            <a:r>
              <a:rPr sz="2150" b="1" spc="-140" dirty="0">
                <a:latin typeface="Courier New"/>
                <a:cs typeface="Courier New"/>
              </a:rPr>
              <a:t>$name;</a:t>
            </a:r>
            <a:r>
              <a:rPr sz="2150" b="1" dirty="0">
                <a:latin typeface="Courier New"/>
                <a:cs typeface="Courier New"/>
              </a:rPr>
              <a:t> </a:t>
            </a:r>
            <a:r>
              <a:rPr sz="2150" b="1" spc="-130" dirty="0">
                <a:latin typeface="Courier New"/>
                <a:cs typeface="Courier New"/>
              </a:rPr>
              <a:t>?&gt;&lt;/p&gt;</a:t>
            </a:r>
            <a:endParaRPr sz="2150">
              <a:latin typeface="Courier New"/>
              <a:cs typeface="Courier New"/>
            </a:endParaRPr>
          </a:p>
          <a:p>
            <a:pPr marL="12700" marR="5080">
              <a:lnSpc>
                <a:spcPts val="3750"/>
              </a:lnSpc>
              <a:spcBef>
                <a:spcPts val="1785"/>
              </a:spcBef>
            </a:pPr>
            <a:r>
              <a:rPr sz="3250" b="1" spc="-240" dirty="0">
                <a:solidFill>
                  <a:srgbClr val="0033CC"/>
                </a:solidFill>
                <a:latin typeface="Arial"/>
                <a:cs typeface="Arial"/>
              </a:rPr>
              <a:t>How </a:t>
            </a:r>
            <a:r>
              <a:rPr sz="3250" b="1" spc="-160" dirty="0">
                <a:solidFill>
                  <a:srgbClr val="0033CC"/>
                </a:solidFill>
                <a:latin typeface="Arial"/>
                <a:cs typeface="Arial"/>
              </a:rPr>
              <a:t>to </a:t>
            </a:r>
            <a:r>
              <a:rPr sz="3250" b="1" spc="-195" dirty="0">
                <a:solidFill>
                  <a:srgbClr val="0033CC"/>
                </a:solidFill>
                <a:latin typeface="Arial"/>
                <a:cs typeface="Arial"/>
              </a:rPr>
              <a:t>use </a:t>
            </a:r>
            <a:r>
              <a:rPr sz="3250" b="1" spc="-200" dirty="0">
                <a:solidFill>
                  <a:srgbClr val="0033CC"/>
                </a:solidFill>
                <a:latin typeface="Arial"/>
                <a:cs typeface="Arial"/>
              </a:rPr>
              <a:t>an echo </a:t>
            </a:r>
            <a:r>
              <a:rPr sz="3250" b="1" spc="-185" dirty="0">
                <a:solidFill>
                  <a:srgbClr val="0033CC"/>
                </a:solidFill>
                <a:latin typeface="Arial"/>
                <a:cs typeface="Arial"/>
              </a:rPr>
              <a:t>statement </a:t>
            </a:r>
            <a:r>
              <a:rPr sz="3250" b="1" spc="-190" dirty="0">
                <a:solidFill>
                  <a:srgbClr val="0033CC"/>
                </a:solidFill>
                <a:latin typeface="Arial"/>
                <a:cs typeface="Arial"/>
              </a:rPr>
              <a:t>to </a:t>
            </a:r>
            <a:r>
              <a:rPr sz="3250" b="1" spc="-180" dirty="0">
                <a:solidFill>
                  <a:srgbClr val="0033CC"/>
                </a:solidFill>
                <a:latin typeface="Arial"/>
                <a:cs typeface="Arial"/>
              </a:rPr>
              <a:t>output </a:t>
            </a:r>
            <a:r>
              <a:rPr sz="3250" b="1" spc="-245" dirty="0">
                <a:solidFill>
                  <a:srgbClr val="0033CC"/>
                </a:solidFill>
                <a:latin typeface="Arial"/>
                <a:cs typeface="Arial"/>
              </a:rPr>
              <a:t>HTML  </a:t>
            </a:r>
            <a:r>
              <a:rPr sz="3250" b="1" spc="-180" dirty="0">
                <a:solidFill>
                  <a:srgbClr val="0033CC"/>
                </a:solidFill>
                <a:latin typeface="Arial"/>
                <a:cs typeface="Arial"/>
              </a:rPr>
              <a:t>tags </a:t>
            </a:r>
            <a:r>
              <a:rPr sz="3250" b="1" spc="-204" dirty="0">
                <a:solidFill>
                  <a:srgbClr val="0033CC"/>
                </a:solidFill>
                <a:latin typeface="Arial"/>
                <a:cs typeface="Arial"/>
              </a:rPr>
              <a:t>and</a:t>
            </a:r>
            <a:r>
              <a:rPr sz="3250" b="1" spc="-4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50" b="1" spc="-180" dirty="0">
                <a:solidFill>
                  <a:srgbClr val="0033CC"/>
                </a:solidFill>
                <a:latin typeface="Arial"/>
                <a:cs typeface="Arial"/>
              </a:rPr>
              <a:t>data</a:t>
            </a:r>
            <a:endParaRPr sz="3250">
              <a:latin typeface="Arial"/>
              <a:cs typeface="Arial"/>
            </a:endParaRPr>
          </a:p>
          <a:p>
            <a:pPr marL="432434">
              <a:lnSpc>
                <a:spcPts val="2510"/>
              </a:lnSpc>
              <a:spcBef>
                <a:spcPts val="515"/>
              </a:spcBef>
            </a:pPr>
            <a:r>
              <a:rPr sz="2150" b="1" spc="-145" dirty="0">
                <a:latin typeface="Courier New"/>
                <a:cs typeface="Courier New"/>
              </a:rPr>
              <a:t>&lt;?php</a:t>
            </a:r>
            <a:endParaRPr sz="2150">
              <a:latin typeface="Courier New"/>
              <a:cs typeface="Courier New"/>
            </a:endParaRPr>
          </a:p>
          <a:p>
            <a:pPr marL="1019175">
              <a:lnSpc>
                <a:spcPts val="2465"/>
              </a:lnSpc>
            </a:pPr>
            <a:r>
              <a:rPr sz="2150" b="1" spc="-135" dirty="0">
                <a:latin typeface="Courier New"/>
                <a:cs typeface="Courier New"/>
              </a:rPr>
              <a:t>echo '&lt;p&gt;Name: </a:t>
            </a:r>
            <a:r>
              <a:rPr sz="2150" b="1" spc="-140" dirty="0">
                <a:latin typeface="Courier New"/>
                <a:cs typeface="Courier New"/>
              </a:rPr>
              <a:t>' . </a:t>
            </a:r>
            <a:r>
              <a:rPr sz="2150" b="1" spc="-135" dirty="0">
                <a:latin typeface="Courier New"/>
                <a:cs typeface="Courier New"/>
              </a:rPr>
              <a:t>$name </a:t>
            </a:r>
            <a:r>
              <a:rPr sz="2150" b="1" spc="-140" dirty="0">
                <a:latin typeface="Courier New"/>
                <a:cs typeface="Courier New"/>
              </a:rPr>
              <a:t>.</a:t>
            </a:r>
            <a:r>
              <a:rPr sz="2150" b="1" spc="-50" dirty="0">
                <a:latin typeface="Courier New"/>
                <a:cs typeface="Courier New"/>
              </a:rPr>
              <a:t> </a:t>
            </a:r>
            <a:r>
              <a:rPr sz="2150" b="1" spc="-135" dirty="0">
                <a:latin typeface="Courier New"/>
                <a:cs typeface="Courier New"/>
              </a:rPr>
              <a:t>'&lt;/p&gt;';</a:t>
            </a:r>
            <a:endParaRPr sz="2150">
              <a:latin typeface="Courier New"/>
              <a:cs typeface="Courier New"/>
            </a:endParaRPr>
          </a:p>
          <a:p>
            <a:pPr marL="432434">
              <a:lnSpc>
                <a:spcPts val="2535"/>
              </a:lnSpc>
            </a:pPr>
            <a:r>
              <a:rPr sz="2150" b="1" spc="-160" dirty="0">
                <a:latin typeface="Courier New"/>
                <a:cs typeface="Courier New"/>
              </a:rPr>
              <a:t>?&gt;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503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5266944" cy="9845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10743"/>
            <a:ext cx="9802368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11813"/>
            <a:ext cx="9801225" cy="737235"/>
          </a:xfrm>
          <a:custGeom>
            <a:avLst/>
            <a:gdLst/>
            <a:ahLst/>
            <a:cxnLst/>
            <a:rect l="l" t="t" r="r" b="b"/>
            <a:pathLst>
              <a:path w="9801225" h="737235">
                <a:moveTo>
                  <a:pt x="0" y="0"/>
                </a:moveTo>
                <a:lnTo>
                  <a:pt x="9800994" y="0"/>
                </a:lnTo>
                <a:lnTo>
                  <a:pt x="9800994" y="737032"/>
                </a:lnTo>
                <a:lnTo>
                  <a:pt x="0" y="737032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4495" y="150367"/>
            <a:ext cx="46634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Arithmetic</a:t>
            </a:r>
            <a:r>
              <a:rPr spc="-35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5245" y="1356541"/>
            <a:ext cx="5666740" cy="4991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100" b="1" dirty="0">
                <a:solidFill>
                  <a:srgbClr val="0033CC"/>
                </a:solidFill>
                <a:latin typeface="Arial"/>
                <a:cs typeface="Arial"/>
              </a:rPr>
              <a:t>Common arithmetic</a:t>
            </a:r>
            <a:r>
              <a:rPr sz="3100" b="1" spc="1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0033CC"/>
                </a:solidFill>
                <a:latin typeface="Arial"/>
                <a:cs typeface="Arial"/>
              </a:rPr>
              <a:t>operators</a:t>
            </a:r>
            <a:endParaRPr sz="31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041006" y="1996672"/>
          <a:ext cx="8493759" cy="332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5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766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"/>
                        </a:spcBef>
                        <a:tabLst>
                          <a:tab pos="1870075" algn="l"/>
                        </a:tabLst>
                      </a:pPr>
                      <a:r>
                        <a:rPr sz="2600" b="1" spc="-5" dirty="0">
                          <a:latin typeface="Arial"/>
                          <a:cs typeface="Arial"/>
                        </a:rPr>
                        <a:t>Operator	Example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Result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977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5"/>
                        </a:spcBef>
                        <a:tabLst>
                          <a:tab pos="1870075" algn="l"/>
                        </a:tabLst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+	5 +</a:t>
                      </a:r>
                      <a:r>
                        <a:rPr sz="2050" b="1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50" b="1" spc="10" dirty="0">
                          <a:latin typeface="Courier New"/>
                          <a:cs typeface="Courier New"/>
                        </a:rPr>
                        <a:t>7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571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12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571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54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5"/>
                        </a:spcBef>
                        <a:tabLst>
                          <a:tab pos="1870075" algn="l"/>
                        </a:tabLst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-	5 -</a:t>
                      </a:r>
                      <a:r>
                        <a:rPr sz="2050" b="1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50" b="1" spc="10" dirty="0">
                          <a:latin typeface="Courier New"/>
                          <a:cs typeface="Courier New"/>
                        </a:rPr>
                        <a:t>12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-7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698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507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1870075" algn="l"/>
                        </a:tabLst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*	6 *</a:t>
                      </a:r>
                      <a:r>
                        <a:rPr sz="2050" b="1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50" b="1" spc="10" dirty="0">
                          <a:latin typeface="Courier New"/>
                          <a:cs typeface="Courier New"/>
                        </a:rPr>
                        <a:t>7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42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688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1870075" algn="l"/>
                        </a:tabLst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/	13 /</a:t>
                      </a:r>
                      <a:r>
                        <a:rPr sz="2050" b="1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50" b="1" spc="10" dirty="0">
                          <a:latin typeface="Courier New"/>
                          <a:cs typeface="Courier New"/>
                        </a:rPr>
                        <a:t>4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3.25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635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4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5"/>
                        </a:spcBef>
                        <a:tabLst>
                          <a:tab pos="1870075" algn="l"/>
                        </a:tabLst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%	13 %</a:t>
                      </a:r>
                      <a:r>
                        <a:rPr sz="2050" b="1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50" b="1" spc="10" dirty="0">
                          <a:latin typeface="Courier New"/>
                          <a:cs typeface="Courier New"/>
                        </a:rPr>
                        <a:t>4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698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1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698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757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710"/>
                        </a:spcBef>
                        <a:tabLst>
                          <a:tab pos="1870075" algn="l"/>
                        </a:tabLst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++	$counter++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9017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600" dirty="0">
                          <a:latin typeface="Times New Roman"/>
                          <a:cs typeface="Times New Roman"/>
                        </a:rPr>
                        <a:t>adds 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1 to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 counter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0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520"/>
                        </a:spcBef>
                        <a:tabLst>
                          <a:tab pos="1870075" algn="l"/>
                        </a:tabLst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--	$counter--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6604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4970">
                        <a:lnSpc>
                          <a:spcPts val="3090"/>
                        </a:lnSpc>
                      </a:pPr>
                      <a:r>
                        <a:rPr sz="2600" spc="-5" dirty="0">
                          <a:latin typeface="Times New Roman"/>
                          <a:cs typeface="Times New Roman"/>
                        </a:rPr>
                        <a:t>subtracts 1 </a:t>
                      </a:r>
                      <a:r>
                        <a:rPr sz="26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2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600" spc="-5" dirty="0">
                          <a:latin typeface="Times New Roman"/>
                          <a:cs typeface="Times New Roman"/>
                        </a:rPr>
                        <a:t>counter</a:t>
                      </a: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503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7299959" cy="9845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10743"/>
            <a:ext cx="9802368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11813"/>
            <a:ext cx="9801225" cy="737235"/>
          </a:xfrm>
          <a:custGeom>
            <a:avLst/>
            <a:gdLst/>
            <a:ahLst/>
            <a:cxnLst/>
            <a:rect l="l" t="t" r="r" b="b"/>
            <a:pathLst>
              <a:path w="9801225" h="737235">
                <a:moveTo>
                  <a:pt x="0" y="0"/>
                </a:moveTo>
                <a:lnTo>
                  <a:pt x="9800994" y="0"/>
                </a:lnTo>
                <a:lnTo>
                  <a:pt x="9800994" y="737032"/>
                </a:lnTo>
                <a:lnTo>
                  <a:pt x="0" y="737032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4495" y="150367"/>
            <a:ext cx="669670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Arithmetic </a:t>
            </a:r>
            <a:r>
              <a:rPr spc="-10" dirty="0"/>
              <a:t>Operators </a:t>
            </a:r>
            <a:r>
              <a:rPr dirty="0"/>
              <a:t>-</a:t>
            </a:r>
            <a:r>
              <a:rPr spc="35" dirty="0"/>
              <a:t> </a:t>
            </a:r>
            <a:r>
              <a:rPr dirty="0"/>
              <a:t>Examples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90597" y="1330430"/>
            <a:ext cx="6605270" cy="508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50" b="1" spc="5" dirty="0">
                <a:solidFill>
                  <a:srgbClr val="0033CC"/>
                </a:solidFill>
                <a:latin typeface="Arial"/>
                <a:cs typeface="Arial"/>
              </a:rPr>
              <a:t>Some </a:t>
            </a:r>
            <a:r>
              <a:rPr sz="3150" b="1" spc="-5" dirty="0">
                <a:solidFill>
                  <a:srgbClr val="0033CC"/>
                </a:solidFill>
                <a:latin typeface="Arial"/>
                <a:cs typeface="Arial"/>
              </a:rPr>
              <a:t>simple </a:t>
            </a:r>
            <a:r>
              <a:rPr sz="3150" b="1" dirty="0">
                <a:solidFill>
                  <a:srgbClr val="0033CC"/>
                </a:solidFill>
                <a:latin typeface="Arial"/>
                <a:cs typeface="Arial"/>
              </a:rPr>
              <a:t>numeric</a:t>
            </a:r>
            <a:r>
              <a:rPr sz="3150" b="1" spc="-6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150" b="1" spc="-10" dirty="0">
                <a:solidFill>
                  <a:srgbClr val="0033CC"/>
                </a:solidFill>
                <a:latin typeface="Arial"/>
                <a:cs typeface="Arial"/>
              </a:rPr>
              <a:t>expressions</a:t>
            </a:r>
            <a:endParaRPr sz="31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327388" y="1945572"/>
          <a:ext cx="1334135" cy="7009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7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466">
                <a:tc>
                  <a:txBody>
                    <a:bodyPr/>
                    <a:lstStyle/>
                    <a:p>
                      <a:pPr marL="31750">
                        <a:lnSpc>
                          <a:spcPts val="2140"/>
                        </a:lnSpc>
                      </a:pPr>
                      <a:r>
                        <a:rPr sz="2050" b="1" spc="-10" dirty="0">
                          <a:latin typeface="Courier New"/>
                          <a:cs typeface="Courier New"/>
                        </a:rPr>
                        <a:t>$x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2140"/>
                        </a:lnSpc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=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2140"/>
                        </a:lnSpc>
                      </a:pPr>
                      <a:r>
                        <a:rPr sz="2050" b="1" spc="5" dirty="0">
                          <a:latin typeface="Courier New"/>
                          <a:cs typeface="Courier New"/>
                        </a:rPr>
                        <a:t>14;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6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-10" dirty="0">
                          <a:latin typeface="Courier New"/>
                          <a:cs typeface="Courier New"/>
                        </a:rPr>
                        <a:t>$y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=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5" dirty="0">
                          <a:latin typeface="Courier New"/>
                          <a:cs typeface="Courier New"/>
                        </a:rPr>
                        <a:t>8;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327388" y="2749306"/>
          <a:ext cx="5813424" cy="27114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0549">
                <a:tc>
                  <a:txBody>
                    <a:bodyPr/>
                    <a:lstStyle/>
                    <a:p>
                      <a:pPr marL="31750">
                        <a:lnSpc>
                          <a:spcPts val="2140"/>
                        </a:lnSpc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$result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=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2140"/>
                        </a:lnSpc>
                      </a:pPr>
                      <a:r>
                        <a:rPr sz="2050" b="1" spc="25" dirty="0">
                          <a:latin typeface="Courier New"/>
                          <a:cs typeface="Courier New"/>
                        </a:rPr>
                        <a:t>$x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ts val="2140"/>
                        </a:lnSpc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+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40"/>
                        </a:lnSpc>
                      </a:pPr>
                      <a:r>
                        <a:rPr sz="2050" b="1" spc="15" dirty="0">
                          <a:latin typeface="Courier New"/>
                          <a:cs typeface="Courier New"/>
                        </a:rPr>
                        <a:t>$y;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ts val="2140"/>
                        </a:lnSpc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050" b="1" dirty="0">
                          <a:latin typeface="Courier New"/>
                          <a:cs typeface="Courier New"/>
                        </a:rPr>
                        <a:t>/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2140"/>
                        </a:lnSpc>
                      </a:pPr>
                      <a:r>
                        <a:rPr sz="2050" b="1" spc="25" dirty="0">
                          <a:latin typeface="Courier New"/>
                          <a:cs typeface="Courier New"/>
                        </a:rPr>
                        <a:t>22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03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$result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=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5" dirty="0">
                          <a:latin typeface="Courier New"/>
                          <a:cs typeface="Courier New"/>
                        </a:rPr>
                        <a:t>$x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-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$y;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//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6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0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$result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=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5" dirty="0">
                          <a:latin typeface="Courier New"/>
                          <a:cs typeface="Courier New"/>
                        </a:rPr>
                        <a:t>$x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*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15" dirty="0">
                          <a:latin typeface="Courier New"/>
                          <a:cs typeface="Courier New"/>
                        </a:rPr>
                        <a:t>$y;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050" b="1" dirty="0">
                          <a:latin typeface="Courier New"/>
                          <a:cs typeface="Courier New"/>
                        </a:rPr>
                        <a:t>/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5" dirty="0">
                          <a:latin typeface="Courier New"/>
                          <a:cs typeface="Courier New"/>
                        </a:rPr>
                        <a:t>112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11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$result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=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5" dirty="0">
                          <a:latin typeface="Courier New"/>
                          <a:cs typeface="Courier New"/>
                        </a:rPr>
                        <a:t>$x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/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15" dirty="0">
                          <a:latin typeface="Courier New"/>
                          <a:cs typeface="Courier New"/>
                        </a:rPr>
                        <a:t>$y;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050" b="1" dirty="0">
                          <a:latin typeface="Courier New"/>
                          <a:cs typeface="Courier New"/>
                        </a:rPr>
                        <a:t>/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1.75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08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$result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=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5" dirty="0">
                          <a:latin typeface="Courier New"/>
                          <a:cs typeface="Courier New"/>
                        </a:rPr>
                        <a:t>$x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%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15" dirty="0">
                          <a:latin typeface="Courier New"/>
                          <a:cs typeface="Courier New"/>
                        </a:rPr>
                        <a:t>$y;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050" b="1" dirty="0">
                          <a:latin typeface="Courier New"/>
                          <a:cs typeface="Courier New"/>
                        </a:rPr>
                        <a:t>/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6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08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10" dirty="0">
                          <a:latin typeface="Courier New"/>
                          <a:cs typeface="Courier New"/>
                        </a:rPr>
                        <a:t>$x++;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050" b="1" dirty="0">
                          <a:latin typeface="Courier New"/>
                          <a:cs typeface="Courier New"/>
                        </a:rPr>
                        <a:t>/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5" dirty="0">
                          <a:latin typeface="Courier New"/>
                          <a:cs typeface="Courier New"/>
                        </a:rPr>
                        <a:t>15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53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15" dirty="0">
                          <a:latin typeface="Courier New"/>
                          <a:cs typeface="Courier New"/>
                        </a:rPr>
                        <a:t>$y--;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spc="20" dirty="0">
                          <a:latin typeface="Courier New"/>
                          <a:cs typeface="Courier New"/>
                        </a:rPr>
                        <a:t>//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2050" b="1" dirty="0">
                          <a:latin typeface="Courier New"/>
                          <a:cs typeface="Courier New"/>
                        </a:rPr>
                        <a:t>7</a:t>
                      </a:r>
                      <a:endParaRPr sz="20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01599"/>
            <a:ext cx="9804400" cy="8503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800" y="101599"/>
            <a:ext cx="7299959" cy="9845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1800" y="110743"/>
            <a:ext cx="9802368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1800" y="111813"/>
            <a:ext cx="9801225" cy="737235"/>
          </a:xfrm>
          <a:custGeom>
            <a:avLst/>
            <a:gdLst/>
            <a:ahLst/>
            <a:cxnLst/>
            <a:rect l="l" t="t" r="r" b="b"/>
            <a:pathLst>
              <a:path w="9801225" h="737235">
                <a:moveTo>
                  <a:pt x="0" y="0"/>
                </a:moveTo>
                <a:lnTo>
                  <a:pt x="9800994" y="0"/>
                </a:lnTo>
                <a:lnTo>
                  <a:pt x="9800994" y="737032"/>
                </a:lnTo>
                <a:lnTo>
                  <a:pt x="0" y="737032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24495" y="150367"/>
            <a:ext cx="6696709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Arithmetic </a:t>
            </a:r>
            <a:r>
              <a:rPr spc="-10" dirty="0"/>
              <a:t>Operators </a:t>
            </a:r>
            <a:r>
              <a:rPr dirty="0"/>
              <a:t>-</a:t>
            </a:r>
            <a:r>
              <a:rPr spc="35" dirty="0"/>
              <a:t> </a:t>
            </a:r>
            <a:r>
              <a:rPr dirty="0"/>
              <a:t>Examples</a:t>
            </a:r>
          </a:p>
        </p:txBody>
      </p:sp>
      <p:sp>
        <p:nvSpPr>
          <p:cNvPr id="9" name="object 9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75704" y="1189577"/>
            <a:ext cx="8481060" cy="222186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3650" b="1" spc="-470" dirty="0">
                <a:solidFill>
                  <a:srgbClr val="0033CC"/>
                </a:solidFill>
                <a:latin typeface="Arial"/>
                <a:cs typeface="Arial"/>
              </a:rPr>
              <a:t>Statements </a:t>
            </a:r>
            <a:r>
              <a:rPr sz="3650" b="1" spc="-400" dirty="0">
                <a:solidFill>
                  <a:srgbClr val="0033CC"/>
                </a:solidFill>
                <a:latin typeface="Arial"/>
                <a:cs typeface="Arial"/>
              </a:rPr>
              <a:t>that </a:t>
            </a:r>
            <a:r>
              <a:rPr sz="3650" b="1" spc="-415" dirty="0">
                <a:solidFill>
                  <a:srgbClr val="0033CC"/>
                </a:solidFill>
                <a:latin typeface="Arial"/>
                <a:cs typeface="Arial"/>
              </a:rPr>
              <a:t>calculate </a:t>
            </a:r>
            <a:r>
              <a:rPr sz="3650" b="1" spc="-470" dirty="0">
                <a:solidFill>
                  <a:srgbClr val="0033CC"/>
                </a:solidFill>
                <a:latin typeface="Arial"/>
                <a:cs typeface="Arial"/>
              </a:rPr>
              <a:t>a</a:t>
            </a:r>
            <a:r>
              <a:rPr sz="3650" b="1" spc="-28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650" b="1" spc="-455" dirty="0">
                <a:solidFill>
                  <a:srgbClr val="0033CC"/>
                </a:solidFill>
                <a:latin typeface="Arial"/>
                <a:cs typeface="Arial"/>
              </a:rPr>
              <a:t>discount</a:t>
            </a:r>
            <a:endParaRPr sz="3650">
              <a:latin typeface="Arial"/>
              <a:cs typeface="Arial"/>
            </a:endParaRPr>
          </a:p>
          <a:p>
            <a:pPr marL="415290">
              <a:lnSpc>
                <a:spcPts val="2835"/>
              </a:lnSpc>
              <a:spcBef>
                <a:spcPts val="700"/>
              </a:spcBef>
            </a:pPr>
            <a:r>
              <a:rPr sz="2400" b="1" spc="-335" dirty="0">
                <a:latin typeface="Courier New"/>
                <a:cs typeface="Courier New"/>
              </a:rPr>
              <a:t>$list_price =</a:t>
            </a:r>
            <a:r>
              <a:rPr sz="2400" b="1" spc="-300" dirty="0">
                <a:latin typeface="Courier New"/>
                <a:cs typeface="Courier New"/>
              </a:rPr>
              <a:t> </a:t>
            </a:r>
            <a:r>
              <a:rPr sz="2400" b="1" spc="-340" dirty="0">
                <a:latin typeface="Courier New"/>
                <a:cs typeface="Courier New"/>
              </a:rPr>
              <a:t>19.95;</a:t>
            </a:r>
            <a:endParaRPr sz="2400">
              <a:latin typeface="Courier New"/>
              <a:cs typeface="Courier New"/>
            </a:endParaRPr>
          </a:p>
          <a:p>
            <a:pPr marL="415290">
              <a:lnSpc>
                <a:spcPts val="2765"/>
              </a:lnSpc>
            </a:pPr>
            <a:r>
              <a:rPr sz="2400" b="1" spc="-335" dirty="0">
                <a:latin typeface="Courier New"/>
                <a:cs typeface="Courier New"/>
              </a:rPr>
              <a:t>$discount_percent =</a:t>
            </a:r>
            <a:r>
              <a:rPr sz="2400" b="1" spc="-300" dirty="0">
                <a:latin typeface="Courier New"/>
                <a:cs typeface="Courier New"/>
              </a:rPr>
              <a:t> </a:t>
            </a:r>
            <a:r>
              <a:rPr sz="2400" b="1" spc="-345" dirty="0">
                <a:latin typeface="Courier New"/>
                <a:cs typeface="Courier New"/>
              </a:rPr>
              <a:t>20;</a:t>
            </a:r>
            <a:endParaRPr sz="2400">
              <a:latin typeface="Courier New"/>
              <a:cs typeface="Courier New"/>
            </a:endParaRPr>
          </a:p>
          <a:p>
            <a:pPr marL="415290">
              <a:lnSpc>
                <a:spcPts val="2735"/>
              </a:lnSpc>
            </a:pPr>
            <a:r>
              <a:rPr sz="2400" b="1" spc="-330" dirty="0">
                <a:latin typeface="Courier New"/>
                <a:cs typeface="Courier New"/>
              </a:rPr>
              <a:t>$discount_amount </a:t>
            </a:r>
            <a:r>
              <a:rPr sz="2400" b="1" spc="-335" dirty="0">
                <a:latin typeface="Courier New"/>
                <a:cs typeface="Courier New"/>
              </a:rPr>
              <a:t>= </a:t>
            </a:r>
            <a:r>
              <a:rPr sz="2400" b="1" spc="-330" dirty="0">
                <a:latin typeface="Courier New"/>
                <a:cs typeface="Courier New"/>
              </a:rPr>
              <a:t>$list_price </a:t>
            </a:r>
            <a:r>
              <a:rPr sz="2400" b="1" spc="-335" dirty="0">
                <a:latin typeface="Courier New"/>
                <a:cs typeface="Courier New"/>
              </a:rPr>
              <a:t>* $discount_percent *</a:t>
            </a:r>
            <a:r>
              <a:rPr sz="2400" b="1" spc="-254" dirty="0">
                <a:latin typeface="Courier New"/>
                <a:cs typeface="Courier New"/>
              </a:rPr>
              <a:t> </a:t>
            </a:r>
            <a:r>
              <a:rPr sz="2400" b="1" spc="-335" dirty="0">
                <a:latin typeface="Courier New"/>
                <a:cs typeface="Courier New"/>
              </a:rPr>
              <a:t>.01;</a:t>
            </a:r>
            <a:endParaRPr sz="2400">
              <a:latin typeface="Courier New"/>
              <a:cs typeface="Courier New"/>
            </a:endParaRPr>
          </a:p>
          <a:p>
            <a:pPr marL="415290">
              <a:lnSpc>
                <a:spcPts val="2805"/>
              </a:lnSpc>
            </a:pPr>
            <a:r>
              <a:rPr sz="2400" b="1" spc="-335" dirty="0">
                <a:latin typeface="Courier New"/>
                <a:cs typeface="Courier New"/>
              </a:rPr>
              <a:t>$discount_price = $list_price -</a:t>
            </a:r>
            <a:r>
              <a:rPr sz="2400" b="1" spc="-190" dirty="0">
                <a:latin typeface="Courier New"/>
                <a:cs typeface="Courier New"/>
              </a:rPr>
              <a:t> </a:t>
            </a:r>
            <a:r>
              <a:rPr sz="2400" b="1" spc="-335" dirty="0">
                <a:latin typeface="Courier New"/>
                <a:cs typeface="Courier New"/>
              </a:rPr>
              <a:t>$discount_amount;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7629144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700849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Arithmetic </a:t>
            </a:r>
            <a:r>
              <a:rPr spc="-10" dirty="0"/>
              <a:t>Operators</a:t>
            </a:r>
            <a:r>
              <a:rPr spc="-5" dirty="0"/>
              <a:t> </a:t>
            </a:r>
            <a:r>
              <a:rPr dirty="0"/>
              <a:t>-Precedence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250" y="1203116"/>
            <a:ext cx="419036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solidFill>
                  <a:srgbClr val="0033CC"/>
                </a:solidFill>
                <a:latin typeface="Arial"/>
                <a:cs typeface="Arial"/>
              </a:rPr>
              <a:t>The order </a:t>
            </a:r>
            <a:r>
              <a:rPr sz="2800" b="1" spc="5" dirty="0">
                <a:solidFill>
                  <a:srgbClr val="0033CC"/>
                </a:solidFill>
                <a:latin typeface="Arial"/>
                <a:cs typeface="Arial"/>
              </a:rPr>
              <a:t>of</a:t>
            </a:r>
            <a:r>
              <a:rPr sz="2800" b="1" spc="-4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33CC"/>
                </a:solidFill>
                <a:latin typeface="Arial"/>
                <a:cs typeface="Arial"/>
              </a:rPr>
              <a:t>precedence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073363" y="1782522"/>
          <a:ext cx="7673975" cy="21442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2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252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350" b="1" spc="-5" dirty="0">
                          <a:latin typeface="Arial"/>
                          <a:cs typeface="Arial"/>
                        </a:rPr>
                        <a:t>Order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350" b="1" spc="-5" dirty="0">
                          <a:latin typeface="Arial"/>
                          <a:cs typeface="Arial"/>
                        </a:rPr>
                        <a:t>Operators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350" b="1" spc="-5" dirty="0">
                          <a:latin typeface="Arial"/>
                          <a:cs typeface="Arial"/>
                        </a:rPr>
                        <a:t>Direction</a:t>
                      </a:r>
                      <a:endParaRPr sz="235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399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350" dirty="0">
                          <a:latin typeface="Times New Roman"/>
                          <a:cs typeface="Times New Roman"/>
                        </a:rPr>
                        <a:t>1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850" b="1" spc="10" dirty="0">
                          <a:latin typeface="Courier New"/>
                          <a:cs typeface="Courier New"/>
                        </a:rPr>
                        <a:t>++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T="889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350" spc="-5" dirty="0">
                          <a:latin typeface="Times New Roman"/>
                          <a:cs typeface="Times New Roman"/>
                        </a:rPr>
                        <a:t>Left to</a:t>
                      </a:r>
                      <a:r>
                        <a:rPr sz="23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50" dirty="0">
                          <a:latin typeface="Times New Roman"/>
                          <a:cs typeface="Times New Roman"/>
                        </a:rPr>
                        <a:t>right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2540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387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dirty="0">
                          <a:latin typeface="Times New Roman"/>
                          <a:cs typeface="Times New Roman"/>
                        </a:rPr>
                        <a:t>2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50" b="1" spc="10" dirty="0">
                          <a:latin typeface="Courier New"/>
                          <a:cs typeface="Courier New"/>
                        </a:rPr>
                        <a:t>--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T="819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spc="-5" dirty="0">
                          <a:latin typeface="Times New Roman"/>
                          <a:cs typeface="Times New Roman"/>
                        </a:rPr>
                        <a:t>Left to</a:t>
                      </a:r>
                      <a:r>
                        <a:rPr sz="23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50" dirty="0">
                          <a:latin typeface="Times New Roman"/>
                          <a:cs typeface="Times New Roman"/>
                        </a:rPr>
                        <a:t>right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209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dirty="0">
                          <a:latin typeface="Times New Roman"/>
                          <a:cs typeface="Times New Roman"/>
                        </a:rPr>
                        <a:t>3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50" b="1" dirty="0">
                          <a:latin typeface="Courier New"/>
                          <a:cs typeface="Courier New"/>
                        </a:rPr>
                        <a:t>*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T="81915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45"/>
                        </a:spcBef>
                        <a:tabLst>
                          <a:tab pos="499109" algn="l"/>
                        </a:tabLst>
                      </a:pPr>
                      <a:r>
                        <a:rPr sz="1850" b="1" spc="10" dirty="0">
                          <a:latin typeface="Courier New"/>
                          <a:cs typeface="Courier New"/>
                        </a:rPr>
                        <a:t>/	%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T="81915" marB="0"/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spc="-5" dirty="0">
                          <a:latin typeface="Times New Roman"/>
                          <a:cs typeface="Times New Roman"/>
                        </a:rPr>
                        <a:t>Left to</a:t>
                      </a:r>
                      <a:r>
                        <a:rPr sz="23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50" dirty="0">
                          <a:latin typeface="Times New Roman"/>
                          <a:cs typeface="Times New Roman"/>
                        </a:rPr>
                        <a:t>right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955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dirty="0">
                          <a:latin typeface="Times New Roman"/>
                          <a:cs typeface="Times New Roman"/>
                        </a:rPr>
                        <a:t>4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8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50" b="1" dirty="0">
                          <a:latin typeface="Courier New"/>
                          <a:cs typeface="Courier New"/>
                        </a:rPr>
                        <a:t>+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T="819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850" b="1" dirty="0">
                          <a:latin typeface="Courier New"/>
                          <a:cs typeface="Courier New"/>
                        </a:rPr>
                        <a:t>-</a:t>
                      </a:r>
                      <a:endParaRPr sz="1850">
                        <a:latin typeface="Courier New"/>
                        <a:cs typeface="Courier New"/>
                      </a:endParaRPr>
                    </a:p>
                  </a:txBody>
                  <a:tcPr marL="0" marR="0" marT="819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350" spc="-5" dirty="0">
                          <a:latin typeface="Times New Roman"/>
                          <a:cs typeface="Times New Roman"/>
                        </a:rPr>
                        <a:t>Left to</a:t>
                      </a:r>
                      <a:r>
                        <a:rPr sz="23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350" dirty="0">
                          <a:latin typeface="Times New Roman"/>
                          <a:cs typeface="Times New Roman"/>
                        </a:rPr>
                        <a:t>right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148250" y="4129730"/>
            <a:ext cx="82384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5" dirty="0">
                <a:solidFill>
                  <a:srgbClr val="0033CC"/>
                </a:solidFill>
                <a:latin typeface="Arial"/>
                <a:cs typeface="Arial"/>
              </a:rPr>
              <a:t>Order of </a:t>
            </a:r>
            <a:r>
              <a:rPr sz="2800" b="1" dirty="0">
                <a:solidFill>
                  <a:srgbClr val="0033CC"/>
                </a:solidFill>
                <a:latin typeface="Arial"/>
                <a:cs typeface="Arial"/>
              </a:rPr>
              <a:t>precedence and </a:t>
            </a:r>
            <a:r>
              <a:rPr sz="2800" b="1" spc="5" dirty="0">
                <a:solidFill>
                  <a:srgbClr val="0033CC"/>
                </a:solidFill>
                <a:latin typeface="Arial"/>
                <a:cs typeface="Arial"/>
              </a:rPr>
              <a:t>the use of</a:t>
            </a:r>
            <a:r>
              <a:rPr sz="2800" b="1" dirty="0">
                <a:solidFill>
                  <a:srgbClr val="0033CC"/>
                </a:solidFill>
                <a:latin typeface="Arial"/>
                <a:cs typeface="Arial"/>
              </a:rPr>
              <a:t> parentheses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55107" y="4611432"/>
            <a:ext cx="1595755" cy="577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14"/>
              </a:spcBef>
            </a:pPr>
            <a:r>
              <a:rPr sz="1850" b="1" spc="10" dirty="0">
                <a:latin typeface="Courier New"/>
                <a:cs typeface="Courier New"/>
              </a:rPr>
              <a:t>3 + 4 *</a:t>
            </a:r>
            <a:r>
              <a:rPr sz="1850" b="1" spc="-3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5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1850" b="1" spc="10" dirty="0">
                <a:latin typeface="Courier New"/>
                <a:cs typeface="Courier New"/>
              </a:rPr>
              <a:t>(3 + 4) *</a:t>
            </a:r>
            <a:r>
              <a:rPr sz="1850" b="1" spc="-6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5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38326" y="4611432"/>
            <a:ext cx="739775" cy="577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14"/>
              </a:spcBef>
            </a:pPr>
            <a:r>
              <a:rPr sz="1850" b="1" spc="10" dirty="0">
                <a:latin typeface="Courier New"/>
                <a:cs typeface="Courier New"/>
              </a:rPr>
              <a:t>//</a:t>
            </a:r>
            <a:r>
              <a:rPr sz="1850" b="1" spc="-8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23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60"/>
              </a:lnSpc>
            </a:pPr>
            <a:r>
              <a:rPr sz="1850" b="1" spc="10" dirty="0">
                <a:latin typeface="Courier New"/>
                <a:cs typeface="Courier New"/>
              </a:rPr>
              <a:t>//</a:t>
            </a:r>
            <a:r>
              <a:rPr sz="1850" b="1" spc="-8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35</a:t>
            </a:r>
            <a:endParaRPr sz="1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5678424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505777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15" dirty="0"/>
              <a:t>Compound</a:t>
            </a:r>
            <a:r>
              <a:rPr spc="-25" dirty="0"/>
              <a:t> </a:t>
            </a:r>
            <a:r>
              <a:rPr spc="10" dirty="0"/>
              <a:t>Assignment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1235" y="1062505"/>
            <a:ext cx="7106920" cy="299402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3100" b="1" spc="5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3100" b="1" spc="15" dirty="0">
                <a:solidFill>
                  <a:srgbClr val="0033CC"/>
                </a:solidFill>
                <a:latin typeface="Arial"/>
                <a:cs typeface="Arial"/>
              </a:rPr>
              <a:t>compound </a:t>
            </a:r>
            <a:r>
              <a:rPr sz="3100" b="1" dirty="0">
                <a:solidFill>
                  <a:srgbClr val="0033CC"/>
                </a:solidFill>
                <a:latin typeface="Arial"/>
                <a:cs typeface="Arial"/>
              </a:rPr>
              <a:t>assignment</a:t>
            </a:r>
            <a:r>
              <a:rPr sz="3100" b="1" spc="-7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100" b="1" spc="5" dirty="0">
                <a:solidFill>
                  <a:srgbClr val="0033CC"/>
                </a:solidFill>
                <a:latin typeface="Arial"/>
                <a:cs typeface="Arial"/>
              </a:rPr>
              <a:t>operators</a:t>
            </a:r>
            <a:endParaRPr sz="3100">
              <a:latin typeface="Arial"/>
              <a:cs typeface="Arial"/>
            </a:endParaRPr>
          </a:p>
          <a:p>
            <a:pPr marL="463550">
              <a:lnSpc>
                <a:spcPct val="100000"/>
              </a:lnSpc>
              <a:spcBef>
                <a:spcPts val="600"/>
              </a:spcBef>
            </a:pPr>
            <a:r>
              <a:rPr sz="2050" b="1" spc="-5" dirty="0">
                <a:latin typeface="Courier New"/>
                <a:cs typeface="Courier New"/>
              </a:rPr>
              <a:t>.=</a:t>
            </a:r>
            <a:endParaRPr sz="2050">
              <a:latin typeface="Courier New"/>
              <a:cs typeface="Courier New"/>
            </a:endParaRPr>
          </a:p>
          <a:p>
            <a:pPr marL="463550">
              <a:lnSpc>
                <a:spcPct val="100000"/>
              </a:lnSpc>
              <a:spcBef>
                <a:spcPts val="675"/>
              </a:spcBef>
            </a:pPr>
            <a:r>
              <a:rPr sz="2050" b="1" spc="-20" dirty="0">
                <a:latin typeface="Courier New"/>
                <a:cs typeface="Courier New"/>
              </a:rPr>
              <a:t>+=</a:t>
            </a:r>
            <a:endParaRPr sz="2050">
              <a:latin typeface="Courier New"/>
              <a:cs typeface="Courier New"/>
            </a:endParaRPr>
          </a:p>
          <a:p>
            <a:pPr marL="463550">
              <a:lnSpc>
                <a:spcPct val="100000"/>
              </a:lnSpc>
              <a:spcBef>
                <a:spcPts val="675"/>
              </a:spcBef>
            </a:pPr>
            <a:r>
              <a:rPr sz="2050" b="1" spc="-5" dirty="0">
                <a:latin typeface="Courier New"/>
                <a:cs typeface="Courier New"/>
              </a:rPr>
              <a:t>-=</a:t>
            </a:r>
            <a:endParaRPr sz="2050">
              <a:latin typeface="Courier New"/>
              <a:cs typeface="Courier New"/>
            </a:endParaRPr>
          </a:p>
          <a:p>
            <a:pPr marL="463550">
              <a:lnSpc>
                <a:spcPct val="100000"/>
              </a:lnSpc>
              <a:spcBef>
                <a:spcPts val="670"/>
              </a:spcBef>
            </a:pPr>
            <a:r>
              <a:rPr sz="2050" b="1" spc="-20" dirty="0">
                <a:latin typeface="Courier New"/>
                <a:cs typeface="Courier New"/>
              </a:rPr>
              <a:t>*=</a:t>
            </a:r>
            <a:endParaRPr sz="2050">
              <a:latin typeface="Courier New"/>
              <a:cs typeface="Courier New"/>
            </a:endParaRPr>
          </a:p>
          <a:p>
            <a:pPr marL="463550">
              <a:lnSpc>
                <a:spcPct val="100000"/>
              </a:lnSpc>
              <a:spcBef>
                <a:spcPts val="675"/>
              </a:spcBef>
            </a:pPr>
            <a:r>
              <a:rPr sz="2050" b="1" spc="-20" dirty="0">
                <a:latin typeface="Courier New"/>
                <a:cs typeface="Courier New"/>
              </a:rPr>
              <a:t>/=</a:t>
            </a:r>
            <a:endParaRPr sz="2050">
              <a:latin typeface="Courier New"/>
              <a:cs typeface="Courier New"/>
            </a:endParaRPr>
          </a:p>
          <a:p>
            <a:pPr marL="463550">
              <a:lnSpc>
                <a:spcPct val="100000"/>
              </a:lnSpc>
              <a:spcBef>
                <a:spcPts val="670"/>
              </a:spcBef>
            </a:pPr>
            <a:r>
              <a:rPr sz="2050" b="1" spc="-20" dirty="0">
                <a:latin typeface="Courier New"/>
                <a:cs typeface="Courier New"/>
              </a:rPr>
              <a:t>%=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4848" y="101599"/>
            <a:ext cx="8049768" cy="10027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742823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15" dirty="0"/>
              <a:t>Compound </a:t>
            </a:r>
            <a:r>
              <a:rPr spc="10" dirty="0"/>
              <a:t>Assignment </a:t>
            </a:r>
            <a:r>
              <a:rPr dirty="0"/>
              <a:t>– </a:t>
            </a:r>
            <a:r>
              <a:rPr spc="5" dirty="0"/>
              <a:t>String</a:t>
            </a:r>
            <a:r>
              <a:rPr spc="60" dirty="0"/>
              <a:t> </a:t>
            </a:r>
            <a:r>
              <a:rPr spc="-15" dirty="0"/>
              <a:t>data</a:t>
            </a:r>
          </a:p>
        </p:txBody>
      </p:sp>
      <p:sp>
        <p:nvSpPr>
          <p:cNvPr id="8" name="object 8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0740" y="1308427"/>
            <a:ext cx="9215455" cy="370558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4848" y="101599"/>
            <a:ext cx="8607552" cy="10027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78828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15" dirty="0"/>
              <a:t>Compound </a:t>
            </a:r>
            <a:r>
              <a:rPr spc="10" dirty="0"/>
              <a:t>Assignment </a:t>
            </a:r>
            <a:r>
              <a:rPr dirty="0"/>
              <a:t>–</a:t>
            </a:r>
            <a:r>
              <a:rPr spc="30" dirty="0"/>
              <a:t> </a:t>
            </a:r>
            <a:r>
              <a:rPr dirty="0"/>
              <a:t>Incrementing</a:t>
            </a:r>
          </a:p>
        </p:txBody>
      </p:sp>
      <p:sp>
        <p:nvSpPr>
          <p:cNvPr id="8" name="object 8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4144" y="1230128"/>
            <a:ext cx="9218858" cy="470985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4848" y="101599"/>
            <a:ext cx="8607552" cy="10027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78828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15" dirty="0"/>
              <a:t>Compound </a:t>
            </a:r>
            <a:r>
              <a:rPr spc="10" dirty="0"/>
              <a:t>Assignment </a:t>
            </a:r>
            <a:r>
              <a:rPr dirty="0"/>
              <a:t>–</a:t>
            </a:r>
            <a:r>
              <a:rPr spc="30" dirty="0"/>
              <a:t> </a:t>
            </a:r>
            <a:r>
              <a:rPr dirty="0"/>
              <a:t>Incrementing</a:t>
            </a:r>
          </a:p>
        </p:txBody>
      </p:sp>
      <p:sp>
        <p:nvSpPr>
          <p:cNvPr id="8" name="object 8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3080" y="1308426"/>
            <a:ext cx="9361839" cy="44766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5215128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459422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-5" dirty="0"/>
              <a:t>Formatting</a:t>
            </a:r>
            <a:r>
              <a:rPr spc="15" dirty="0"/>
              <a:t> </a:t>
            </a:r>
            <a:r>
              <a:rPr dirty="0"/>
              <a:t>Numbers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42937" y="1087584"/>
            <a:ext cx="6525259" cy="190309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3550" b="1" spc="-275" dirty="0">
                <a:solidFill>
                  <a:srgbClr val="0033CC"/>
                </a:solidFill>
                <a:latin typeface="Arial"/>
                <a:cs typeface="Arial"/>
              </a:rPr>
              <a:t>A </a:t>
            </a:r>
            <a:r>
              <a:rPr sz="3550" b="1" spc="-195" dirty="0">
                <a:solidFill>
                  <a:srgbClr val="0033CC"/>
                </a:solidFill>
                <a:latin typeface="Arial"/>
                <a:cs typeface="Arial"/>
              </a:rPr>
              <a:t>function </a:t>
            </a:r>
            <a:r>
              <a:rPr sz="3550" b="1" spc="-175" dirty="0">
                <a:solidFill>
                  <a:srgbClr val="0033CC"/>
                </a:solidFill>
                <a:latin typeface="Arial"/>
                <a:cs typeface="Arial"/>
              </a:rPr>
              <a:t>for </a:t>
            </a:r>
            <a:r>
              <a:rPr sz="3550" b="1" spc="-200" dirty="0">
                <a:solidFill>
                  <a:srgbClr val="0033CC"/>
                </a:solidFill>
                <a:latin typeface="Arial"/>
                <a:cs typeface="Arial"/>
              </a:rPr>
              <a:t>formatting</a:t>
            </a:r>
            <a:r>
              <a:rPr sz="3550" b="1" spc="-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550" b="1" spc="-250" dirty="0">
                <a:solidFill>
                  <a:srgbClr val="0033CC"/>
                </a:solidFill>
                <a:latin typeface="Arial"/>
                <a:cs typeface="Arial"/>
              </a:rPr>
              <a:t>numbers</a:t>
            </a:r>
            <a:endParaRPr sz="3550">
              <a:latin typeface="Arial"/>
              <a:cs typeface="Arial"/>
            </a:endParaRPr>
          </a:p>
          <a:p>
            <a:pPr marL="467359">
              <a:lnSpc>
                <a:spcPct val="100000"/>
              </a:lnSpc>
              <a:spcBef>
                <a:spcPts val="680"/>
              </a:spcBef>
            </a:pPr>
            <a:r>
              <a:rPr sz="2350" b="1" spc="-160" dirty="0">
                <a:latin typeface="Courier New"/>
                <a:cs typeface="Courier New"/>
              </a:rPr>
              <a:t>number_format(</a:t>
            </a:r>
            <a:r>
              <a:rPr sz="2350" b="1" i="1" spc="-160" dirty="0">
                <a:latin typeface="Courier New"/>
                <a:cs typeface="Courier New"/>
              </a:rPr>
              <a:t>$number</a:t>
            </a:r>
            <a:r>
              <a:rPr sz="2350" b="1" spc="-160" dirty="0">
                <a:latin typeface="Courier New"/>
                <a:cs typeface="Courier New"/>
              </a:rPr>
              <a:t>[,</a:t>
            </a:r>
            <a:r>
              <a:rPr sz="2350" b="1" spc="-105" dirty="0">
                <a:latin typeface="Courier New"/>
                <a:cs typeface="Courier New"/>
              </a:rPr>
              <a:t> </a:t>
            </a:r>
            <a:r>
              <a:rPr sz="2350" b="1" i="1" spc="-165" dirty="0">
                <a:latin typeface="Courier New"/>
                <a:cs typeface="Courier New"/>
              </a:rPr>
              <a:t>$decimals</a:t>
            </a:r>
            <a:r>
              <a:rPr sz="2350" b="1" spc="-165" dirty="0">
                <a:latin typeface="Courier New"/>
                <a:cs typeface="Courier New"/>
              </a:rPr>
              <a:t>])</a:t>
            </a:r>
            <a:endParaRPr sz="2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3550" b="1" spc="-220" dirty="0">
                <a:solidFill>
                  <a:srgbClr val="0033CC"/>
                </a:solidFill>
                <a:latin typeface="Arial"/>
                <a:cs typeface="Arial"/>
              </a:rPr>
              <a:t>Statements </a:t>
            </a:r>
            <a:r>
              <a:rPr sz="3550" b="1" spc="-185" dirty="0">
                <a:solidFill>
                  <a:srgbClr val="0033CC"/>
                </a:solidFill>
                <a:latin typeface="Arial"/>
                <a:cs typeface="Arial"/>
              </a:rPr>
              <a:t>that </a:t>
            </a:r>
            <a:r>
              <a:rPr sz="3550" b="1" spc="-215" dirty="0">
                <a:solidFill>
                  <a:srgbClr val="0033CC"/>
                </a:solidFill>
                <a:latin typeface="Arial"/>
                <a:cs typeface="Arial"/>
              </a:rPr>
              <a:t>format</a:t>
            </a:r>
            <a:r>
              <a:rPr sz="3550" b="1" spc="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550" b="1" spc="-250" dirty="0">
                <a:solidFill>
                  <a:srgbClr val="0033CC"/>
                </a:solidFill>
                <a:latin typeface="Arial"/>
                <a:cs typeface="Arial"/>
              </a:rPr>
              <a:t>numbers</a:t>
            </a:r>
            <a:endParaRPr sz="35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279082" y="3113466"/>
          <a:ext cx="8211184" cy="1364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6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8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5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2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2490">
                <a:tc>
                  <a:txBody>
                    <a:bodyPr/>
                    <a:lstStyle/>
                    <a:p>
                      <a:pPr marL="31750">
                        <a:lnSpc>
                          <a:spcPts val="2430"/>
                        </a:lnSpc>
                      </a:pPr>
                      <a:r>
                        <a:rPr sz="2350" b="1" spc="-165" dirty="0">
                          <a:latin typeface="Courier New"/>
                          <a:cs typeface="Courier New"/>
                        </a:rPr>
                        <a:t>$nf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430"/>
                        </a:lnSpc>
                      </a:pPr>
                      <a:r>
                        <a:rPr sz="2350" b="1" dirty="0">
                          <a:latin typeface="Courier New"/>
                          <a:cs typeface="Courier New"/>
                        </a:rPr>
                        <a:t>=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430"/>
                        </a:lnSpc>
                      </a:pPr>
                      <a:r>
                        <a:rPr sz="2350" b="1" spc="-160" dirty="0">
                          <a:latin typeface="Courier New"/>
                          <a:cs typeface="Courier New"/>
                        </a:rPr>
                        <a:t>number_format(12345);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ts val="2430"/>
                        </a:lnSpc>
                      </a:pPr>
                      <a:r>
                        <a:rPr sz="23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350" b="1" dirty="0">
                          <a:latin typeface="Courier New"/>
                          <a:cs typeface="Courier New"/>
                        </a:rPr>
                        <a:t>/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430"/>
                        </a:lnSpc>
                      </a:pPr>
                      <a:r>
                        <a:rPr sz="2350" b="1" spc="-155" dirty="0">
                          <a:latin typeface="Courier New"/>
                          <a:cs typeface="Courier New"/>
                        </a:rPr>
                        <a:t>12,345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59">
                <a:tc>
                  <a:txBody>
                    <a:bodyPr/>
                    <a:lstStyle/>
                    <a:p>
                      <a:pPr marL="31750">
                        <a:lnSpc>
                          <a:spcPts val="2460"/>
                        </a:lnSpc>
                      </a:pPr>
                      <a:r>
                        <a:rPr sz="2350" b="1" spc="-165" dirty="0">
                          <a:latin typeface="Courier New"/>
                          <a:cs typeface="Courier New"/>
                        </a:rPr>
                        <a:t>$nf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460"/>
                        </a:lnSpc>
                      </a:pPr>
                      <a:r>
                        <a:rPr sz="2350" b="1" dirty="0">
                          <a:latin typeface="Courier New"/>
                          <a:cs typeface="Courier New"/>
                        </a:rPr>
                        <a:t>=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460"/>
                        </a:lnSpc>
                      </a:pPr>
                      <a:r>
                        <a:rPr sz="2350" b="1" spc="-160" dirty="0">
                          <a:latin typeface="Courier New"/>
                          <a:cs typeface="Courier New"/>
                        </a:rPr>
                        <a:t>number_format(12345,</a:t>
                      </a:r>
                      <a:r>
                        <a:rPr sz="2350" b="1" spc="-1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350" b="1" spc="-165" dirty="0">
                          <a:latin typeface="Courier New"/>
                          <a:cs typeface="Courier New"/>
                        </a:rPr>
                        <a:t>2);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ts val="2460"/>
                        </a:lnSpc>
                      </a:pPr>
                      <a:r>
                        <a:rPr sz="23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350" b="1" dirty="0">
                          <a:latin typeface="Courier New"/>
                          <a:cs typeface="Courier New"/>
                        </a:rPr>
                        <a:t>/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460"/>
                        </a:lnSpc>
                      </a:pPr>
                      <a:r>
                        <a:rPr sz="2350" b="1" spc="-155" dirty="0">
                          <a:latin typeface="Courier New"/>
                          <a:cs typeface="Courier New"/>
                        </a:rPr>
                        <a:t>12,345.00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31750">
                        <a:lnSpc>
                          <a:spcPts val="2430"/>
                        </a:lnSpc>
                      </a:pPr>
                      <a:r>
                        <a:rPr sz="2350" b="1" spc="-165" dirty="0">
                          <a:latin typeface="Courier New"/>
                          <a:cs typeface="Courier New"/>
                        </a:rPr>
                        <a:t>$nf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430"/>
                        </a:lnSpc>
                      </a:pPr>
                      <a:r>
                        <a:rPr sz="2350" b="1" dirty="0">
                          <a:latin typeface="Courier New"/>
                          <a:cs typeface="Courier New"/>
                        </a:rPr>
                        <a:t>=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430"/>
                        </a:lnSpc>
                      </a:pPr>
                      <a:r>
                        <a:rPr sz="2350" b="1" spc="-160" dirty="0">
                          <a:latin typeface="Courier New"/>
                          <a:cs typeface="Courier New"/>
                        </a:rPr>
                        <a:t>number_format(12345.674,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430"/>
                        </a:lnSpc>
                      </a:pPr>
                      <a:r>
                        <a:rPr sz="2350" b="1" spc="-150" dirty="0">
                          <a:latin typeface="Courier New"/>
                          <a:cs typeface="Courier New"/>
                        </a:rPr>
                        <a:t>2);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ts val="2430"/>
                        </a:lnSpc>
                      </a:pPr>
                      <a:r>
                        <a:rPr sz="23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350" b="1" dirty="0">
                          <a:latin typeface="Courier New"/>
                          <a:cs typeface="Courier New"/>
                        </a:rPr>
                        <a:t>/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430"/>
                        </a:lnSpc>
                      </a:pPr>
                      <a:r>
                        <a:rPr sz="2350" b="1" spc="-155" dirty="0">
                          <a:latin typeface="Courier New"/>
                          <a:cs typeface="Courier New"/>
                        </a:rPr>
                        <a:t>12,345.67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106">
                <a:tc>
                  <a:txBody>
                    <a:bodyPr/>
                    <a:lstStyle/>
                    <a:p>
                      <a:pPr marL="31750">
                        <a:lnSpc>
                          <a:spcPts val="2435"/>
                        </a:lnSpc>
                      </a:pPr>
                      <a:r>
                        <a:rPr sz="2350" b="1" spc="-165" dirty="0">
                          <a:latin typeface="Courier New"/>
                          <a:cs typeface="Courier New"/>
                        </a:rPr>
                        <a:t>$nf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435"/>
                        </a:lnSpc>
                      </a:pPr>
                      <a:r>
                        <a:rPr sz="2350" b="1" dirty="0">
                          <a:latin typeface="Courier New"/>
                          <a:cs typeface="Courier New"/>
                        </a:rPr>
                        <a:t>=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435"/>
                        </a:lnSpc>
                      </a:pPr>
                      <a:r>
                        <a:rPr sz="2350" b="1" spc="-160" dirty="0">
                          <a:latin typeface="Courier New"/>
                          <a:cs typeface="Courier New"/>
                        </a:rPr>
                        <a:t>number_format(12345.675,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2435"/>
                        </a:lnSpc>
                      </a:pPr>
                      <a:r>
                        <a:rPr sz="2350" b="1" spc="-150" dirty="0">
                          <a:latin typeface="Courier New"/>
                          <a:cs typeface="Courier New"/>
                        </a:rPr>
                        <a:t>2);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ts val="2435"/>
                        </a:lnSpc>
                      </a:pPr>
                      <a:r>
                        <a:rPr sz="23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350" b="1" dirty="0">
                          <a:latin typeface="Courier New"/>
                          <a:cs typeface="Courier New"/>
                        </a:rPr>
                        <a:t>/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2435"/>
                        </a:lnSpc>
                      </a:pPr>
                      <a:r>
                        <a:rPr sz="2350" b="1" spc="-155" dirty="0">
                          <a:latin typeface="Courier New"/>
                          <a:cs typeface="Courier New"/>
                        </a:rPr>
                        <a:t>12,345.68</a:t>
                      </a:r>
                      <a:endParaRPr sz="2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4584192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39636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-5" dirty="0"/>
              <a:t>Formatting</a:t>
            </a:r>
            <a:r>
              <a:rPr spc="5" dirty="0"/>
              <a:t> </a:t>
            </a:r>
            <a:r>
              <a:rPr spc="-5" dirty="0"/>
              <a:t>Dates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39082" y="971307"/>
            <a:ext cx="7298055" cy="134239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500" b="1" spc="50" dirty="0">
                <a:solidFill>
                  <a:srgbClr val="0033CC"/>
                </a:solidFill>
                <a:latin typeface="Arial"/>
                <a:cs typeface="Arial"/>
              </a:rPr>
              <a:t>A </a:t>
            </a:r>
            <a:r>
              <a:rPr sz="2500" b="1" spc="35" dirty="0">
                <a:solidFill>
                  <a:srgbClr val="0033CC"/>
                </a:solidFill>
                <a:latin typeface="Arial"/>
                <a:cs typeface="Arial"/>
              </a:rPr>
              <a:t>function </a:t>
            </a:r>
            <a:r>
              <a:rPr sz="2500" b="1" spc="30" dirty="0">
                <a:solidFill>
                  <a:srgbClr val="0033CC"/>
                </a:solidFill>
                <a:latin typeface="Arial"/>
                <a:cs typeface="Arial"/>
              </a:rPr>
              <a:t>for getting </a:t>
            </a:r>
            <a:r>
              <a:rPr sz="2500" b="1" spc="35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2500" b="1" spc="30" dirty="0">
                <a:solidFill>
                  <a:srgbClr val="0033CC"/>
                </a:solidFill>
                <a:latin typeface="Arial"/>
                <a:cs typeface="Arial"/>
              </a:rPr>
              <a:t>current</a:t>
            </a:r>
            <a:r>
              <a:rPr sz="2500" b="1" spc="-8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500" b="1" spc="35" dirty="0">
                <a:solidFill>
                  <a:srgbClr val="0033CC"/>
                </a:solidFill>
                <a:latin typeface="Arial"/>
                <a:cs typeface="Arial"/>
              </a:rPr>
              <a:t>date</a:t>
            </a:r>
            <a:endParaRPr sz="2500">
              <a:latin typeface="Arial"/>
              <a:cs typeface="Arial"/>
            </a:endParaRPr>
          </a:p>
          <a:p>
            <a:pPr marL="384810">
              <a:lnSpc>
                <a:spcPct val="100000"/>
              </a:lnSpc>
              <a:spcBef>
                <a:spcPts val="425"/>
              </a:spcBef>
            </a:pPr>
            <a:r>
              <a:rPr sz="1650" b="1" spc="35" dirty="0">
                <a:latin typeface="Courier New"/>
                <a:cs typeface="Courier New"/>
              </a:rPr>
              <a:t>date(</a:t>
            </a:r>
            <a:r>
              <a:rPr sz="1650" b="1" i="1" spc="35" dirty="0">
                <a:latin typeface="Courier New"/>
                <a:cs typeface="Courier New"/>
              </a:rPr>
              <a:t>$format</a:t>
            </a:r>
            <a:r>
              <a:rPr sz="1650" b="1" spc="35" dirty="0">
                <a:latin typeface="Courier New"/>
                <a:cs typeface="Courier New"/>
              </a:rPr>
              <a:t>)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500" b="1" spc="40" dirty="0">
                <a:solidFill>
                  <a:srgbClr val="0033CC"/>
                </a:solidFill>
                <a:latin typeface="Arial"/>
                <a:cs typeface="Arial"/>
              </a:rPr>
              <a:t>Commonly used </a:t>
            </a:r>
            <a:r>
              <a:rPr sz="2500" b="1" spc="30" dirty="0">
                <a:solidFill>
                  <a:srgbClr val="0033CC"/>
                </a:solidFill>
                <a:latin typeface="Arial"/>
                <a:cs typeface="Arial"/>
              </a:rPr>
              <a:t>characters for </a:t>
            </a:r>
            <a:r>
              <a:rPr sz="2500" b="1" spc="35" dirty="0">
                <a:solidFill>
                  <a:srgbClr val="0033CC"/>
                </a:solidFill>
                <a:latin typeface="Arial"/>
                <a:cs typeface="Arial"/>
              </a:rPr>
              <a:t>date</a:t>
            </a:r>
            <a:r>
              <a:rPr sz="2500" b="1" spc="-114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500" b="1" spc="35" dirty="0">
                <a:solidFill>
                  <a:srgbClr val="0033CC"/>
                </a:solidFill>
                <a:latin typeface="Arial"/>
                <a:cs typeface="Arial"/>
              </a:rPr>
              <a:t>formatting</a:t>
            </a:r>
            <a:endParaRPr sz="25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071673" y="2424821"/>
          <a:ext cx="7509509" cy="26567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8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1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96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100" b="1" spc="20" dirty="0">
                          <a:latin typeface="Arial"/>
                          <a:cs typeface="Arial"/>
                        </a:rPr>
                        <a:t>Character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100" b="1" spc="15" dirty="0">
                          <a:latin typeface="Arial"/>
                          <a:cs typeface="Arial"/>
                        </a:rPr>
                        <a:t>Description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01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50" b="1" dirty="0">
                          <a:latin typeface="Courier New"/>
                          <a:cs typeface="Courier New"/>
                        </a:rPr>
                        <a:t>Y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8064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100" spc="3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four-digit </a:t>
                      </a:r>
                      <a:r>
                        <a:rPr sz="2100" spc="15" dirty="0">
                          <a:latin typeface="Times New Roman"/>
                          <a:cs typeface="Times New Roman"/>
                        </a:rPr>
                        <a:t>year such as</a:t>
                      </a:r>
                      <a:r>
                        <a:rPr sz="2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2010.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349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3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650" b="1" dirty="0">
                          <a:latin typeface="Courier New"/>
                          <a:cs typeface="Courier New"/>
                        </a:rPr>
                        <a:t>y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9144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spc="3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2100" spc="15" dirty="0">
                          <a:latin typeface="Times New Roman"/>
                          <a:cs typeface="Times New Roman"/>
                        </a:rPr>
                        <a:t>two-digit year such as</a:t>
                      </a:r>
                      <a:r>
                        <a:rPr sz="2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10.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85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650" b="1" dirty="0">
                          <a:latin typeface="Courier New"/>
                          <a:cs typeface="Courier New"/>
                        </a:rPr>
                        <a:t>m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9144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100" spc="15" dirty="0">
                          <a:latin typeface="Times New Roman"/>
                          <a:cs typeface="Times New Roman"/>
                        </a:rPr>
                        <a:t>Numeric representation 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100" spc="1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month </a:t>
                      </a:r>
                      <a:r>
                        <a:rPr sz="2100" spc="15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2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15" dirty="0">
                          <a:latin typeface="Times New Roman"/>
                          <a:cs typeface="Times New Roman"/>
                        </a:rPr>
                        <a:t>leading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480"/>
                        </a:lnSpc>
                      </a:pPr>
                      <a:r>
                        <a:rPr sz="2100" spc="20" dirty="0">
                          <a:latin typeface="Times New Roman"/>
                          <a:cs typeface="Times New Roman"/>
                        </a:rPr>
                        <a:t>zeroes</a:t>
                      </a:r>
                      <a:r>
                        <a:rPr sz="2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(01-12).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3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650" b="1" dirty="0">
                          <a:latin typeface="Courier New"/>
                          <a:cs typeface="Courier New"/>
                        </a:rPr>
                        <a:t>d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7556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100" spc="15" dirty="0">
                          <a:latin typeface="Times New Roman"/>
                          <a:cs typeface="Times New Roman"/>
                        </a:rPr>
                        <a:t>Numeric representation 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100" spc="1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day of </a:t>
                      </a:r>
                      <a:r>
                        <a:rPr sz="2100" spc="1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month</a:t>
                      </a:r>
                      <a:r>
                        <a:rPr sz="2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15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18415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8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480"/>
                        </a:lnSpc>
                      </a:pPr>
                      <a:r>
                        <a:rPr sz="2100" spc="15" dirty="0">
                          <a:latin typeface="Times New Roman"/>
                          <a:cs typeface="Times New Roman"/>
                        </a:rPr>
                        <a:t>leading 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zeroes</a:t>
                      </a:r>
                      <a:r>
                        <a:rPr sz="2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spc="20" dirty="0">
                          <a:latin typeface="Times New Roman"/>
                          <a:cs typeface="Times New Roman"/>
                        </a:rPr>
                        <a:t>(01-31).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139082" y="5262018"/>
            <a:ext cx="4618990" cy="4083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00" b="1" spc="35" dirty="0">
                <a:solidFill>
                  <a:srgbClr val="0033CC"/>
                </a:solidFill>
                <a:latin typeface="Arial"/>
                <a:cs typeface="Arial"/>
              </a:rPr>
              <a:t>Statements </a:t>
            </a:r>
            <a:r>
              <a:rPr sz="2500" b="1" spc="30" dirty="0">
                <a:solidFill>
                  <a:srgbClr val="0033CC"/>
                </a:solidFill>
                <a:latin typeface="Arial"/>
                <a:cs typeface="Arial"/>
              </a:rPr>
              <a:t>that </a:t>
            </a:r>
            <a:r>
              <a:rPr sz="2500" b="1" spc="35" dirty="0">
                <a:solidFill>
                  <a:srgbClr val="0033CC"/>
                </a:solidFill>
                <a:latin typeface="Arial"/>
                <a:cs typeface="Arial"/>
              </a:rPr>
              <a:t>format a</a:t>
            </a:r>
            <a:r>
              <a:rPr sz="2500" b="1" spc="-5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500" b="1" spc="35" dirty="0">
                <a:solidFill>
                  <a:srgbClr val="0033CC"/>
                </a:solidFill>
                <a:latin typeface="Arial"/>
                <a:cs typeface="Arial"/>
              </a:rPr>
              <a:t>date</a:t>
            </a:r>
            <a:endParaRPr sz="25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492152" y="5740962"/>
          <a:ext cx="5026025" cy="958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0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973">
                <a:tc>
                  <a:txBody>
                    <a:bodyPr/>
                    <a:lstStyle/>
                    <a:p>
                      <a:pPr marL="31750">
                        <a:lnSpc>
                          <a:spcPts val="1720"/>
                        </a:lnSpc>
                      </a:pPr>
                      <a:r>
                        <a:rPr sz="1650" b="1" spc="35" dirty="0">
                          <a:latin typeface="Courier New"/>
                          <a:cs typeface="Courier New"/>
                        </a:rPr>
                        <a:t>$date =</a:t>
                      </a:r>
                      <a:r>
                        <a:rPr sz="1650" b="1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50" b="1" spc="35" dirty="0">
                          <a:latin typeface="Courier New"/>
                          <a:cs typeface="Courier New"/>
                        </a:rPr>
                        <a:t>date('Y-m-d');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1720"/>
                        </a:lnSpc>
                      </a:pPr>
                      <a:r>
                        <a:rPr sz="1650" b="1" spc="35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650" b="1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50" b="1" spc="35" dirty="0">
                          <a:latin typeface="Courier New"/>
                          <a:cs typeface="Courier New"/>
                        </a:rPr>
                        <a:t>2010-06-12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43">
                <a:tc>
                  <a:txBody>
                    <a:bodyPr/>
                    <a:lstStyle/>
                    <a:p>
                      <a:pPr marL="31750">
                        <a:lnSpc>
                          <a:spcPts val="1720"/>
                        </a:lnSpc>
                      </a:pPr>
                      <a:r>
                        <a:rPr sz="1650" b="1" spc="35" dirty="0">
                          <a:latin typeface="Courier New"/>
                          <a:cs typeface="Courier New"/>
                        </a:rPr>
                        <a:t>$date =</a:t>
                      </a:r>
                      <a:r>
                        <a:rPr sz="165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50" b="1" spc="35" dirty="0">
                          <a:latin typeface="Courier New"/>
                          <a:cs typeface="Courier New"/>
                        </a:rPr>
                        <a:t>date('m/d/y');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ts val="1720"/>
                        </a:lnSpc>
                      </a:pPr>
                      <a:r>
                        <a:rPr sz="1650" b="1" spc="35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650" b="1" spc="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50" b="1" spc="35" dirty="0">
                          <a:latin typeface="Courier New"/>
                          <a:cs typeface="Courier New"/>
                        </a:rPr>
                        <a:t>06/12/10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283">
                <a:tc>
                  <a:txBody>
                    <a:bodyPr/>
                    <a:lstStyle/>
                    <a:p>
                      <a:pPr marL="31750">
                        <a:lnSpc>
                          <a:spcPts val="1714"/>
                        </a:lnSpc>
                      </a:pPr>
                      <a:r>
                        <a:rPr sz="1650" b="1" spc="35" dirty="0">
                          <a:latin typeface="Courier New"/>
                          <a:cs typeface="Courier New"/>
                        </a:rPr>
                        <a:t>$date =</a:t>
                      </a:r>
                      <a:r>
                        <a:rPr sz="165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50" b="1" spc="35" dirty="0">
                          <a:latin typeface="Courier New"/>
                          <a:cs typeface="Courier New"/>
                        </a:rPr>
                        <a:t>date('m.d.Y');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ts val="1714"/>
                        </a:lnSpc>
                      </a:pPr>
                      <a:r>
                        <a:rPr sz="1650" b="1" spc="35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65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50" b="1" spc="35" dirty="0">
                          <a:latin typeface="Courier New"/>
                          <a:cs typeface="Courier New"/>
                        </a:rPr>
                        <a:t>06.12.2010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813">
                <a:tc>
                  <a:txBody>
                    <a:bodyPr/>
                    <a:lstStyle/>
                    <a:p>
                      <a:pPr marL="31750">
                        <a:lnSpc>
                          <a:spcPts val="1714"/>
                        </a:lnSpc>
                      </a:pPr>
                      <a:r>
                        <a:rPr sz="1650" b="1" spc="35" dirty="0">
                          <a:latin typeface="Courier New"/>
                          <a:cs typeface="Courier New"/>
                        </a:rPr>
                        <a:t>$date =</a:t>
                      </a:r>
                      <a:r>
                        <a:rPr sz="1650" b="1" spc="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50" b="1" spc="35" dirty="0">
                          <a:latin typeface="Courier New"/>
                          <a:cs typeface="Courier New"/>
                        </a:rPr>
                        <a:t>date('Y');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ts val="1714"/>
                        </a:lnSpc>
                      </a:pPr>
                      <a:r>
                        <a:rPr sz="1650" b="1" spc="35" dirty="0">
                          <a:latin typeface="Courier New"/>
                          <a:cs typeface="Courier New"/>
                        </a:rPr>
                        <a:t>//</a:t>
                      </a:r>
                      <a:r>
                        <a:rPr sz="1650" b="1" spc="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50" b="1" spc="35" dirty="0">
                          <a:latin typeface="Courier New"/>
                          <a:cs typeface="Courier New"/>
                        </a:rPr>
                        <a:t>2010</a:t>
                      </a:r>
                      <a:endParaRPr sz="16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4370832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374904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spc="5" dirty="0"/>
              <a:t>Checking</a:t>
            </a:r>
            <a:r>
              <a:rPr spc="-5" dirty="0"/>
              <a:t> </a:t>
            </a:r>
            <a:r>
              <a:rPr spc="-25" dirty="0"/>
              <a:t>Values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1235" y="1034692"/>
            <a:ext cx="8217534" cy="287845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3650" b="1" spc="-335" dirty="0">
                <a:solidFill>
                  <a:srgbClr val="0033CC"/>
                </a:solidFill>
                <a:latin typeface="Arial"/>
                <a:cs typeface="Arial"/>
              </a:rPr>
              <a:t>Three </a:t>
            </a:r>
            <a:r>
              <a:rPr sz="3650" b="1" spc="-300" dirty="0">
                <a:solidFill>
                  <a:srgbClr val="0033CC"/>
                </a:solidFill>
                <a:latin typeface="Arial"/>
                <a:cs typeface="Arial"/>
              </a:rPr>
              <a:t>functions </a:t>
            </a:r>
            <a:r>
              <a:rPr sz="3650" b="1" spc="-270" dirty="0">
                <a:solidFill>
                  <a:srgbClr val="0033CC"/>
                </a:solidFill>
                <a:latin typeface="Arial"/>
                <a:cs typeface="Arial"/>
              </a:rPr>
              <a:t>for </a:t>
            </a:r>
            <a:r>
              <a:rPr sz="3650" b="1" spc="-330" dirty="0">
                <a:solidFill>
                  <a:srgbClr val="0033CC"/>
                </a:solidFill>
                <a:latin typeface="Arial"/>
                <a:cs typeface="Arial"/>
              </a:rPr>
              <a:t>checking </a:t>
            </a:r>
            <a:r>
              <a:rPr sz="3650" b="1" spc="-290" dirty="0">
                <a:solidFill>
                  <a:srgbClr val="0033CC"/>
                </a:solidFill>
                <a:latin typeface="Arial"/>
                <a:cs typeface="Arial"/>
              </a:rPr>
              <a:t>variable</a:t>
            </a:r>
            <a:r>
              <a:rPr sz="3650" b="1" spc="28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650" b="1" spc="-310" dirty="0">
                <a:solidFill>
                  <a:srgbClr val="0033CC"/>
                </a:solidFill>
                <a:latin typeface="Arial"/>
                <a:cs typeface="Arial"/>
              </a:rPr>
              <a:t>values</a:t>
            </a:r>
            <a:endParaRPr sz="3650">
              <a:latin typeface="Arial"/>
              <a:cs typeface="Arial"/>
            </a:endParaRPr>
          </a:p>
          <a:p>
            <a:pPr marL="453390" marR="5280025">
              <a:lnSpc>
                <a:spcPts val="3670"/>
              </a:lnSpc>
              <a:spcBef>
                <a:spcPts val="175"/>
              </a:spcBef>
            </a:pPr>
            <a:r>
              <a:rPr sz="2400" b="1" spc="-229" dirty="0">
                <a:latin typeface="Courier New"/>
                <a:cs typeface="Courier New"/>
              </a:rPr>
              <a:t>isset(</a:t>
            </a:r>
            <a:r>
              <a:rPr sz="2400" b="1" i="1" spc="-229" dirty="0">
                <a:latin typeface="Courier New"/>
                <a:cs typeface="Courier New"/>
              </a:rPr>
              <a:t>$var</a:t>
            </a:r>
            <a:r>
              <a:rPr sz="2400" b="1" spc="-229" dirty="0">
                <a:latin typeface="Courier New"/>
                <a:cs typeface="Courier New"/>
              </a:rPr>
              <a:t>)  empty(</a:t>
            </a:r>
            <a:r>
              <a:rPr sz="2400" b="1" i="1" spc="-229" dirty="0">
                <a:latin typeface="Courier New"/>
                <a:cs typeface="Courier New"/>
              </a:rPr>
              <a:t>$var</a:t>
            </a:r>
            <a:r>
              <a:rPr sz="2400" b="1" spc="-229" dirty="0">
                <a:latin typeface="Courier New"/>
                <a:cs typeface="Courier New"/>
              </a:rPr>
              <a:t>)  is_numeric(</a:t>
            </a:r>
            <a:r>
              <a:rPr sz="2400" b="1" i="1" spc="-229" dirty="0">
                <a:latin typeface="Courier New"/>
                <a:cs typeface="Courier New"/>
              </a:rPr>
              <a:t>$var</a:t>
            </a:r>
            <a:r>
              <a:rPr sz="2400" b="1" spc="-229" dirty="0">
                <a:latin typeface="Courier New"/>
                <a:cs typeface="Courier New"/>
              </a:rPr>
              <a:t>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3650" b="1" spc="-320" dirty="0">
                <a:solidFill>
                  <a:srgbClr val="0033CC"/>
                </a:solidFill>
                <a:latin typeface="Arial"/>
                <a:cs typeface="Arial"/>
              </a:rPr>
              <a:t>Function </a:t>
            </a:r>
            <a:r>
              <a:rPr sz="3650" b="1" spc="-275" dirty="0">
                <a:solidFill>
                  <a:srgbClr val="0033CC"/>
                </a:solidFill>
                <a:latin typeface="Arial"/>
                <a:cs typeface="Arial"/>
              </a:rPr>
              <a:t>calls </a:t>
            </a:r>
            <a:r>
              <a:rPr sz="3650" b="1" spc="-280" dirty="0">
                <a:solidFill>
                  <a:srgbClr val="0033CC"/>
                </a:solidFill>
                <a:latin typeface="Arial"/>
                <a:cs typeface="Arial"/>
              </a:rPr>
              <a:t>that </a:t>
            </a:r>
            <a:r>
              <a:rPr sz="3650" b="1" spc="-345" dirty="0">
                <a:solidFill>
                  <a:srgbClr val="0033CC"/>
                </a:solidFill>
                <a:latin typeface="Arial"/>
                <a:cs typeface="Arial"/>
              </a:rPr>
              <a:t>check </a:t>
            </a:r>
            <a:r>
              <a:rPr sz="3650" b="1" spc="-295" dirty="0">
                <a:solidFill>
                  <a:srgbClr val="0033CC"/>
                </a:solidFill>
                <a:latin typeface="Arial"/>
                <a:cs typeface="Arial"/>
              </a:rPr>
              <a:t>variable</a:t>
            </a:r>
            <a:r>
              <a:rPr sz="3650" b="1" spc="36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650" b="1" spc="-320" dirty="0">
                <a:solidFill>
                  <a:srgbClr val="0033CC"/>
                </a:solidFill>
                <a:latin typeface="Arial"/>
                <a:cs typeface="Arial"/>
              </a:rPr>
              <a:t>values</a:t>
            </a:r>
            <a:endParaRPr sz="365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343168" y="4045953"/>
          <a:ext cx="7946388" cy="702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5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3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135">
                <a:tc>
                  <a:txBody>
                    <a:bodyPr/>
                    <a:lstStyle/>
                    <a:p>
                      <a:pPr marL="31750">
                        <a:lnSpc>
                          <a:spcPts val="2490"/>
                        </a:lnSpc>
                      </a:pPr>
                      <a:r>
                        <a:rPr sz="2400" b="1" spc="-229" dirty="0">
                          <a:latin typeface="Courier New"/>
                          <a:cs typeface="Courier New"/>
                        </a:rPr>
                        <a:t>isset($name)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490"/>
                        </a:lnSpc>
                      </a:pPr>
                      <a:r>
                        <a:rPr sz="240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400" b="1" dirty="0">
                          <a:latin typeface="Courier New"/>
                          <a:cs typeface="Courier New"/>
                        </a:rPr>
                        <a:t>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490"/>
                        </a:lnSpc>
                      </a:pPr>
                      <a:r>
                        <a:rPr sz="2400" b="1" spc="-229" dirty="0">
                          <a:latin typeface="Courier New"/>
                          <a:cs typeface="Courier New"/>
                        </a:rPr>
                        <a:t>TRUE </a:t>
                      </a:r>
                      <a:r>
                        <a:rPr sz="2400" b="1" spc="-245" dirty="0">
                          <a:latin typeface="Courier New"/>
                          <a:cs typeface="Courier New"/>
                        </a:rPr>
                        <a:t>if </a:t>
                      </a:r>
                      <a:r>
                        <a:rPr sz="2400" b="1" spc="-235" dirty="0">
                          <a:latin typeface="Courier New"/>
                          <a:cs typeface="Courier New"/>
                        </a:rPr>
                        <a:t>$name</a:t>
                      </a:r>
                      <a:r>
                        <a:rPr sz="2400" b="1" spc="-20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220" dirty="0">
                          <a:latin typeface="Courier New"/>
                          <a:cs typeface="Courier New"/>
                        </a:rPr>
                        <a:t>has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490"/>
                        </a:lnSpc>
                      </a:pPr>
                      <a:r>
                        <a:rPr sz="2400" b="1" spc="-229" dirty="0">
                          <a:latin typeface="Courier New"/>
                          <a:cs typeface="Courier New"/>
                        </a:rPr>
                        <a:t>been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2490"/>
                        </a:lnSpc>
                      </a:pPr>
                      <a:r>
                        <a:rPr sz="2400" b="1" spc="-220" dirty="0">
                          <a:latin typeface="Courier New"/>
                          <a:cs typeface="Courier New"/>
                        </a:rPr>
                        <a:t>set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520"/>
                        </a:lnSpc>
                      </a:pPr>
                      <a:r>
                        <a:rPr sz="240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2400" b="1" dirty="0">
                          <a:latin typeface="Courier New"/>
                          <a:cs typeface="Courier New"/>
                        </a:rPr>
                        <a:t>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520"/>
                        </a:lnSpc>
                      </a:pPr>
                      <a:r>
                        <a:rPr sz="2400" b="1" spc="-220" dirty="0">
                          <a:latin typeface="Courier New"/>
                          <a:cs typeface="Courier New"/>
                        </a:rPr>
                        <a:t>and </a:t>
                      </a:r>
                      <a:r>
                        <a:rPr sz="2400" b="1" spc="-225" dirty="0">
                          <a:latin typeface="Courier New"/>
                          <a:cs typeface="Courier New"/>
                        </a:rPr>
                        <a:t>is </a:t>
                      </a:r>
                      <a:r>
                        <a:rPr sz="2400" b="1" spc="-235" dirty="0"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2400" b="1" spc="-2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240" dirty="0">
                          <a:latin typeface="Courier New"/>
                          <a:cs typeface="Courier New"/>
                        </a:rPr>
                        <a:t>NULL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362218" y="4705252"/>
            <a:ext cx="2805430" cy="958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7499"/>
              </a:lnSpc>
              <a:spcBef>
                <a:spcPts val="95"/>
              </a:spcBef>
            </a:pPr>
            <a:r>
              <a:rPr sz="2400" b="1" spc="-229" dirty="0">
                <a:latin typeface="Courier New"/>
                <a:cs typeface="Courier New"/>
              </a:rPr>
              <a:t>empty($name)  </a:t>
            </a:r>
            <a:r>
              <a:rPr sz="2400" b="1" spc="-260" dirty="0">
                <a:latin typeface="Courier New"/>
                <a:cs typeface="Courier New"/>
              </a:rPr>
              <a:t>i</a:t>
            </a:r>
            <a:r>
              <a:rPr sz="2400" b="1" spc="-215" dirty="0">
                <a:latin typeface="Courier New"/>
                <a:cs typeface="Courier New"/>
              </a:rPr>
              <a:t>s_</a:t>
            </a:r>
            <a:r>
              <a:rPr sz="2400" b="1" spc="-260" dirty="0">
                <a:latin typeface="Courier New"/>
                <a:cs typeface="Courier New"/>
              </a:rPr>
              <a:t>n</a:t>
            </a:r>
            <a:r>
              <a:rPr sz="2400" b="1" spc="-215" dirty="0">
                <a:latin typeface="Courier New"/>
                <a:cs typeface="Courier New"/>
              </a:rPr>
              <a:t>um</a:t>
            </a:r>
            <a:r>
              <a:rPr sz="2400" b="1" spc="-260" dirty="0">
                <a:latin typeface="Courier New"/>
                <a:cs typeface="Courier New"/>
              </a:rPr>
              <a:t>e</a:t>
            </a:r>
            <a:r>
              <a:rPr sz="2400" b="1" spc="-215" dirty="0">
                <a:latin typeface="Courier New"/>
                <a:cs typeface="Courier New"/>
              </a:rPr>
              <a:t>ri</a:t>
            </a:r>
            <a:r>
              <a:rPr sz="2400" b="1" spc="-260" dirty="0">
                <a:latin typeface="Courier New"/>
                <a:cs typeface="Courier New"/>
              </a:rPr>
              <a:t>c</a:t>
            </a:r>
            <a:r>
              <a:rPr sz="2400" b="1" spc="-215" dirty="0">
                <a:latin typeface="Courier New"/>
                <a:cs typeface="Courier New"/>
              </a:rPr>
              <a:t>($</a:t>
            </a:r>
            <a:r>
              <a:rPr sz="2400" b="1" spc="-260" dirty="0">
                <a:latin typeface="Courier New"/>
                <a:cs typeface="Courier New"/>
              </a:rPr>
              <a:t>p</a:t>
            </a:r>
            <a:r>
              <a:rPr sz="2400" b="1" spc="-215" dirty="0">
                <a:latin typeface="Courier New"/>
                <a:cs typeface="Courier New"/>
              </a:rPr>
              <a:t>ri</a:t>
            </a:r>
            <a:r>
              <a:rPr sz="2400" b="1" spc="-260" dirty="0">
                <a:latin typeface="Courier New"/>
                <a:cs typeface="Courier New"/>
              </a:rPr>
              <a:t>c</a:t>
            </a:r>
            <a:r>
              <a:rPr sz="2400" b="1" spc="-215" dirty="0">
                <a:latin typeface="Courier New"/>
                <a:cs typeface="Courier New"/>
              </a:rPr>
              <a:t>e</a:t>
            </a:r>
            <a:r>
              <a:rPr sz="2400" b="1" spc="-235" dirty="0">
                <a:latin typeface="Courier New"/>
                <a:cs typeface="Courier New"/>
              </a:rPr>
              <a:t>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59864" y="4705252"/>
            <a:ext cx="4509770" cy="95821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400" b="1" spc="-225" dirty="0">
                <a:latin typeface="Courier New"/>
                <a:cs typeface="Courier New"/>
              </a:rPr>
              <a:t>// </a:t>
            </a:r>
            <a:r>
              <a:rPr sz="2400" b="1" spc="-229" dirty="0">
                <a:latin typeface="Courier New"/>
                <a:cs typeface="Courier New"/>
              </a:rPr>
              <a:t>TRUE </a:t>
            </a:r>
            <a:r>
              <a:rPr sz="2400" b="1" spc="-245" dirty="0">
                <a:latin typeface="Courier New"/>
                <a:cs typeface="Courier New"/>
              </a:rPr>
              <a:t>if </a:t>
            </a:r>
            <a:r>
              <a:rPr sz="2400" b="1" spc="-235" dirty="0">
                <a:latin typeface="Courier New"/>
                <a:cs typeface="Courier New"/>
              </a:rPr>
              <a:t>$name </a:t>
            </a:r>
            <a:r>
              <a:rPr sz="2400" b="1" spc="-225" dirty="0">
                <a:latin typeface="Courier New"/>
                <a:cs typeface="Courier New"/>
              </a:rPr>
              <a:t>is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225" dirty="0">
                <a:latin typeface="Courier New"/>
                <a:cs typeface="Courier New"/>
              </a:rPr>
              <a:t>empty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400" b="1" spc="-225" dirty="0">
                <a:latin typeface="Courier New"/>
                <a:cs typeface="Courier New"/>
              </a:rPr>
              <a:t>// </a:t>
            </a:r>
            <a:r>
              <a:rPr sz="2400" b="1" spc="-229" dirty="0">
                <a:latin typeface="Courier New"/>
                <a:cs typeface="Courier New"/>
              </a:rPr>
              <a:t>TRUE </a:t>
            </a:r>
            <a:r>
              <a:rPr sz="2400" b="1" spc="-245" dirty="0">
                <a:latin typeface="Courier New"/>
                <a:cs typeface="Courier New"/>
              </a:rPr>
              <a:t>if </a:t>
            </a:r>
            <a:r>
              <a:rPr sz="2400" b="1" spc="-235" dirty="0">
                <a:latin typeface="Courier New"/>
                <a:cs typeface="Courier New"/>
              </a:rPr>
              <a:t>$price </a:t>
            </a:r>
            <a:r>
              <a:rPr sz="2400" b="1" spc="-225" dirty="0">
                <a:latin typeface="Courier New"/>
                <a:cs typeface="Courier New"/>
              </a:rPr>
              <a:t>is </a:t>
            </a:r>
            <a:r>
              <a:rPr sz="2400" b="1" spc="-235" dirty="0">
                <a:latin typeface="Courier New"/>
                <a:cs typeface="Courier New"/>
              </a:rPr>
              <a:t>a</a:t>
            </a:r>
            <a:r>
              <a:rPr sz="2400" b="1" spc="-170" dirty="0">
                <a:latin typeface="Courier New"/>
                <a:cs typeface="Courier New"/>
              </a:rPr>
              <a:t> </a:t>
            </a:r>
            <a:r>
              <a:rPr sz="2400" b="1" spc="-225" dirty="0">
                <a:latin typeface="Courier New"/>
                <a:cs typeface="Courier New"/>
              </a:rPr>
              <a:t>number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6900672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62807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dirty="0"/>
              <a:t>Relational &amp; </a:t>
            </a:r>
            <a:r>
              <a:rPr spc="5" dirty="0"/>
              <a:t>Logical</a:t>
            </a:r>
            <a:r>
              <a:rPr spc="25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26025" y="1500466"/>
            <a:ext cx="7778115" cy="400685"/>
          </a:xfrm>
          <a:custGeom>
            <a:avLst/>
            <a:gdLst/>
            <a:ahLst/>
            <a:cxnLst/>
            <a:rect l="l" t="t" r="r" b="b"/>
            <a:pathLst>
              <a:path w="7778115" h="400685">
                <a:moveTo>
                  <a:pt x="0" y="400624"/>
                </a:moveTo>
                <a:lnTo>
                  <a:pt x="7777802" y="400624"/>
                </a:lnTo>
                <a:lnTo>
                  <a:pt x="7777802" y="0"/>
                </a:lnTo>
                <a:lnTo>
                  <a:pt x="0" y="0"/>
                </a:lnTo>
                <a:lnTo>
                  <a:pt x="0" y="400624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91874" y="750120"/>
            <a:ext cx="4004945" cy="111506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2750" b="1" spc="-5" dirty="0">
                <a:solidFill>
                  <a:srgbClr val="0033CC"/>
                </a:solidFill>
                <a:latin typeface="Arial"/>
                <a:cs typeface="Arial"/>
              </a:rPr>
              <a:t>The relational</a:t>
            </a:r>
            <a:r>
              <a:rPr sz="2750" b="1" spc="-2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750" b="1" spc="-5" dirty="0">
                <a:solidFill>
                  <a:srgbClr val="0033CC"/>
                </a:solidFill>
                <a:latin typeface="Arial"/>
                <a:cs typeface="Arial"/>
              </a:rPr>
              <a:t>operators</a:t>
            </a:r>
            <a:endParaRPr sz="2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  <a:tabLst>
                <a:tab pos="2107565" algn="l"/>
              </a:tabLst>
            </a:pPr>
            <a:r>
              <a:rPr sz="2300" b="1" spc="-5" dirty="0">
                <a:latin typeface="Arial"/>
                <a:cs typeface="Arial"/>
              </a:rPr>
              <a:t>Operator	Example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19916" y="1494378"/>
            <a:ext cx="0" cy="5715"/>
          </a:xfrm>
          <a:custGeom>
            <a:avLst/>
            <a:gdLst/>
            <a:ahLst/>
            <a:cxnLst/>
            <a:rect l="l" t="t" r="r" b="b"/>
            <a:pathLst>
              <a:path h="5715">
                <a:moveTo>
                  <a:pt x="0" y="0"/>
                </a:moveTo>
                <a:lnTo>
                  <a:pt x="0" y="526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19916" y="1494378"/>
            <a:ext cx="0" cy="5715"/>
          </a:xfrm>
          <a:custGeom>
            <a:avLst/>
            <a:gdLst/>
            <a:ahLst/>
            <a:cxnLst/>
            <a:rect l="l" t="t" r="r" b="b"/>
            <a:pathLst>
              <a:path h="5715">
                <a:moveTo>
                  <a:pt x="0" y="0"/>
                </a:moveTo>
                <a:lnTo>
                  <a:pt x="0" y="526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26025" y="1497013"/>
            <a:ext cx="7778115" cy="0"/>
          </a:xfrm>
          <a:custGeom>
            <a:avLst/>
            <a:gdLst/>
            <a:ahLst/>
            <a:cxnLst/>
            <a:rect l="l" t="t" r="r" b="b"/>
            <a:pathLst>
              <a:path w="7778115">
                <a:moveTo>
                  <a:pt x="0" y="0"/>
                </a:moveTo>
                <a:lnTo>
                  <a:pt x="7777802" y="0"/>
                </a:lnTo>
              </a:path>
            </a:pathLst>
          </a:custGeom>
          <a:ln w="7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26898" y="1494378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>
                <a:moveTo>
                  <a:pt x="0" y="0"/>
                </a:moveTo>
                <a:lnTo>
                  <a:pt x="777605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804703" y="1494378"/>
            <a:ext cx="0" cy="5715"/>
          </a:xfrm>
          <a:custGeom>
            <a:avLst/>
            <a:gdLst/>
            <a:ahLst/>
            <a:cxnLst/>
            <a:rect l="l" t="t" r="r" b="b"/>
            <a:pathLst>
              <a:path h="5715">
                <a:moveTo>
                  <a:pt x="0" y="0"/>
                </a:moveTo>
                <a:lnTo>
                  <a:pt x="0" y="526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04703" y="1494378"/>
            <a:ext cx="0" cy="5715"/>
          </a:xfrm>
          <a:custGeom>
            <a:avLst/>
            <a:gdLst/>
            <a:ahLst/>
            <a:cxnLst/>
            <a:rect l="l" t="t" r="r" b="b"/>
            <a:pathLst>
              <a:path h="5715">
                <a:moveTo>
                  <a:pt x="0" y="0"/>
                </a:moveTo>
                <a:lnTo>
                  <a:pt x="0" y="526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19916" y="1501401"/>
            <a:ext cx="0" cy="399415"/>
          </a:xfrm>
          <a:custGeom>
            <a:avLst/>
            <a:gdLst/>
            <a:ahLst/>
            <a:cxnLst/>
            <a:rect l="l" t="t" r="r" b="b"/>
            <a:pathLst>
              <a:path h="399414">
                <a:moveTo>
                  <a:pt x="0" y="0"/>
                </a:moveTo>
                <a:lnTo>
                  <a:pt x="0" y="39881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804703" y="1501401"/>
            <a:ext cx="0" cy="399415"/>
          </a:xfrm>
          <a:custGeom>
            <a:avLst/>
            <a:gdLst/>
            <a:ahLst/>
            <a:cxnLst/>
            <a:rect l="l" t="t" r="r" b="b"/>
            <a:pathLst>
              <a:path h="399414">
                <a:moveTo>
                  <a:pt x="0" y="0"/>
                </a:moveTo>
                <a:lnTo>
                  <a:pt x="0" y="39881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19916" y="1901966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4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804703" y="1901966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4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019916" y="220919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4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04703" y="2209194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4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019916" y="2516421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4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804703" y="2516421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4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19916" y="2823648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4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804703" y="2823648"/>
            <a:ext cx="0" cy="306070"/>
          </a:xfrm>
          <a:custGeom>
            <a:avLst/>
            <a:gdLst/>
            <a:ahLst/>
            <a:cxnLst/>
            <a:rect l="l" t="t" r="r" b="b"/>
            <a:pathLst>
              <a:path h="306069">
                <a:moveTo>
                  <a:pt x="0" y="0"/>
                </a:moveTo>
                <a:lnTo>
                  <a:pt x="0" y="30547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19916" y="3130875"/>
            <a:ext cx="0" cy="349885"/>
          </a:xfrm>
          <a:custGeom>
            <a:avLst/>
            <a:gdLst/>
            <a:ahLst/>
            <a:cxnLst/>
            <a:rect l="l" t="t" r="r" b="b"/>
            <a:pathLst>
              <a:path h="349885">
                <a:moveTo>
                  <a:pt x="0" y="0"/>
                </a:moveTo>
                <a:lnTo>
                  <a:pt x="0" y="34936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804703" y="3130875"/>
            <a:ext cx="0" cy="349885"/>
          </a:xfrm>
          <a:custGeom>
            <a:avLst/>
            <a:gdLst/>
            <a:ahLst/>
            <a:cxnLst/>
            <a:rect l="l" t="t" r="r" b="b"/>
            <a:pathLst>
              <a:path h="349885">
                <a:moveTo>
                  <a:pt x="0" y="0"/>
                </a:moveTo>
                <a:lnTo>
                  <a:pt x="0" y="34936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104574" y="1891900"/>
            <a:ext cx="279400" cy="18865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800" b="1" spc="15" dirty="0">
                <a:latin typeface="Courier New"/>
                <a:cs typeface="Courier New"/>
              </a:rPr>
              <a:t>==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800" b="1" spc="15" dirty="0">
                <a:latin typeface="Courier New"/>
                <a:cs typeface="Courier New"/>
              </a:rPr>
              <a:t>!=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800" b="1" spc="15" dirty="0">
                <a:latin typeface="Courier New"/>
                <a:cs typeface="Courier New"/>
              </a:rPr>
              <a:t>&lt;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r>
              <a:rPr sz="1800" b="1" spc="15" dirty="0">
                <a:latin typeface="Courier New"/>
                <a:cs typeface="Courier New"/>
              </a:rPr>
              <a:t>&lt;=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19916" y="3481992"/>
            <a:ext cx="0" cy="349885"/>
          </a:xfrm>
          <a:custGeom>
            <a:avLst/>
            <a:gdLst/>
            <a:ahLst/>
            <a:cxnLst/>
            <a:rect l="l" t="t" r="r" b="b"/>
            <a:pathLst>
              <a:path h="349885">
                <a:moveTo>
                  <a:pt x="0" y="0"/>
                </a:moveTo>
                <a:lnTo>
                  <a:pt x="0" y="3498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804703" y="3481992"/>
            <a:ext cx="0" cy="349885"/>
          </a:xfrm>
          <a:custGeom>
            <a:avLst/>
            <a:gdLst/>
            <a:ahLst/>
            <a:cxnLst/>
            <a:rect l="l" t="t" r="r" b="b"/>
            <a:pathLst>
              <a:path h="349885">
                <a:moveTo>
                  <a:pt x="0" y="0"/>
                </a:moveTo>
                <a:lnTo>
                  <a:pt x="0" y="3498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104574" y="3823481"/>
            <a:ext cx="139700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800" b="1" spc="15" dirty="0">
                <a:latin typeface="Courier New"/>
                <a:cs typeface="Courier New"/>
              </a:rPr>
              <a:t>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19916" y="3833548"/>
            <a:ext cx="0" cy="349885"/>
          </a:xfrm>
          <a:custGeom>
            <a:avLst/>
            <a:gdLst/>
            <a:ahLst/>
            <a:cxnLst/>
            <a:rect l="l" t="t" r="r" b="b"/>
            <a:pathLst>
              <a:path h="349885">
                <a:moveTo>
                  <a:pt x="0" y="0"/>
                </a:moveTo>
                <a:lnTo>
                  <a:pt x="0" y="34936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804703" y="3833548"/>
            <a:ext cx="0" cy="349885"/>
          </a:xfrm>
          <a:custGeom>
            <a:avLst/>
            <a:gdLst/>
            <a:ahLst/>
            <a:cxnLst/>
            <a:rect l="l" t="t" r="r" b="b"/>
            <a:pathLst>
              <a:path h="349885">
                <a:moveTo>
                  <a:pt x="0" y="0"/>
                </a:moveTo>
                <a:lnTo>
                  <a:pt x="0" y="34936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104574" y="4174598"/>
            <a:ext cx="279400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800" b="1" spc="15" dirty="0">
                <a:latin typeface="Courier New"/>
                <a:cs typeface="Courier New"/>
              </a:rPr>
              <a:t>&gt;=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199505" y="1891900"/>
            <a:ext cx="3084830" cy="2588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ts val="2115"/>
              </a:lnSpc>
              <a:spcBef>
                <a:spcPts val="135"/>
              </a:spcBef>
            </a:pPr>
            <a:r>
              <a:rPr sz="1800" b="1" spc="15" dirty="0">
                <a:latin typeface="Courier New"/>
                <a:cs typeface="Courier New"/>
              </a:rPr>
              <a:t>$last_name ==</a:t>
            </a:r>
            <a:r>
              <a:rPr sz="1800" b="1" spc="-35" dirty="0">
                <a:latin typeface="Courier New"/>
                <a:cs typeface="Courier New"/>
              </a:rPr>
              <a:t> </a:t>
            </a:r>
            <a:r>
              <a:rPr sz="1800" b="1" spc="15" dirty="0">
                <a:latin typeface="Courier New"/>
                <a:cs typeface="Courier New"/>
              </a:rPr>
              <a:t>"Harris"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115"/>
              </a:lnSpc>
            </a:pPr>
            <a:r>
              <a:rPr sz="1800" b="1" spc="15" dirty="0">
                <a:latin typeface="Courier New"/>
                <a:cs typeface="Courier New"/>
              </a:rPr>
              <a:t>$test_score ==</a:t>
            </a:r>
            <a:r>
              <a:rPr sz="1800" b="1" dirty="0">
                <a:latin typeface="Courier New"/>
                <a:cs typeface="Courier New"/>
              </a:rPr>
              <a:t> </a:t>
            </a:r>
            <a:r>
              <a:rPr sz="1800" b="1" spc="15" dirty="0">
                <a:latin typeface="Courier New"/>
                <a:cs typeface="Courier New"/>
              </a:rPr>
              <a:t>10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115"/>
              </a:lnSpc>
              <a:spcBef>
                <a:spcPts val="605"/>
              </a:spcBef>
            </a:pPr>
            <a:r>
              <a:rPr sz="1800" b="1" spc="15" dirty="0">
                <a:latin typeface="Courier New"/>
                <a:cs typeface="Courier New"/>
              </a:rPr>
              <a:t>$first_name !=</a:t>
            </a:r>
            <a:r>
              <a:rPr sz="1800" b="1" spc="-10" dirty="0">
                <a:latin typeface="Courier New"/>
                <a:cs typeface="Courier New"/>
              </a:rPr>
              <a:t> </a:t>
            </a:r>
            <a:r>
              <a:rPr sz="1800" b="1" spc="15" dirty="0">
                <a:latin typeface="Courier New"/>
                <a:cs typeface="Courier New"/>
              </a:rPr>
              <a:t>"Ray"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2115"/>
              </a:lnSpc>
            </a:pPr>
            <a:r>
              <a:rPr sz="1800" b="1" spc="15" dirty="0">
                <a:latin typeface="Courier New"/>
                <a:cs typeface="Courier New"/>
              </a:rPr>
              <a:t>$months !=</a:t>
            </a:r>
            <a:r>
              <a:rPr sz="1800" b="1" spc="10" dirty="0">
                <a:latin typeface="Courier New"/>
                <a:cs typeface="Courier New"/>
              </a:rPr>
              <a:t> </a:t>
            </a:r>
            <a:r>
              <a:rPr sz="1800" b="1" spc="15" dirty="0"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r>
              <a:rPr sz="1800" b="1" spc="15" dirty="0">
                <a:latin typeface="Courier New"/>
                <a:cs typeface="Courier New"/>
              </a:rPr>
              <a:t>$age &lt;</a:t>
            </a:r>
            <a:r>
              <a:rPr sz="1800" b="1" spc="10" dirty="0">
                <a:latin typeface="Courier New"/>
                <a:cs typeface="Courier New"/>
              </a:rPr>
              <a:t> </a:t>
            </a:r>
            <a:r>
              <a:rPr sz="1800" b="1" spc="15" dirty="0">
                <a:latin typeface="Courier New"/>
                <a:cs typeface="Courier New"/>
              </a:rPr>
              <a:t>18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r>
              <a:rPr sz="1800" b="1" spc="15" dirty="0">
                <a:latin typeface="Courier New"/>
                <a:cs typeface="Courier New"/>
              </a:rPr>
              <a:t>$investment &lt;=</a:t>
            </a:r>
            <a:r>
              <a:rPr sz="1800" b="1" spc="5" dirty="0">
                <a:latin typeface="Courier New"/>
                <a:cs typeface="Courier New"/>
              </a:rPr>
              <a:t> </a:t>
            </a:r>
            <a:r>
              <a:rPr sz="1800" b="1" spc="15" dirty="0"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r>
              <a:rPr sz="1800" b="1" spc="15" dirty="0">
                <a:latin typeface="Courier New"/>
                <a:cs typeface="Courier New"/>
              </a:rPr>
              <a:t>$test_score &gt;</a:t>
            </a:r>
            <a:r>
              <a:rPr sz="1800" b="1" dirty="0">
                <a:latin typeface="Courier New"/>
                <a:cs typeface="Courier New"/>
              </a:rPr>
              <a:t> </a:t>
            </a:r>
            <a:r>
              <a:rPr sz="1800" b="1" spc="15" dirty="0">
                <a:latin typeface="Courier New"/>
                <a:cs typeface="Courier New"/>
              </a:rPr>
              <a:t>100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r>
              <a:rPr sz="1800" b="1" spc="15" dirty="0">
                <a:latin typeface="Courier New"/>
                <a:cs typeface="Courier New"/>
              </a:rPr>
              <a:t>$rate / 100 &gt;=</a:t>
            </a:r>
            <a:r>
              <a:rPr sz="1800" b="1" spc="-5" dirty="0">
                <a:latin typeface="Courier New"/>
                <a:cs typeface="Courier New"/>
              </a:rPr>
              <a:t> </a:t>
            </a:r>
            <a:r>
              <a:rPr sz="1800" b="1" spc="15" dirty="0">
                <a:latin typeface="Courier New"/>
                <a:cs typeface="Courier New"/>
              </a:rPr>
              <a:t>0.1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019916" y="4505936"/>
            <a:ext cx="0" cy="5715"/>
          </a:xfrm>
          <a:custGeom>
            <a:avLst/>
            <a:gdLst/>
            <a:ahLst/>
            <a:cxnLst/>
            <a:rect l="l" t="t" r="r" b="b"/>
            <a:pathLst>
              <a:path h="5714">
                <a:moveTo>
                  <a:pt x="0" y="0"/>
                </a:moveTo>
                <a:lnTo>
                  <a:pt x="0" y="526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19916" y="4505936"/>
            <a:ext cx="0" cy="5715"/>
          </a:xfrm>
          <a:custGeom>
            <a:avLst/>
            <a:gdLst/>
            <a:ahLst/>
            <a:cxnLst/>
            <a:rect l="l" t="t" r="r" b="b"/>
            <a:pathLst>
              <a:path h="5714">
                <a:moveTo>
                  <a:pt x="0" y="0"/>
                </a:moveTo>
                <a:lnTo>
                  <a:pt x="0" y="526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26025" y="4508571"/>
            <a:ext cx="7778115" cy="0"/>
          </a:xfrm>
          <a:custGeom>
            <a:avLst/>
            <a:gdLst/>
            <a:ahLst/>
            <a:cxnLst/>
            <a:rect l="l" t="t" r="r" b="b"/>
            <a:pathLst>
              <a:path w="7778115">
                <a:moveTo>
                  <a:pt x="0" y="0"/>
                </a:moveTo>
                <a:lnTo>
                  <a:pt x="7777802" y="0"/>
                </a:lnTo>
              </a:path>
            </a:pathLst>
          </a:custGeom>
          <a:ln w="70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026898" y="4505936"/>
            <a:ext cx="7776209" cy="0"/>
          </a:xfrm>
          <a:custGeom>
            <a:avLst/>
            <a:gdLst/>
            <a:ahLst/>
            <a:cxnLst/>
            <a:rect l="l" t="t" r="r" b="b"/>
            <a:pathLst>
              <a:path w="7776209">
                <a:moveTo>
                  <a:pt x="0" y="0"/>
                </a:moveTo>
                <a:lnTo>
                  <a:pt x="777605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804703" y="4505936"/>
            <a:ext cx="0" cy="5715"/>
          </a:xfrm>
          <a:custGeom>
            <a:avLst/>
            <a:gdLst/>
            <a:ahLst/>
            <a:cxnLst/>
            <a:rect l="l" t="t" r="r" b="b"/>
            <a:pathLst>
              <a:path h="5714">
                <a:moveTo>
                  <a:pt x="0" y="0"/>
                </a:moveTo>
                <a:lnTo>
                  <a:pt x="0" y="526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804703" y="4505936"/>
            <a:ext cx="0" cy="5715"/>
          </a:xfrm>
          <a:custGeom>
            <a:avLst/>
            <a:gdLst/>
            <a:ahLst/>
            <a:cxnLst/>
            <a:rect l="l" t="t" r="r" b="b"/>
            <a:pathLst>
              <a:path h="5714">
                <a:moveTo>
                  <a:pt x="0" y="0"/>
                </a:moveTo>
                <a:lnTo>
                  <a:pt x="0" y="526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22534" y="1493354"/>
            <a:ext cx="0" cy="3018790"/>
          </a:xfrm>
          <a:custGeom>
            <a:avLst/>
            <a:gdLst/>
            <a:ahLst/>
            <a:cxnLst/>
            <a:rect l="l" t="t" r="r" b="b"/>
            <a:pathLst>
              <a:path h="3018790">
                <a:moveTo>
                  <a:pt x="0" y="0"/>
                </a:moveTo>
                <a:lnTo>
                  <a:pt x="0" y="3018727"/>
                </a:lnTo>
              </a:path>
            </a:pathLst>
          </a:custGeom>
          <a:ln w="69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019916" y="4184665"/>
            <a:ext cx="0" cy="320040"/>
          </a:xfrm>
          <a:custGeom>
            <a:avLst/>
            <a:gdLst/>
            <a:ahLst/>
            <a:cxnLst/>
            <a:rect l="l" t="t" r="r" b="b"/>
            <a:pathLst>
              <a:path h="320039">
                <a:moveTo>
                  <a:pt x="0" y="0"/>
                </a:moveTo>
                <a:lnTo>
                  <a:pt x="0" y="31951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807319" y="1493354"/>
            <a:ext cx="0" cy="3018790"/>
          </a:xfrm>
          <a:custGeom>
            <a:avLst/>
            <a:gdLst/>
            <a:ahLst/>
            <a:cxnLst/>
            <a:rect l="l" t="t" r="r" b="b"/>
            <a:pathLst>
              <a:path h="3018790">
                <a:moveTo>
                  <a:pt x="0" y="0"/>
                </a:moveTo>
                <a:lnTo>
                  <a:pt x="0" y="3018727"/>
                </a:lnTo>
              </a:path>
            </a:pathLst>
          </a:custGeom>
          <a:ln w="69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804703" y="4184665"/>
            <a:ext cx="0" cy="320040"/>
          </a:xfrm>
          <a:custGeom>
            <a:avLst/>
            <a:gdLst/>
            <a:ahLst/>
            <a:cxnLst/>
            <a:rect l="l" t="t" r="r" b="b"/>
            <a:pathLst>
              <a:path h="320039">
                <a:moveTo>
                  <a:pt x="0" y="0"/>
                </a:moveTo>
                <a:lnTo>
                  <a:pt x="0" y="319516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091874" y="4704784"/>
            <a:ext cx="7419340" cy="4470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750" b="1" spc="-5" dirty="0">
                <a:solidFill>
                  <a:srgbClr val="0033CC"/>
                </a:solidFill>
                <a:latin typeface="Arial"/>
                <a:cs typeface="Arial"/>
              </a:rPr>
              <a:t>The logical operators in </a:t>
            </a:r>
            <a:r>
              <a:rPr sz="2750" b="1" dirty="0">
                <a:solidFill>
                  <a:srgbClr val="0033CC"/>
                </a:solidFill>
                <a:latin typeface="Arial"/>
                <a:cs typeface="Arial"/>
              </a:rPr>
              <a:t>order </a:t>
            </a:r>
            <a:r>
              <a:rPr sz="2750" b="1" spc="-5" dirty="0">
                <a:solidFill>
                  <a:srgbClr val="0033CC"/>
                </a:solidFill>
                <a:latin typeface="Arial"/>
                <a:cs typeface="Arial"/>
              </a:rPr>
              <a:t>of</a:t>
            </a:r>
            <a:r>
              <a:rPr sz="2750" b="1" spc="3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750" b="1" spc="-5" dirty="0">
                <a:solidFill>
                  <a:srgbClr val="0033CC"/>
                </a:solidFill>
                <a:latin typeface="Arial"/>
                <a:cs typeface="Arial"/>
              </a:rPr>
              <a:t>precedence</a:t>
            </a:r>
            <a:endParaRPr sz="2750">
              <a:latin typeface="Arial"/>
              <a:cs typeface="Arial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018898" y="5275614"/>
          <a:ext cx="7863838" cy="14311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9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63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4150">
                <a:tc gridSpan="6"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2176780" algn="l"/>
                        </a:tabLst>
                      </a:pPr>
                      <a:r>
                        <a:rPr sz="2300" b="1" spc="-5" dirty="0">
                          <a:latin typeface="Arial"/>
                          <a:cs typeface="Arial"/>
                        </a:rPr>
                        <a:t>Operator	</a:t>
                      </a:r>
                      <a:r>
                        <a:rPr sz="2300" b="1" spc="-10" dirty="0">
                          <a:latin typeface="Arial"/>
                          <a:cs typeface="Arial"/>
                        </a:rPr>
                        <a:t>Example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55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!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255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7415" marR="31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800" b="1" spc="15" dirty="0">
                          <a:latin typeface="Courier New"/>
                          <a:cs typeface="Courier New"/>
                        </a:rPr>
                        <a:t>!is_numeric($age)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16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15" dirty="0">
                          <a:latin typeface="Courier New"/>
                          <a:cs typeface="Courier New"/>
                        </a:rPr>
                        <a:t>&amp;&amp;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9074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15" dirty="0">
                          <a:latin typeface="Courier New"/>
                          <a:cs typeface="Courier New"/>
                        </a:rPr>
                        <a:t>$age &gt; 17 &amp;&amp;</a:t>
                      </a:r>
                      <a:r>
                        <a:rPr sz="1800" b="1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15" dirty="0">
                          <a:latin typeface="Courier New"/>
                          <a:cs typeface="Courier New"/>
                        </a:rPr>
                        <a:t>$score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&lt;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15" dirty="0">
                          <a:latin typeface="Courier New"/>
                          <a:cs typeface="Courier New"/>
                        </a:rPr>
                        <a:t>70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400"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15" dirty="0">
                          <a:latin typeface="Courier New"/>
                          <a:cs typeface="Courier New"/>
                        </a:rPr>
                        <a:t>||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7415" marR="31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15" dirty="0">
                          <a:latin typeface="Courier New"/>
                          <a:cs typeface="Courier New"/>
                        </a:rPr>
                        <a:t>!is_numeric($rate)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||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spc="15" dirty="0">
                          <a:latin typeface="Courier New"/>
                          <a:cs typeface="Courier New"/>
                        </a:rPr>
                        <a:t>$rate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&lt;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8890" marB="0"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6303264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56813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Conditional </a:t>
            </a:r>
            <a:r>
              <a:rPr spc="-5" dirty="0"/>
              <a:t>Statements</a:t>
            </a:r>
            <a:r>
              <a:rPr spc="5" dirty="0"/>
              <a:t> </a:t>
            </a:r>
            <a:r>
              <a:rPr spc="15" dirty="0"/>
              <a:t>(if)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235527" y="1798976"/>
          <a:ext cx="8164195" cy="614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3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5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7220">
                <a:tc>
                  <a:txBody>
                    <a:bodyPr/>
                    <a:lstStyle/>
                    <a:p>
                      <a:pPr marL="31750">
                        <a:lnSpc>
                          <a:spcPts val="2175"/>
                        </a:lnSpc>
                      </a:pPr>
                      <a:r>
                        <a:rPr sz="2100" b="1" spc="-20" dirty="0">
                          <a:latin typeface="Courier New"/>
                          <a:cs typeface="Courier New"/>
                        </a:rPr>
                        <a:t>if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175"/>
                        </a:lnSpc>
                      </a:pPr>
                      <a:r>
                        <a:rPr sz="2100" b="1" spc="5" dirty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2100" b="1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b="1" spc="5" dirty="0">
                          <a:latin typeface="Courier New"/>
                          <a:cs typeface="Courier New"/>
                        </a:rPr>
                        <a:t>$price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175"/>
                        </a:lnSpc>
                      </a:pPr>
                      <a:r>
                        <a:rPr sz="2100" b="1" spc="-25" dirty="0">
                          <a:latin typeface="Courier New"/>
                          <a:cs typeface="Courier New"/>
                        </a:rPr>
                        <a:t>&lt;=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2175"/>
                        </a:lnSpc>
                      </a:pPr>
                      <a:r>
                        <a:rPr sz="2100" b="1" spc="5" dirty="0">
                          <a:latin typeface="Courier New"/>
                          <a:cs typeface="Courier New"/>
                        </a:rPr>
                        <a:t>0 )</a:t>
                      </a:r>
                      <a:r>
                        <a:rPr sz="210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b="1" spc="5" dirty="0">
                          <a:latin typeface="Courier New"/>
                          <a:cs typeface="Courier New"/>
                        </a:rPr>
                        <a:t>{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204">
                        <a:lnSpc>
                          <a:spcPts val="2205"/>
                        </a:lnSpc>
                      </a:pPr>
                      <a:r>
                        <a:rPr sz="2100" b="1" spc="25" dirty="0">
                          <a:latin typeface="Courier New"/>
                          <a:cs typeface="Courier New"/>
                        </a:rPr>
                        <a:t>$m</a:t>
                      </a:r>
                      <a:r>
                        <a:rPr sz="2100" b="1" spc="-25" dirty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2100" b="1" spc="25" dirty="0">
                          <a:latin typeface="Courier New"/>
                          <a:cs typeface="Courier New"/>
                        </a:rPr>
                        <a:t>ss</a:t>
                      </a:r>
                      <a:r>
                        <a:rPr sz="2100" b="1" spc="-25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100" b="1" spc="25" dirty="0">
                          <a:latin typeface="Courier New"/>
                          <a:cs typeface="Courier New"/>
                        </a:rPr>
                        <a:t>g</a:t>
                      </a:r>
                      <a:r>
                        <a:rPr sz="2100" b="1" dirty="0">
                          <a:latin typeface="Courier New"/>
                          <a:cs typeface="Courier New"/>
                        </a:rPr>
                        <a:t>e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ts val="2205"/>
                        </a:lnSpc>
                      </a:pPr>
                      <a:r>
                        <a:rPr sz="2100" b="1" dirty="0">
                          <a:latin typeface="Courier New"/>
                          <a:cs typeface="Courier New"/>
                        </a:rPr>
                        <a:t>=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2205"/>
                        </a:lnSpc>
                      </a:pPr>
                      <a:r>
                        <a:rPr sz="2100" b="1" spc="10" dirty="0">
                          <a:latin typeface="Courier New"/>
                          <a:cs typeface="Courier New"/>
                        </a:rPr>
                        <a:t>'Price</a:t>
                      </a:r>
                      <a:r>
                        <a:rPr sz="2100" b="1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b="1" spc="5" dirty="0">
                          <a:latin typeface="Courier New"/>
                          <a:cs typeface="Courier New"/>
                        </a:rPr>
                        <a:t>must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205"/>
                        </a:lnSpc>
                      </a:pPr>
                      <a:r>
                        <a:rPr sz="2100" b="1" spc="-20" dirty="0">
                          <a:latin typeface="Courier New"/>
                          <a:cs typeface="Courier New"/>
                        </a:rPr>
                        <a:t>be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205"/>
                        </a:lnSpc>
                      </a:pPr>
                      <a:r>
                        <a:rPr sz="2100" b="1" spc="10" dirty="0">
                          <a:latin typeface="Courier New"/>
                          <a:cs typeface="Courier New"/>
                        </a:rPr>
                        <a:t>greater</a:t>
                      </a:r>
                      <a:r>
                        <a:rPr sz="2100" b="1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100" b="1" spc="10" dirty="0">
                          <a:latin typeface="Courier New"/>
                          <a:cs typeface="Courier New"/>
                        </a:rPr>
                        <a:t>than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205"/>
                        </a:lnSpc>
                      </a:pPr>
                      <a:r>
                        <a:rPr sz="2100" b="1" spc="10" dirty="0">
                          <a:latin typeface="Courier New"/>
                          <a:cs typeface="Courier New"/>
                        </a:rPr>
                        <a:t>zero.';</a:t>
                      </a:r>
                      <a:endParaRPr sz="21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791872" y="1174776"/>
            <a:ext cx="8427720" cy="38315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b="1" spc="-50" dirty="0">
                <a:solidFill>
                  <a:srgbClr val="0033CC"/>
                </a:solidFill>
                <a:latin typeface="Arial"/>
                <a:cs typeface="Arial"/>
              </a:rPr>
              <a:t>An </a:t>
            </a:r>
            <a:r>
              <a:rPr sz="3200" b="1" spc="5" dirty="0">
                <a:solidFill>
                  <a:srgbClr val="0033CC"/>
                </a:solidFill>
                <a:latin typeface="Arial"/>
                <a:cs typeface="Arial"/>
              </a:rPr>
              <a:t>if </a:t>
            </a:r>
            <a:r>
              <a:rPr sz="3200" b="1" dirty="0">
                <a:solidFill>
                  <a:srgbClr val="0033CC"/>
                </a:solidFill>
                <a:latin typeface="Arial"/>
                <a:cs typeface="Arial"/>
              </a:rPr>
              <a:t>statement </a:t>
            </a:r>
            <a:r>
              <a:rPr sz="3200" b="1" spc="5" dirty="0">
                <a:solidFill>
                  <a:srgbClr val="0033CC"/>
                </a:solidFill>
                <a:latin typeface="Arial"/>
                <a:cs typeface="Arial"/>
              </a:rPr>
              <a:t>with </a:t>
            </a:r>
            <a:r>
              <a:rPr sz="3200" b="1" spc="-20" dirty="0">
                <a:solidFill>
                  <a:srgbClr val="0033CC"/>
                </a:solidFill>
                <a:latin typeface="Arial"/>
                <a:cs typeface="Arial"/>
              </a:rPr>
              <a:t>no </a:t>
            </a:r>
            <a:r>
              <a:rPr sz="3200" b="1" dirty="0">
                <a:solidFill>
                  <a:srgbClr val="0033CC"/>
                </a:solidFill>
                <a:latin typeface="Arial"/>
                <a:cs typeface="Arial"/>
              </a:rPr>
              <a:t>other</a:t>
            </a:r>
            <a:r>
              <a:rPr sz="3200" b="1" spc="5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200" b="1" spc="-15" dirty="0">
                <a:solidFill>
                  <a:srgbClr val="0033CC"/>
                </a:solidFill>
                <a:latin typeface="Arial"/>
                <a:cs typeface="Arial"/>
              </a:rPr>
              <a:t>clauses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750">
              <a:latin typeface="Times New Roman"/>
              <a:cs typeface="Times New Roman"/>
            </a:endParaRPr>
          </a:p>
          <a:p>
            <a:pPr marL="474980">
              <a:lnSpc>
                <a:spcPct val="100000"/>
              </a:lnSpc>
              <a:spcBef>
                <a:spcPts val="5"/>
              </a:spcBef>
            </a:pPr>
            <a:r>
              <a:rPr sz="2100" b="1" spc="5" dirty="0"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3200" b="1" spc="-50" dirty="0">
                <a:solidFill>
                  <a:srgbClr val="0033CC"/>
                </a:solidFill>
                <a:latin typeface="Arial"/>
                <a:cs typeface="Arial"/>
              </a:rPr>
              <a:t>An </a:t>
            </a:r>
            <a:r>
              <a:rPr sz="3200" b="1" spc="5" dirty="0">
                <a:solidFill>
                  <a:srgbClr val="0033CC"/>
                </a:solidFill>
                <a:latin typeface="Arial"/>
                <a:cs typeface="Arial"/>
              </a:rPr>
              <a:t>if </a:t>
            </a:r>
            <a:r>
              <a:rPr sz="3200" b="1" spc="-5" dirty="0">
                <a:solidFill>
                  <a:srgbClr val="0033CC"/>
                </a:solidFill>
                <a:latin typeface="Arial"/>
                <a:cs typeface="Arial"/>
              </a:rPr>
              <a:t>statement </a:t>
            </a:r>
            <a:r>
              <a:rPr sz="3200" b="1" spc="5" dirty="0">
                <a:solidFill>
                  <a:srgbClr val="0033CC"/>
                </a:solidFill>
                <a:latin typeface="Arial"/>
                <a:cs typeface="Arial"/>
              </a:rPr>
              <a:t>with </a:t>
            </a:r>
            <a:r>
              <a:rPr sz="3200" b="1" dirty="0">
                <a:solidFill>
                  <a:srgbClr val="0033CC"/>
                </a:solidFill>
                <a:latin typeface="Arial"/>
                <a:cs typeface="Arial"/>
              </a:rPr>
              <a:t>an else</a:t>
            </a:r>
            <a:r>
              <a:rPr sz="3200" b="1" spc="-10" dirty="0">
                <a:solidFill>
                  <a:srgbClr val="0033CC"/>
                </a:solidFill>
                <a:latin typeface="Arial"/>
                <a:cs typeface="Arial"/>
              </a:rPr>
              <a:t> clause</a:t>
            </a:r>
            <a:endParaRPr sz="3200">
              <a:latin typeface="Arial"/>
              <a:cs typeface="Arial"/>
            </a:endParaRPr>
          </a:p>
          <a:p>
            <a:pPr marL="474980">
              <a:lnSpc>
                <a:spcPts val="2460"/>
              </a:lnSpc>
              <a:spcBef>
                <a:spcPts val="660"/>
              </a:spcBef>
            </a:pPr>
            <a:r>
              <a:rPr sz="2100" b="1" spc="-5" dirty="0">
                <a:latin typeface="Courier New"/>
                <a:cs typeface="Courier New"/>
              </a:rPr>
              <a:t>if </a:t>
            </a:r>
            <a:r>
              <a:rPr sz="2100" b="1" spc="5" dirty="0">
                <a:latin typeface="Courier New"/>
                <a:cs typeface="Courier New"/>
              </a:rPr>
              <a:t>( </a:t>
            </a:r>
            <a:r>
              <a:rPr sz="2100" b="1" spc="10" dirty="0">
                <a:latin typeface="Courier New"/>
                <a:cs typeface="Courier New"/>
              </a:rPr>
              <a:t>empty($first_name) </a:t>
            </a:r>
            <a:r>
              <a:rPr sz="2100" b="1" spc="5" dirty="0">
                <a:latin typeface="Courier New"/>
                <a:cs typeface="Courier New"/>
              </a:rPr>
              <a:t>)</a:t>
            </a:r>
            <a:r>
              <a:rPr sz="2100" b="1" spc="114" dirty="0">
                <a:latin typeface="Courier New"/>
                <a:cs typeface="Courier New"/>
              </a:rPr>
              <a:t> </a:t>
            </a:r>
            <a:r>
              <a:rPr sz="2100" b="1" spc="5" dirty="0"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1120140">
              <a:lnSpc>
                <a:spcPts val="2420"/>
              </a:lnSpc>
            </a:pPr>
            <a:r>
              <a:rPr sz="2100" b="1" spc="15" dirty="0">
                <a:latin typeface="Courier New"/>
                <a:cs typeface="Courier New"/>
              </a:rPr>
              <a:t>$message </a:t>
            </a:r>
            <a:r>
              <a:rPr sz="2100" b="1" spc="5" dirty="0">
                <a:latin typeface="Courier New"/>
                <a:cs typeface="Courier New"/>
              </a:rPr>
              <a:t>= </a:t>
            </a:r>
            <a:r>
              <a:rPr sz="2100" b="1" spc="10" dirty="0">
                <a:latin typeface="Courier New"/>
                <a:cs typeface="Courier New"/>
              </a:rPr>
              <a:t>'You must </a:t>
            </a:r>
            <a:r>
              <a:rPr sz="2100" b="1" spc="15" dirty="0">
                <a:latin typeface="Courier New"/>
                <a:cs typeface="Courier New"/>
              </a:rPr>
              <a:t>enter </a:t>
            </a:r>
            <a:r>
              <a:rPr sz="2100" b="1" spc="10" dirty="0">
                <a:latin typeface="Courier New"/>
                <a:cs typeface="Courier New"/>
              </a:rPr>
              <a:t>your </a:t>
            </a:r>
            <a:r>
              <a:rPr sz="2100" b="1" spc="5" dirty="0">
                <a:latin typeface="Courier New"/>
                <a:cs typeface="Courier New"/>
              </a:rPr>
              <a:t>first</a:t>
            </a:r>
            <a:r>
              <a:rPr sz="2100" b="1" spc="90" dirty="0">
                <a:latin typeface="Courier New"/>
                <a:cs typeface="Courier New"/>
              </a:rPr>
              <a:t> </a:t>
            </a:r>
            <a:r>
              <a:rPr sz="2100" b="1" spc="10" dirty="0">
                <a:latin typeface="Courier New"/>
                <a:cs typeface="Courier New"/>
              </a:rPr>
              <a:t>name.';</a:t>
            </a:r>
            <a:endParaRPr sz="2100">
              <a:latin typeface="Courier New"/>
              <a:cs typeface="Courier New"/>
            </a:endParaRPr>
          </a:p>
          <a:p>
            <a:pPr marL="474980">
              <a:lnSpc>
                <a:spcPts val="2420"/>
              </a:lnSpc>
            </a:pPr>
            <a:r>
              <a:rPr sz="2100" b="1" spc="5" dirty="0">
                <a:latin typeface="Courier New"/>
                <a:cs typeface="Courier New"/>
              </a:rPr>
              <a:t>} </a:t>
            </a:r>
            <a:r>
              <a:rPr sz="2100" b="1" spc="10" dirty="0">
                <a:latin typeface="Courier New"/>
                <a:cs typeface="Courier New"/>
              </a:rPr>
              <a:t>else </a:t>
            </a:r>
            <a:r>
              <a:rPr sz="2100" b="1" spc="5" dirty="0">
                <a:latin typeface="Courier New"/>
                <a:cs typeface="Courier New"/>
              </a:rPr>
              <a:t>{</a:t>
            </a:r>
            <a:endParaRPr sz="2100">
              <a:latin typeface="Courier New"/>
              <a:cs typeface="Courier New"/>
            </a:endParaRPr>
          </a:p>
          <a:p>
            <a:pPr marL="1120140">
              <a:lnSpc>
                <a:spcPts val="2400"/>
              </a:lnSpc>
            </a:pPr>
            <a:r>
              <a:rPr sz="2100" b="1" spc="15" dirty="0">
                <a:latin typeface="Courier New"/>
                <a:cs typeface="Courier New"/>
              </a:rPr>
              <a:t>$message </a:t>
            </a:r>
            <a:r>
              <a:rPr sz="2100" b="1" spc="5" dirty="0">
                <a:latin typeface="Courier New"/>
                <a:cs typeface="Courier New"/>
              </a:rPr>
              <a:t>= </a:t>
            </a:r>
            <a:r>
              <a:rPr sz="2100" b="1" spc="10" dirty="0">
                <a:latin typeface="Courier New"/>
                <a:cs typeface="Courier New"/>
              </a:rPr>
              <a:t>'Hello </a:t>
            </a:r>
            <a:r>
              <a:rPr sz="2100" b="1" spc="5" dirty="0">
                <a:latin typeface="Courier New"/>
                <a:cs typeface="Courier New"/>
              </a:rPr>
              <a:t>' .</a:t>
            </a:r>
            <a:r>
              <a:rPr sz="2100" b="1" spc="75" dirty="0">
                <a:latin typeface="Courier New"/>
                <a:cs typeface="Courier New"/>
              </a:rPr>
              <a:t> </a:t>
            </a:r>
            <a:r>
              <a:rPr sz="2100" b="1" spc="20" dirty="0">
                <a:latin typeface="Courier New"/>
                <a:cs typeface="Courier New"/>
              </a:rPr>
              <a:t>$first_name.'!';</a:t>
            </a:r>
            <a:endParaRPr sz="2100">
              <a:latin typeface="Courier New"/>
              <a:cs typeface="Courier New"/>
            </a:endParaRPr>
          </a:p>
          <a:p>
            <a:pPr marL="474980">
              <a:lnSpc>
                <a:spcPts val="2460"/>
              </a:lnSpc>
            </a:pPr>
            <a:r>
              <a:rPr sz="2100" b="1" spc="5" dirty="0">
                <a:latin typeface="Courier New"/>
                <a:cs typeface="Courier New"/>
              </a:rPr>
              <a:t>}</a:t>
            </a:r>
            <a:endParaRPr sz="2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6303264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56813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Conditional </a:t>
            </a:r>
            <a:r>
              <a:rPr spc="-5" dirty="0"/>
              <a:t>Statements</a:t>
            </a:r>
            <a:r>
              <a:rPr spc="5" dirty="0"/>
              <a:t> </a:t>
            </a:r>
            <a:r>
              <a:rPr spc="15" dirty="0"/>
              <a:t>(if)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42509" y="1025244"/>
            <a:ext cx="8828405" cy="4209415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3850" b="1" spc="-610" dirty="0">
                <a:solidFill>
                  <a:srgbClr val="0033CC"/>
                </a:solidFill>
                <a:latin typeface="Arial"/>
                <a:cs typeface="Arial"/>
              </a:rPr>
              <a:t>An </a:t>
            </a:r>
            <a:r>
              <a:rPr sz="3850" b="1" spc="-250" dirty="0">
                <a:solidFill>
                  <a:srgbClr val="0033CC"/>
                </a:solidFill>
                <a:latin typeface="Arial"/>
                <a:cs typeface="Arial"/>
              </a:rPr>
              <a:t>if </a:t>
            </a:r>
            <a:r>
              <a:rPr sz="3850" b="1" spc="-450" dirty="0">
                <a:solidFill>
                  <a:srgbClr val="0033CC"/>
                </a:solidFill>
                <a:latin typeface="Arial"/>
                <a:cs typeface="Arial"/>
              </a:rPr>
              <a:t>statement </a:t>
            </a:r>
            <a:r>
              <a:rPr sz="3850" b="1" spc="-420" dirty="0">
                <a:solidFill>
                  <a:srgbClr val="0033CC"/>
                </a:solidFill>
                <a:latin typeface="Arial"/>
                <a:cs typeface="Arial"/>
              </a:rPr>
              <a:t>with </a:t>
            </a:r>
            <a:r>
              <a:rPr sz="3850" b="1" spc="-425" dirty="0">
                <a:solidFill>
                  <a:srgbClr val="0033CC"/>
                </a:solidFill>
                <a:latin typeface="Arial"/>
                <a:cs typeface="Arial"/>
              </a:rPr>
              <a:t>else </a:t>
            </a:r>
            <a:r>
              <a:rPr sz="3850" b="1" spc="-250" dirty="0">
                <a:solidFill>
                  <a:srgbClr val="0033CC"/>
                </a:solidFill>
                <a:latin typeface="Arial"/>
                <a:cs typeface="Arial"/>
              </a:rPr>
              <a:t>if </a:t>
            </a:r>
            <a:r>
              <a:rPr sz="3850" b="1" spc="-500" dirty="0">
                <a:solidFill>
                  <a:srgbClr val="0033CC"/>
                </a:solidFill>
                <a:latin typeface="Arial"/>
                <a:cs typeface="Arial"/>
              </a:rPr>
              <a:t>and </a:t>
            </a:r>
            <a:r>
              <a:rPr sz="3850" b="1" spc="-415" dirty="0">
                <a:solidFill>
                  <a:srgbClr val="0033CC"/>
                </a:solidFill>
                <a:latin typeface="Arial"/>
                <a:cs typeface="Arial"/>
              </a:rPr>
              <a:t>else</a:t>
            </a:r>
            <a:r>
              <a:rPr sz="3850" b="1" spc="-18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850" b="1" spc="-445" dirty="0">
                <a:solidFill>
                  <a:srgbClr val="0033CC"/>
                </a:solidFill>
                <a:latin typeface="Arial"/>
                <a:cs typeface="Arial"/>
              </a:rPr>
              <a:t>clauses</a:t>
            </a:r>
            <a:endParaRPr sz="3850">
              <a:latin typeface="Arial"/>
              <a:cs typeface="Arial"/>
            </a:endParaRPr>
          </a:p>
          <a:p>
            <a:pPr marL="447040">
              <a:lnSpc>
                <a:spcPts val="3010"/>
              </a:lnSpc>
              <a:spcBef>
                <a:spcPts val="735"/>
              </a:spcBef>
            </a:pPr>
            <a:r>
              <a:rPr sz="2550" b="1" spc="-350" dirty="0">
                <a:latin typeface="Courier New"/>
                <a:cs typeface="Courier New"/>
              </a:rPr>
              <a:t>if </a:t>
            </a:r>
            <a:r>
              <a:rPr sz="2550" b="1" spc="-340" dirty="0">
                <a:latin typeface="Courier New"/>
                <a:cs typeface="Courier New"/>
              </a:rPr>
              <a:t>( </a:t>
            </a:r>
            <a:r>
              <a:rPr sz="2550" b="1" spc="-335" dirty="0">
                <a:latin typeface="Courier New"/>
                <a:cs typeface="Courier New"/>
              </a:rPr>
              <a:t>empty($investment) </a:t>
            </a:r>
            <a:r>
              <a:rPr sz="2550" b="1" spc="-340" dirty="0">
                <a:latin typeface="Courier New"/>
                <a:cs typeface="Courier New"/>
              </a:rPr>
              <a:t>)</a:t>
            </a:r>
            <a:r>
              <a:rPr sz="2550" b="1" spc="-260" dirty="0">
                <a:latin typeface="Courier New"/>
                <a:cs typeface="Courier New"/>
              </a:rPr>
              <a:t> </a:t>
            </a:r>
            <a:r>
              <a:rPr sz="2550" b="1" spc="-340" dirty="0">
                <a:latin typeface="Courier New"/>
                <a:cs typeface="Courier New"/>
              </a:rPr>
              <a:t>{</a:t>
            </a:r>
            <a:endParaRPr sz="2550">
              <a:latin typeface="Courier New"/>
              <a:cs typeface="Courier New"/>
            </a:endParaRPr>
          </a:p>
          <a:p>
            <a:pPr marL="1052195">
              <a:lnSpc>
                <a:spcPts val="2930"/>
              </a:lnSpc>
            </a:pPr>
            <a:r>
              <a:rPr sz="2550" b="1" spc="-335" dirty="0">
                <a:latin typeface="Courier New"/>
                <a:cs typeface="Courier New"/>
              </a:rPr>
              <a:t>$message </a:t>
            </a:r>
            <a:r>
              <a:rPr sz="2550" b="1" spc="-340" dirty="0">
                <a:latin typeface="Courier New"/>
                <a:cs typeface="Courier New"/>
              </a:rPr>
              <a:t>= 'Investment </a:t>
            </a:r>
            <a:r>
              <a:rPr sz="2550" b="1" spc="-350" dirty="0">
                <a:latin typeface="Courier New"/>
                <a:cs typeface="Courier New"/>
              </a:rPr>
              <a:t>is </a:t>
            </a:r>
            <a:r>
              <a:rPr sz="2550" b="1" spc="-340" dirty="0">
                <a:latin typeface="Courier New"/>
                <a:cs typeface="Courier New"/>
              </a:rPr>
              <a:t>a required</a:t>
            </a:r>
            <a:r>
              <a:rPr sz="2550" b="1" spc="-165" dirty="0">
                <a:latin typeface="Courier New"/>
                <a:cs typeface="Courier New"/>
              </a:rPr>
              <a:t> </a:t>
            </a:r>
            <a:r>
              <a:rPr sz="2550" b="1" spc="-340" dirty="0">
                <a:latin typeface="Courier New"/>
                <a:cs typeface="Courier New"/>
              </a:rPr>
              <a:t>field.';</a:t>
            </a:r>
            <a:endParaRPr sz="2550">
              <a:latin typeface="Courier New"/>
              <a:cs typeface="Courier New"/>
            </a:endParaRPr>
          </a:p>
          <a:p>
            <a:pPr marL="447040">
              <a:lnSpc>
                <a:spcPts val="2900"/>
              </a:lnSpc>
              <a:tabLst>
                <a:tab pos="6535420" algn="l"/>
              </a:tabLst>
            </a:pPr>
            <a:r>
              <a:rPr sz="2550" b="1" spc="-340" dirty="0">
                <a:latin typeface="Courier New"/>
                <a:cs typeface="Courier New"/>
              </a:rPr>
              <a:t>} </a:t>
            </a:r>
            <a:r>
              <a:rPr sz="2550" b="1" spc="-335" dirty="0">
                <a:latin typeface="Courier New"/>
                <a:cs typeface="Courier New"/>
              </a:rPr>
              <a:t>else </a:t>
            </a:r>
            <a:r>
              <a:rPr sz="2550" b="1" spc="-330" dirty="0">
                <a:latin typeface="Courier New"/>
                <a:cs typeface="Courier New"/>
              </a:rPr>
              <a:t>if </a:t>
            </a:r>
            <a:r>
              <a:rPr sz="2550" b="1" spc="-340" dirty="0">
                <a:latin typeface="Courier New"/>
                <a:cs typeface="Courier New"/>
              </a:rPr>
              <a:t>(</a:t>
            </a:r>
            <a:r>
              <a:rPr sz="2550" b="1" spc="-300" dirty="0">
                <a:latin typeface="Courier New"/>
                <a:cs typeface="Courier New"/>
              </a:rPr>
              <a:t> </a:t>
            </a:r>
            <a:r>
              <a:rPr sz="2550" b="1" spc="-335" dirty="0">
                <a:latin typeface="Courier New"/>
                <a:cs typeface="Courier New"/>
              </a:rPr>
              <a:t>!is_numeric($investment) </a:t>
            </a:r>
            <a:r>
              <a:rPr sz="2550" b="1" spc="-340" dirty="0">
                <a:latin typeface="Courier New"/>
                <a:cs typeface="Courier New"/>
              </a:rPr>
              <a:t>)	{</a:t>
            </a:r>
            <a:endParaRPr sz="2550">
              <a:latin typeface="Courier New"/>
              <a:cs typeface="Courier New"/>
            </a:endParaRPr>
          </a:p>
          <a:p>
            <a:pPr marL="1052195">
              <a:lnSpc>
                <a:spcPts val="2930"/>
              </a:lnSpc>
            </a:pPr>
            <a:r>
              <a:rPr sz="2550" b="1" spc="-335" dirty="0">
                <a:latin typeface="Courier New"/>
                <a:cs typeface="Courier New"/>
              </a:rPr>
              <a:t>$message </a:t>
            </a:r>
            <a:r>
              <a:rPr sz="2550" b="1" spc="-340" dirty="0">
                <a:latin typeface="Courier New"/>
                <a:cs typeface="Courier New"/>
              </a:rPr>
              <a:t>= 'Investment </a:t>
            </a:r>
            <a:r>
              <a:rPr sz="2550" b="1" spc="-335" dirty="0">
                <a:latin typeface="Courier New"/>
                <a:cs typeface="Courier New"/>
              </a:rPr>
              <a:t>must </a:t>
            </a:r>
            <a:r>
              <a:rPr sz="2550" b="1" spc="-330" dirty="0">
                <a:latin typeface="Courier New"/>
                <a:cs typeface="Courier New"/>
              </a:rPr>
              <a:t>be </a:t>
            </a:r>
            <a:r>
              <a:rPr sz="2550" b="1" spc="-340" dirty="0">
                <a:latin typeface="Courier New"/>
                <a:cs typeface="Courier New"/>
              </a:rPr>
              <a:t>a </a:t>
            </a:r>
            <a:r>
              <a:rPr sz="2550" b="1" spc="-335" dirty="0">
                <a:latin typeface="Courier New"/>
                <a:cs typeface="Courier New"/>
              </a:rPr>
              <a:t>valid</a:t>
            </a:r>
            <a:r>
              <a:rPr sz="2550" b="1" spc="-275" dirty="0">
                <a:latin typeface="Courier New"/>
                <a:cs typeface="Courier New"/>
              </a:rPr>
              <a:t> </a:t>
            </a:r>
            <a:r>
              <a:rPr sz="2550" b="1" spc="-340" dirty="0">
                <a:latin typeface="Courier New"/>
                <a:cs typeface="Courier New"/>
              </a:rPr>
              <a:t>number.';</a:t>
            </a:r>
            <a:endParaRPr sz="2550">
              <a:latin typeface="Courier New"/>
              <a:cs typeface="Courier New"/>
            </a:endParaRPr>
          </a:p>
          <a:p>
            <a:pPr marL="447040">
              <a:lnSpc>
                <a:spcPts val="2930"/>
              </a:lnSpc>
              <a:tabLst>
                <a:tab pos="5323205" algn="l"/>
              </a:tabLst>
            </a:pPr>
            <a:r>
              <a:rPr sz="2550" b="1" spc="-340" dirty="0">
                <a:latin typeface="Courier New"/>
                <a:cs typeface="Courier New"/>
              </a:rPr>
              <a:t>} </a:t>
            </a:r>
            <a:r>
              <a:rPr sz="2550" b="1" spc="-335" dirty="0">
                <a:latin typeface="Courier New"/>
                <a:cs typeface="Courier New"/>
              </a:rPr>
              <a:t>else </a:t>
            </a:r>
            <a:r>
              <a:rPr sz="2550" b="1" spc="-330" dirty="0">
                <a:latin typeface="Courier New"/>
                <a:cs typeface="Courier New"/>
              </a:rPr>
              <a:t>if </a:t>
            </a:r>
            <a:r>
              <a:rPr sz="2550" b="1" spc="-340" dirty="0">
                <a:latin typeface="Courier New"/>
                <a:cs typeface="Courier New"/>
              </a:rPr>
              <a:t>( $investment </a:t>
            </a:r>
            <a:r>
              <a:rPr sz="2550" b="1" spc="-350" dirty="0">
                <a:latin typeface="Courier New"/>
                <a:cs typeface="Courier New"/>
              </a:rPr>
              <a:t>&lt;=</a:t>
            </a:r>
            <a:r>
              <a:rPr sz="2550" b="1" spc="-160" dirty="0">
                <a:latin typeface="Courier New"/>
                <a:cs typeface="Courier New"/>
              </a:rPr>
              <a:t> </a:t>
            </a:r>
            <a:r>
              <a:rPr sz="2550" b="1" spc="-340" dirty="0">
                <a:latin typeface="Courier New"/>
                <a:cs typeface="Courier New"/>
              </a:rPr>
              <a:t>0</a:t>
            </a:r>
            <a:r>
              <a:rPr sz="2550" b="1" spc="-335" dirty="0">
                <a:latin typeface="Courier New"/>
                <a:cs typeface="Courier New"/>
              </a:rPr>
              <a:t> </a:t>
            </a:r>
            <a:r>
              <a:rPr sz="2550" b="1" spc="-340" dirty="0">
                <a:latin typeface="Courier New"/>
                <a:cs typeface="Courier New"/>
              </a:rPr>
              <a:t>)	{</a:t>
            </a:r>
            <a:endParaRPr sz="2550">
              <a:latin typeface="Courier New"/>
              <a:cs typeface="Courier New"/>
            </a:endParaRPr>
          </a:p>
          <a:p>
            <a:pPr marL="1052195">
              <a:lnSpc>
                <a:spcPts val="2900"/>
              </a:lnSpc>
            </a:pPr>
            <a:r>
              <a:rPr sz="2550" b="1" spc="-335" dirty="0">
                <a:latin typeface="Courier New"/>
                <a:cs typeface="Courier New"/>
              </a:rPr>
              <a:t>$message </a:t>
            </a:r>
            <a:r>
              <a:rPr sz="2550" b="1" spc="-340" dirty="0">
                <a:latin typeface="Courier New"/>
                <a:cs typeface="Courier New"/>
              </a:rPr>
              <a:t>= 'Investment </a:t>
            </a:r>
            <a:r>
              <a:rPr sz="2550" b="1" spc="-335" dirty="0">
                <a:latin typeface="Courier New"/>
                <a:cs typeface="Courier New"/>
              </a:rPr>
              <a:t>must </a:t>
            </a:r>
            <a:r>
              <a:rPr sz="2550" b="1" spc="-330" dirty="0">
                <a:latin typeface="Courier New"/>
                <a:cs typeface="Courier New"/>
              </a:rPr>
              <a:t>be </a:t>
            </a:r>
            <a:r>
              <a:rPr sz="2550" b="1" spc="-335" dirty="0">
                <a:latin typeface="Courier New"/>
                <a:cs typeface="Courier New"/>
              </a:rPr>
              <a:t>greater than</a:t>
            </a:r>
            <a:r>
              <a:rPr sz="2550" b="1" spc="-290" dirty="0">
                <a:latin typeface="Courier New"/>
                <a:cs typeface="Courier New"/>
              </a:rPr>
              <a:t> </a:t>
            </a:r>
            <a:r>
              <a:rPr sz="2550" b="1" spc="-340" dirty="0">
                <a:latin typeface="Courier New"/>
                <a:cs typeface="Courier New"/>
              </a:rPr>
              <a:t>zero.';</a:t>
            </a:r>
            <a:endParaRPr sz="2550">
              <a:latin typeface="Courier New"/>
              <a:cs typeface="Courier New"/>
            </a:endParaRPr>
          </a:p>
          <a:p>
            <a:pPr marL="447040">
              <a:lnSpc>
                <a:spcPts val="2930"/>
              </a:lnSpc>
            </a:pPr>
            <a:r>
              <a:rPr sz="2550" b="1" spc="-340" dirty="0">
                <a:latin typeface="Courier New"/>
                <a:cs typeface="Courier New"/>
              </a:rPr>
              <a:t>} </a:t>
            </a:r>
            <a:r>
              <a:rPr sz="2550" b="1" spc="-335" dirty="0">
                <a:latin typeface="Courier New"/>
                <a:cs typeface="Courier New"/>
              </a:rPr>
              <a:t>else</a:t>
            </a:r>
            <a:r>
              <a:rPr sz="2550" b="1" spc="-345" dirty="0">
                <a:latin typeface="Courier New"/>
                <a:cs typeface="Courier New"/>
              </a:rPr>
              <a:t> </a:t>
            </a:r>
            <a:r>
              <a:rPr sz="2550" b="1" spc="-340" dirty="0">
                <a:latin typeface="Courier New"/>
                <a:cs typeface="Courier New"/>
              </a:rPr>
              <a:t>{</a:t>
            </a:r>
            <a:endParaRPr sz="2550">
              <a:latin typeface="Courier New"/>
              <a:cs typeface="Courier New"/>
            </a:endParaRPr>
          </a:p>
          <a:p>
            <a:pPr marL="1052195">
              <a:lnSpc>
                <a:spcPts val="2930"/>
              </a:lnSpc>
            </a:pPr>
            <a:r>
              <a:rPr sz="2550" b="1" spc="-335" dirty="0">
                <a:latin typeface="Courier New"/>
                <a:cs typeface="Courier New"/>
              </a:rPr>
              <a:t>$message </a:t>
            </a:r>
            <a:r>
              <a:rPr sz="2550" b="1" spc="-340" dirty="0">
                <a:latin typeface="Courier New"/>
                <a:cs typeface="Courier New"/>
              </a:rPr>
              <a:t>= 'Investment </a:t>
            </a:r>
            <a:r>
              <a:rPr sz="2550" b="1" spc="-350" dirty="0">
                <a:latin typeface="Courier New"/>
                <a:cs typeface="Courier New"/>
              </a:rPr>
              <a:t>is</a:t>
            </a:r>
            <a:r>
              <a:rPr sz="2550" b="1" spc="-220" dirty="0">
                <a:latin typeface="Courier New"/>
                <a:cs typeface="Courier New"/>
              </a:rPr>
              <a:t> </a:t>
            </a:r>
            <a:r>
              <a:rPr sz="2550" b="1" spc="-340" dirty="0">
                <a:latin typeface="Courier New"/>
                <a:cs typeface="Courier New"/>
              </a:rPr>
              <a:t>valid!';</a:t>
            </a:r>
            <a:endParaRPr sz="2550">
              <a:latin typeface="Courier New"/>
              <a:cs typeface="Courier New"/>
            </a:endParaRPr>
          </a:p>
          <a:p>
            <a:pPr marL="447040">
              <a:lnSpc>
                <a:spcPts val="2980"/>
              </a:lnSpc>
            </a:pPr>
            <a:r>
              <a:rPr sz="2550" b="1" spc="-340" dirty="0">
                <a:latin typeface="Courier New"/>
                <a:cs typeface="Courier New"/>
              </a:rPr>
              <a:t>}</a:t>
            </a:r>
            <a:endParaRPr sz="25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6303264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568134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Conditional </a:t>
            </a:r>
            <a:r>
              <a:rPr spc="-5" dirty="0"/>
              <a:t>Statements</a:t>
            </a:r>
            <a:r>
              <a:rPr spc="5" dirty="0"/>
              <a:t> </a:t>
            </a:r>
            <a:r>
              <a:rPr spc="15" dirty="0"/>
              <a:t>(if)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23365" y="1000635"/>
            <a:ext cx="7856855" cy="320802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2800" b="1" spc="20" dirty="0">
                <a:solidFill>
                  <a:srgbClr val="0033CC"/>
                </a:solidFill>
                <a:latin typeface="Arial"/>
                <a:cs typeface="Arial"/>
              </a:rPr>
              <a:t>A </a:t>
            </a:r>
            <a:r>
              <a:rPr sz="2800" b="1" spc="10" dirty="0">
                <a:solidFill>
                  <a:srgbClr val="0033CC"/>
                </a:solidFill>
                <a:latin typeface="Arial"/>
                <a:cs typeface="Arial"/>
              </a:rPr>
              <a:t>compound </a:t>
            </a:r>
            <a:r>
              <a:rPr sz="2800" b="1" dirty="0">
                <a:solidFill>
                  <a:srgbClr val="0033CC"/>
                </a:solidFill>
                <a:latin typeface="Arial"/>
                <a:cs typeface="Arial"/>
              </a:rPr>
              <a:t>conditional</a:t>
            </a:r>
            <a:r>
              <a:rPr sz="2800" b="1" spc="-2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33CC"/>
                </a:solidFill>
                <a:latin typeface="Arial"/>
                <a:cs typeface="Arial"/>
              </a:rPr>
              <a:t>expression</a:t>
            </a:r>
            <a:endParaRPr sz="2800">
              <a:latin typeface="Arial"/>
              <a:cs typeface="Arial"/>
            </a:endParaRPr>
          </a:p>
          <a:p>
            <a:pPr marL="419734">
              <a:lnSpc>
                <a:spcPts val="2185"/>
              </a:lnSpc>
              <a:spcBef>
                <a:spcPts val="540"/>
              </a:spcBef>
            </a:pPr>
            <a:r>
              <a:rPr sz="1850" b="1" spc="-5" dirty="0">
                <a:latin typeface="Courier New"/>
                <a:cs typeface="Courier New"/>
              </a:rPr>
              <a:t>if </a:t>
            </a:r>
            <a:r>
              <a:rPr sz="1850" b="1" spc="5" dirty="0">
                <a:latin typeface="Courier New"/>
                <a:cs typeface="Courier New"/>
              </a:rPr>
              <a:t>( </a:t>
            </a:r>
            <a:r>
              <a:rPr sz="1850" b="1" spc="10" dirty="0">
                <a:latin typeface="Courier New"/>
                <a:cs typeface="Courier New"/>
              </a:rPr>
              <a:t>empty($investment) </a:t>
            </a:r>
            <a:r>
              <a:rPr sz="1850" b="1" spc="-5" dirty="0">
                <a:latin typeface="Courier New"/>
                <a:cs typeface="Courier New"/>
              </a:rPr>
              <a:t>||</a:t>
            </a:r>
            <a:r>
              <a:rPr sz="1850" b="1" spc="8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!is_numeric($investment)</a:t>
            </a:r>
            <a:endParaRPr sz="1850">
              <a:latin typeface="Courier New"/>
              <a:cs typeface="Courier New"/>
            </a:endParaRPr>
          </a:p>
          <a:p>
            <a:pPr marL="3849370">
              <a:lnSpc>
                <a:spcPts val="2130"/>
              </a:lnSpc>
            </a:pPr>
            <a:r>
              <a:rPr sz="1850" b="1" spc="-5" dirty="0">
                <a:latin typeface="Courier New"/>
                <a:cs typeface="Courier New"/>
              </a:rPr>
              <a:t>|| </a:t>
            </a:r>
            <a:r>
              <a:rPr sz="1850" b="1" spc="5" dirty="0">
                <a:latin typeface="Courier New"/>
                <a:cs typeface="Courier New"/>
              </a:rPr>
              <a:t>$investment </a:t>
            </a:r>
            <a:r>
              <a:rPr sz="1850" b="1" spc="15" dirty="0">
                <a:latin typeface="Courier New"/>
                <a:cs typeface="Courier New"/>
              </a:rPr>
              <a:t>&lt;= </a:t>
            </a:r>
            <a:r>
              <a:rPr sz="1850" b="1" spc="5" dirty="0">
                <a:latin typeface="Courier New"/>
                <a:cs typeface="Courier New"/>
              </a:rPr>
              <a:t>0 )</a:t>
            </a:r>
            <a:r>
              <a:rPr sz="1850" b="1" spc="55" dirty="0">
                <a:latin typeface="Courier New"/>
                <a:cs typeface="Courier New"/>
              </a:rPr>
              <a:t> </a:t>
            </a:r>
            <a:r>
              <a:rPr sz="1850" b="1" spc="5" dirty="0">
                <a:latin typeface="Courier New"/>
                <a:cs typeface="Courier New"/>
              </a:rPr>
              <a:t>{</a:t>
            </a:r>
            <a:endParaRPr sz="1850">
              <a:latin typeface="Courier New"/>
              <a:cs typeface="Courier New"/>
            </a:endParaRPr>
          </a:p>
          <a:p>
            <a:pPr marL="986790">
              <a:lnSpc>
                <a:spcPts val="2110"/>
              </a:lnSpc>
            </a:pPr>
            <a:r>
              <a:rPr sz="1850" b="1" spc="10" dirty="0">
                <a:latin typeface="Courier New"/>
                <a:cs typeface="Courier New"/>
              </a:rPr>
              <a:t>$message</a:t>
            </a:r>
            <a:r>
              <a:rPr sz="1850" b="1" dirty="0">
                <a:latin typeface="Courier New"/>
                <a:cs typeface="Courier New"/>
              </a:rPr>
              <a:t> </a:t>
            </a:r>
            <a:r>
              <a:rPr sz="1850" b="1" spc="5" dirty="0">
                <a:latin typeface="Courier New"/>
                <a:cs typeface="Courier New"/>
              </a:rPr>
              <a:t>=</a:t>
            </a:r>
            <a:endParaRPr sz="1850">
              <a:latin typeface="Courier New"/>
              <a:cs typeface="Courier New"/>
            </a:endParaRPr>
          </a:p>
          <a:p>
            <a:pPr marL="1561465">
              <a:lnSpc>
                <a:spcPts val="2130"/>
              </a:lnSpc>
            </a:pPr>
            <a:r>
              <a:rPr sz="1850" b="1" spc="10" dirty="0">
                <a:latin typeface="Courier New"/>
                <a:cs typeface="Courier New"/>
              </a:rPr>
              <a:t>'Investment must </a:t>
            </a:r>
            <a:r>
              <a:rPr sz="1850" b="1" spc="15" dirty="0">
                <a:latin typeface="Courier New"/>
                <a:cs typeface="Courier New"/>
              </a:rPr>
              <a:t>be </a:t>
            </a:r>
            <a:r>
              <a:rPr sz="1850" b="1" spc="5" dirty="0">
                <a:latin typeface="Courier New"/>
                <a:cs typeface="Courier New"/>
              </a:rPr>
              <a:t>a valid number &gt;</a:t>
            </a:r>
            <a:r>
              <a:rPr sz="1850" b="1" spc="7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zero.';</a:t>
            </a:r>
            <a:endParaRPr sz="1850">
              <a:latin typeface="Courier New"/>
              <a:cs typeface="Courier New"/>
            </a:endParaRPr>
          </a:p>
          <a:p>
            <a:pPr marL="419734">
              <a:lnSpc>
                <a:spcPts val="2185"/>
              </a:lnSpc>
            </a:pPr>
            <a:r>
              <a:rPr sz="1850" b="1" spc="5" dirty="0">
                <a:latin typeface="Courier New"/>
                <a:cs typeface="Courier New"/>
              </a:rPr>
              <a:t>}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800" b="1" spc="20" dirty="0">
                <a:solidFill>
                  <a:srgbClr val="0033CC"/>
                </a:solidFill>
                <a:latin typeface="Arial"/>
                <a:cs typeface="Arial"/>
              </a:rPr>
              <a:t>A </a:t>
            </a:r>
            <a:r>
              <a:rPr sz="2800" b="1" spc="10" dirty="0">
                <a:solidFill>
                  <a:srgbClr val="0033CC"/>
                </a:solidFill>
                <a:latin typeface="Arial"/>
                <a:cs typeface="Arial"/>
              </a:rPr>
              <a:t>nested if</a:t>
            </a:r>
            <a:r>
              <a:rPr sz="2800" b="1" spc="-9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b="1" spc="5" dirty="0">
                <a:solidFill>
                  <a:srgbClr val="0033CC"/>
                </a:solidFill>
                <a:latin typeface="Arial"/>
                <a:cs typeface="Arial"/>
              </a:rPr>
              <a:t>statement</a:t>
            </a:r>
            <a:endParaRPr sz="2800">
              <a:latin typeface="Arial"/>
              <a:cs typeface="Arial"/>
            </a:endParaRPr>
          </a:p>
          <a:p>
            <a:pPr marL="419734">
              <a:lnSpc>
                <a:spcPts val="2165"/>
              </a:lnSpc>
              <a:spcBef>
                <a:spcPts val="585"/>
              </a:spcBef>
            </a:pPr>
            <a:r>
              <a:rPr sz="1850" b="1" spc="-5" dirty="0">
                <a:latin typeface="Courier New"/>
                <a:cs typeface="Courier New"/>
              </a:rPr>
              <a:t>if </a:t>
            </a:r>
            <a:r>
              <a:rPr sz="1850" b="1" spc="5" dirty="0">
                <a:latin typeface="Courier New"/>
                <a:cs typeface="Courier New"/>
              </a:rPr>
              <a:t>( </a:t>
            </a:r>
            <a:r>
              <a:rPr sz="1850" b="1" spc="10" dirty="0">
                <a:latin typeface="Courier New"/>
                <a:cs typeface="Courier New"/>
              </a:rPr>
              <a:t>empty($months) </a:t>
            </a:r>
            <a:r>
              <a:rPr sz="1850" b="1" spc="15" dirty="0">
                <a:latin typeface="Courier New"/>
                <a:cs typeface="Courier New"/>
              </a:rPr>
              <a:t>||</a:t>
            </a:r>
            <a:r>
              <a:rPr sz="1850" b="1" spc="55" dirty="0">
                <a:latin typeface="Courier New"/>
                <a:cs typeface="Courier New"/>
              </a:rPr>
              <a:t> </a:t>
            </a:r>
            <a:r>
              <a:rPr sz="1850" b="1" spc="5" dirty="0">
                <a:latin typeface="Courier New"/>
                <a:cs typeface="Courier New"/>
              </a:rPr>
              <a:t>!is_numeric($months)</a:t>
            </a:r>
            <a:endParaRPr sz="1850">
              <a:latin typeface="Courier New"/>
              <a:cs typeface="Courier New"/>
            </a:endParaRPr>
          </a:p>
          <a:p>
            <a:pPr marL="3276600">
              <a:lnSpc>
                <a:spcPts val="2165"/>
              </a:lnSpc>
            </a:pPr>
            <a:r>
              <a:rPr sz="1850" b="1" spc="15" dirty="0">
                <a:latin typeface="Courier New"/>
                <a:cs typeface="Courier New"/>
              </a:rPr>
              <a:t>|| </a:t>
            </a:r>
            <a:r>
              <a:rPr sz="1850" b="1" spc="10" dirty="0">
                <a:latin typeface="Courier New"/>
                <a:cs typeface="Courier New"/>
              </a:rPr>
              <a:t>$months </a:t>
            </a:r>
            <a:r>
              <a:rPr sz="1850" b="1" spc="15" dirty="0">
                <a:latin typeface="Courier New"/>
                <a:cs typeface="Courier New"/>
              </a:rPr>
              <a:t>&lt;= </a:t>
            </a:r>
            <a:r>
              <a:rPr sz="1850" b="1" spc="5" dirty="0">
                <a:latin typeface="Courier New"/>
                <a:cs typeface="Courier New"/>
              </a:rPr>
              <a:t>0 )</a:t>
            </a:r>
            <a:r>
              <a:rPr sz="1850" b="1" spc="-5" dirty="0">
                <a:latin typeface="Courier New"/>
                <a:cs typeface="Courier New"/>
              </a:rPr>
              <a:t> </a:t>
            </a:r>
            <a:r>
              <a:rPr sz="1850" b="1" spc="5" dirty="0">
                <a:latin typeface="Courier New"/>
                <a:cs typeface="Courier New"/>
              </a:rPr>
              <a:t>{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  <p:sp>
        <p:nvSpPr>
          <p:cNvPr id="13" name="object 13"/>
          <p:cNvSpPr txBox="1"/>
          <p:nvPr/>
        </p:nvSpPr>
        <p:spPr>
          <a:xfrm>
            <a:off x="8285216" y="4167891"/>
            <a:ext cx="131572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b="1" spc="5" dirty="0">
                <a:latin typeface="Courier New"/>
                <a:cs typeface="Courier New"/>
              </a:rPr>
              <a:t>&gt;</a:t>
            </a:r>
            <a:r>
              <a:rPr sz="1850" b="1" spc="-2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zero.';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0513" y="4167891"/>
            <a:ext cx="6730365" cy="2467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79755">
              <a:lnSpc>
                <a:spcPts val="2185"/>
              </a:lnSpc>
              <a:spcBef>
                <a:spcPts val="105"/>
              </a:spcBef>
            </a:pPr>
            <a:r>
              <a:rPr sz="1850" b="1" spc="10" dirty="0">
                <a:latin typeface="Courier New"/>
                <a:cs typeface="Courier New"/>
              </a:rPr>
              <a:t>$message </a:t>
            </a:r>
            <a:r>
              <a:rPr sz="1850" b="1" spc="5" dirty="0">
                <a:latin typeface="Courier New"/>
                <a:cs typeface="Courier New"/>
              </a:rPr>
              <a:t>= </a:t>
            </a:r>
            <a:r>
              <a:rPr sz="1850" b="1" spc="10" dirty="0">
                <a:latin typeface="Courier New"/>
                <a:cs typeface="Courier New"/>
              </a:rPr>
              <a:t>'Please enter </a:t>
            </a:r>
            <a:r>
              <a:rPr sz="1850" b="1" spc="5" dirty="0">
                <a:latin typeface="Courier New"/>
                <a:cs typeface="Courier New"/>
              </a:rPr>
              <a:t>a </a:t>
            </a:r>
            <a:r>
              <a:rPr sz="1850" b="1" spc="15" dirty="0">
                <a:latin typeface="Courier New"/>
                <a:cs typeface="Courier New"/>
              </a:rPr>
              <a:t>number </a:t>
            </a:r>
            <a:r>
              <a:rPr sz="1850" b="1" spc="-5" dirty="0">
                <a:latin typeface="Courier New"/>
                <a:cs typeface="Courier New"/>
              </a:rPr>
              <a:t>of</a:t>
            </a:r>
            <a:r>
              <a:rPr sz="1850" b="1" spc="30" dirty="0">
                <a:latin typeface="Courier New"/>
                <a:cs typeface="Courier New"/>
              </a:rPr>
              <a:t> </a:t>
            </a:r>
            <a:r>
              <a:rPr sz="1850" b="1" spc="5" dirty="0">
                <a:latin typeface="Courier New"/>
                <a:cs typeface="Courier New"/>
              </a:rPr>
              <a:t>months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1850" b="1" spc="5" dirty="0">
                <a:latin typeface="Courier New"/>
                <a:cs typeface="Courier New"/>
              </a:rPr>
              <a:t>} </a:t>
            </a:r>
            <a:r>
              <a:rPr sz="1850" b="1" spc="10" dirty="0">
                <a:latin typeface="Courier New"/>
                <a:cs typeface="Courier New"/>
              </a:rPr>
              <a:t>else</a:t>
            </a:r>
            <a:r>
              <a:rPr sz="1850" b="1" dirty="0">
                <a:latin typeface="Courier New"/>
                <a:cs typeface="Courier New"/>
              </a:rPr>
              <a:t> </a:t>
            </a:r>
            <a:r>
              <a:rPr sz="1850" b="1" spc="5" dirty="0">
                <a:latin typeface="Courier New"/>
                <a:cs typeface="Courier New"/>
              </a:rPr>
              <a:t>{</a:t>
            </a:r>
            <a:endParaRPr sz="1850">
              <a:latin typeface="Courier New"/>
              <a:cs typeface="Courier New"/>
            </a:endParaRPr>
          </a:p>
          <a:p>
            <a:pPr marL="579755" marR="2999740">
              <a:lnSpc>
                <a:spcPts val="2110"/>
              </a:lnSpc>
              <a:spcBef>
                <a:spcPts val="110"/>
              </a:spcBef>
            </a:pPr>
            <a:r>
              <a:rPr sz="1850" b="1" spc="15" dirty="0">
                <a:latin typeface="Courier New"/>
                <a:cs typeface="Courier New"/>
              </a:rPr>
              <a:t>$years </a:t>
            </a:r>
            <a:r>
              <a:rPr sz="1850" b="1" spc="5" dirty="0">
                <a:latin typeface="Courier New"/>
                <a:cs typeface="Courier New"/>
              </a:rPr>
              <a:t>= </a:t>
            </a:r>
            <a:r>
              <a:rPr sz="1850" b="1" spc="10" dirty="0">
                <a:latin typeface="Courier New"/>
                <a:cs typeface="Courier New"/>
              </a:rPr>
              <a:t>$months </a:t>
            </a:r>
            <a:r>
              <a:rPr sz="1850" b="1" spc="5" dirty="0">
                <a:latin typeface="Courier New"/>
                <a:cs typeface="Courier New"/>
              </a:rPr>
              <a:t>/ 12;  </a:t>
            </a:r>
            <a:r>
              <a:rPr sz="1850" b="1" spc="15" dirty="0">
                <a:latin typeface="Courier New"/>
                <a:cs typeface="Courier New"/>
              </a:rPr>
              <a:t>if </a:t>
            </a:r>
            <a:r>
              <a:rPr sz="1850" b="1" spc="5" dirty="0">
                <a:latin typeface="Courier New"/>
                <a:cs typeface="Courier New"/>
              </a:rPr>
              <a:t>( $years &gt; 1 )</a:t>
            </a:r>
            <a:r>
              <a:rPr sz="1850" b="1" spc="20" dirty="0">
                <a:latin typeface="Courier New"/>
                <a:cs typeface="Courier New"/>
              </a:rPr>
              <a:t> </a:t>
            </a:r>
            <a:r>
              <a:rPr sz="1850" b="1" spc="5" dirty="0">
                <a:latin typeface="Courier New"/>
                <a:cs typeface="Courier New"/>
              </a:rPr>
              <a:t>{</a:t>
            </a:r>
            <a:endParaRPr sz="1850">
              <a:latin typeface="Courier New"/>
              <a:cs typeface="Courier New"/>
            </a:endParaRPr>
          </a:p>
          <a:p>
            <a:pPr marL="1152525">
              <a:lnSpc>
                <a:spcPts val="2045"/>
              </a:lnSpc>
            </a:pPr>
            <a:r>
              <a:rPr sz="1850" b="1" spc="10" dirty="0">
                <a:latin typeface="Courier New"/>
                <a:cs typeface="Courier New"/>
              </a:rPr>
              <a:t>$message </a:t>
            </a:r>
            <a:r>
              <a:rPr sz="1850" b="1" spc="5" dirty="0">
                <a:latin typeface="Courier New"/>
                <a:cs typeface="Courier New"/>
              </a:rPr>
              <a:t>= </a:t>
            </a:r>
            <a:r>
              <a:rPr sz="1850" b="1" spc="15" dirty="0">
                <a:latin typeface="Courier New"/>
                <a:cs typeface="Courier New"/>
              </a:rPr>
              <a:t>'A long-term</a:t>
            </a:r>
            <a:r>
              <a:rPr sz="1850" b="1" spc="-3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investment.';</a:t>
            </a:r>
            <a:endParaRPr sz="1850">
              <a:latin typeface="Courier New"/>
              <a:cs typeface="Courier New"/>
            </a:endParaRPr>
          </a:p>
          <a:p>
            <a:pPr marL="579755">
              <a:lnSpc>
                <a:spcPts val="2130"/>
              </a:lnSpc>
            </a:pPr>
            <a:r>
              <a:rPr sz="1850" b="1" spc="5" dirty="0">
                <a:latin typeface="Courier New"/>
                <a:cs typeface="Courier New"/>
              </a:rPr>
              <a:t>} </a:t>
            </a:r>
            <a:r>
              <a:rPr sz="1850" b="1" spc="10" dirty="0">
                <a:latin typeface="Courier New"/>
                <a:cs typeface="Courier New"/>
              </a:rPr>
              <a:t>else</a:t>
            </a:r>
            <a:r>
              <a:rPr sz="1850" b="1" spc="35" dirty="0">
                <a:latin typeface="Courier New"/>
                <a:cs typeface="Courier New"/>
              </a:rPr>
              <a:t> </a:t>
            </a:r>
            <a:r>
              <a:rPr sz="1850" b="1" spc="5" dirty="0">
                <a:latin typeface="Courier New"/>
                <a:cs typeface="Courier New"/>
              </a:rPr>
              <a:t>{</a:t>
            </a:r>
            <a:endParaRPr sz="1850">
              <a:latin typeface="Courier New"/>
              <a:cs typeface="Courier New"/>
            </a:endParaRPr>
          </a:p>
          <a:p>
            <a:pPr marL="1152525">
              <a:lnSpc>
                <a:spcPts val="2130"/>
              </a:lnSpc>
            </a:pPr>
            <a:r>
              <a:rPr sz="1850" b="1" spc="10" dirty="0">
                <a:latin typeface="Courier New"/>
                <a:cs typeface="Courier New"/>
              </a:rPr>
              <a:t>$message </a:t>
            </a:r>
            <a:r>
              <a:rPr sz="1850" b="1" spc="5" dirty="0">
                <a:latin typeface="Courier New"/>
                <a:cs typeface="Courier New"/>
              </a:rPr>
              <a:t>= </a:t>
            </a:r>
            <a:r>
              <a:rPr sz="1850" b="1" spc="15" dirty="0">
                <a:latin typeface="Courier New"/>
                <a:cs typeface="Courier New"/>
              </a:rPr>
              <a:t>'A short-term</a:t>
            </a:r>
            <a:r>
              <a:rPr sz="1850" b="1" spc="5" dirty="0">
                <a:latin typeface="Courier New"/>
                <a:cs typeface="Courier New"/>
              </a:rPr>
              <a:t> investment.';</a:t>
            </a:r>
            <a:endParaRPr sz="1850">
              <a:latin typeface="Courier New"/>
              <a:cs typeface="Courier New"/>
            </a:endParaRPr>
          </a:p>
          <a:p>
            <a:pPr marL="579755">
              <a:lnSpc>
                <a:spcPts val="2110"/>
              </a:lnSpc>
            </a:pPr>
            <a:r>
              <a:rPr sz="1850" b="1" spc="5" dirty="0">
                <a:latin typeface="Courier New"/>
                <a:cs typeface="Courier New"/>
              </a:rPr>
              <a:t>}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ts val="2165"/>
              </a:lnSpc>
            </a:pPr>
            <a:r>
              <a:rPr sz="1850" b="1" spc="5" dirty="0">
                <a:latin typeface="Courier New"/>
                <a:cs typeface="Courier New"/>
              </a:rPr>
              <a:t>}</a:t>
            </a:r>
            <a:endParaRPr sz="1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3880104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32600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Loops</a:t>
            </a:r>
            <a:r>
              <a:rPr spc="-20" dirty="0"/>
              <a:t> </a:t>
            </a:r>
            <a:r>
              <a:rPr spc="5" dirty="0"/>
              <a:t>(while)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1444" y="1141293"/>
            <a:ext cx="9134475" cy="2473960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3100" b="1" dirty="0">
                <a:solidFill>
                  <a:srgbClr val="0033CC"/>
                </a:solidFill>
                <a:latin typeface="Arial"/>
                <a:cs typeface="Arial"/>
              </a:rPr>
              <a:t>A </a:t>
            </a:r>
            <a:r>
              <a:rPr sz="3100" b="1" spc="10" dirty="0">
                <a:solidFill>
                  <a:srgbClr val="0033CC"/>
                </a:solidFill>
                <a:latin typeface="Arial"/>
                <a:cs typeface="Arial"/>
              </a:rPr>
              <a:t>while </a:t>
            </a:r>
            <a:r>
              <a:rPr sz="3100" b="1" dirty="0">
                <a:solidFill>
                  <a:srgbClr val="0033CC"/>
                </a:solidFill>
                <a:latin typeface="Arial"/>
                <a:cs typeface="Arial"/>
              </a:rPr>
              <a:t>loop </a:t>
            </a:r>
            <a:r>
              <a:rPr sz="3100" b="1" spc="-10" dirty="0">
                <a:solidFill>
                  <a:srgbClr val="0033CC"/>
                </a:solidFill>
                <a:latin typeface="Arial"/>
                <a:cs typeface="Arial"/>
              </a:rPr>
              <a:t>that stores the </a:t>
            </a:r>
            <a:r>
              <a:rPr sz="3100" b="1" spc="-15" dirty="0">
                <a:solidFill>
                  <a:srgbClr val="0033CC"/>
                </a:solidFill>
                <a:latin typeface="Arial"/>
                <a:cs typeface="Arial"/>
              </a:rPr>
              <a:t>numbers </a:t>
            </a:r>
            <a:r>
              <a:rPr sz="3100" b="1" dirty="0">
                <a:solidFill>
                  <a:srgbClr val="0033CC"/>
                </a:solidFill>
                <a:latin typeface="Arial"/>
                <a:cs typeface="Arial"/>
              </a:rPr>
              <a:t>1 </a:t>
            </a:r>
            <a:r>
              <a:rPr sz="3100" b="1" spc="-10" dirty="0">
                <a:solidFill>
                  <a:srgbClr val="0033CC"/>
                </a:solidFill>
                <a:latin typeface="Arial"/>
                <a:cs typeface="Arial"/>
              </a:rPr>
              <a:t>through</a:t>
            </a:r>
            <a:r>
              <a:rPr sz="3100" b="1" spc="-34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100" b="1" dirty="0">
                <a:solidFill>
                  <a:srgbClr val="0033CC"/>
                </a:solidFill>
                <a:latin typeface="Arial"/>
                <a:cs typeface="Arial"/>
              </a:rPr>
              <a:t>5</a:t>
            </a:r>
            <a:endParaRPr sz="3100">
              <a:latin typeface="Arial"/>
              <a:cs typeface="Arial"/>
            </a:endParaRPr>
          </a:p>
          <a:p>
            <a:pPr marL="458470">
              <a:lnSpc>
                <a:spcPts val="2380"/>
              </a:lnSpc>
              <a:spcBef>
                <a:spcPts val="620"/>
              </a:spcBef>
            </a:pPr>
            <a:r>
              <a:rPr sz="2000" b="1" spc="20" dirty="0">
                <a:latin typeface="Courier New"/>
                <a:cs typeface="Courier New"/>
              </a:rPr>
              <a:t>$counter =</a:t>
            </a:r>
            <a:r>
              <a:rPr sz="2000" b="1" spc="70" dirty="0">
                <a:latin typeface="Courier New"/>
                <a:cs typeface="Courier New"/>
              </a:rPr>
              <a:t> </a:t>
            </a:r>
            <a:r>
              <a:rPr sz="2000" b="1" spc="30" dirty="0">
                <a:latin typeface="Courier New"/>
                <a:cs typeface="Courier New"/>
              </a:rPr>
              <a:t>1;</a:t>
            </a:r>
            <a:endParaRPr sz="2000">
              <a:latin typeface="Courier New"/>
              <a:cs typeface="Courier New"/>
            </a:endParaRPr>
          </a:p>
          <a:p>
            <a:pPr marL="458470">
              <a:lnSpc>
                <a:spcPts val="2335"/>
              </a:lnSpc>
            </a:pPr>
            <a:r>
              <a:rPr sz="2000" b="1" spc="20" dirty="0">
                <a:latin typeface="Courier New"/>
                <a:cs typeface="Courier New"/>
              </a:rPr>
              <a:t>while ($counter </a:t>
            </a:r>
            <a:r>
              <a:rPr sz="2000" b="1" spc="30" dirty="0">
                <a:latin typeface="Courier New"/>
                <a:cs typeface="Courier New"/>
              </a:rPr>
              <a:t>&lt;= 5)</a:t>
            </a:r>
            <a:r>
              <a:rPr sz="2000" b="1" spc="70" dirty="0">
                <a:latin typeface="Courier New"/>
                <a:cs typeface="Courier New"/>
              </a:rPr>
              <a:t> </a:t>
            </a:r>
            <a:r>
              <a:rPr sz="2000" b="1" spc="20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1080135">
              <a:lnSpc>
                <a:spcPts val="2310"/>
              </a:lnSpc>
            </a:pPr>
            <a:r>
              <a:rPr sz="2000" b="1" spc="25" dirty="0">
                <a:latin typeface="Courier New"/>
                <a:cs typeface="Courier New"/>
              </a:rPr>
              <a:t>$message </a:t>
            </a:r>
            <a:r>
              <a:rPr sz="2000" b="1" spc="20" dirty="0">
                <a:latin typeface="Courier New"/>
                <a:cs typeface="Courier New"/>
              </a:rPr>
              <a:t>= </a:t>
            </a:r>
            <a:r>
              <a:rPr sz="2000" b="1" spc="25" dirty="0">
                <a:latin typeface="Courier New"/>
                <a:cs typeface="Courier New"/>
              </a:rPr>
              <a:t>$message </a:t>
            </a:r>
            <a:r>
              <a:rPr sz="2000" b="1" spc="20" dirty="0">
                <a:latin typeface="Courier New"/>
                <a:cs typeface="Courier New"/>
              </a:rPr>
              <a:t>. </a:t>
            </a:r>
            <a:r>
              <a:rPr sz="2000" b="1" spc="25" dirty="0">
                <a:latin typeface="Courier New"/>
                <a:cs typeface="Courier New"/>
              </a:rPr>
              <a:t>$counter </a:t>
            </a:r>
            <a:r>
              <a:rPr sz="2000" b="1" spc="20" dirty="0">
                <a:latin typeface="Courier New"/>
                <a:cs typeface="Courier New"/>
              </a:rPr>
              <a:t>.</a:t>
            </a:r>
            <a:r>
              <a:rPr sz="2000" b="1" spc="114" dirty="0">
                <a:latin typeface="Courier New"/>
                <a:cs typeface="Courier New"/>
              </a:rPr>
              <a:t> </a:t>
            </a:r>
            <a:r>
              <a:rPr sz="2000" b="1" spc="30" dirty="0">
                <a:latin typeface="Courier New"/>
                <a:cs typeface="Courier New"/>
              </a:rPr>
              <a:t>'|';</a:t>
            </a:r>
            <a:endParaRPr sz="2000">
              <a:latin typeface="Courier New"/>
              <a:cs typeface="Courier New"/>
            </a:endParaRPr>
          </a:p>
          <a:p>
            <a:pPr marL="1080135">
              <a:lnSpc>
                <a:spcPts val="2335"/>
              </a:lnSpc>
            </a:pPr>
            <a:r>
              <a:rPr sz="2000" b="1" spc="30" dirty="0">
                <a:latin typeface="Courier New"/>
                <a:cs typeface="Courier New"/>
              </a:rPr>
              <a:t>$counter++;</a:t>
            </a:r>
            <a:endParaRPr sz="2000">
              <a:latin typeface="Courier New"/>
              <a:cs typeface="Courier New"/>
            </a:endParaRPr>
          </a:p>
          <a:p>
            <a:pPr marL="458470">
              <a:lnSpc>
                <a:spcPts val="2335"/>
              </a:lnSpc>
            </a:pPr>
            <a:r>
              <a:rPr sz="2000" b="1" spc="2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458470">
              <a:lnSpc>
                <a:spcPts val="2355"/>
              </a:lnSpc>
            </a:pPr>
            <a:r>
              <a:rPr sz="2000" b="1" spc="5" dirty="0">
                <a:latin typeface="Courier New"/>
                <a:cs typeface="Courier New"/>
              </a:rPr>
              <a:t>// </a:t>
            </a:r>
            <a:r>
              <a:rPr sz="2000" b="1" spc="20" dirty="0">
                <a:latin typeface="Courier New"/>
                <a:cs typeface="Courier New"/>
              </a:rPr>
              <a:t>$message =</a:t>
            </a:r>
            <a:r>
              <a:rPr sz="2000" b="1" spc="135" dirty="0">
                <a:latin typeface="Courier New"/>
                <a:cs typeface="Courier New"/>
              </a:rPr>
              <a:t> </a:t>
            </a:r>
            <a:r>
              <a:rPr sz="2000" b="1" spc="25" dirty="0">
                <a:latin typeface="Courier New"/>
                <a:cs typeface="Courier New"/>
              </a:rPr>
              <a:t>1|2|3|4|5|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3880104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326009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Loops</a:t>
            </a:r>
            <a:r>
              <a:rPr spc="-20" dirty="0"/>
              <a:t> </a:t>
            </a:r>
            <a:r>
              <a:rPr spc="5" dirty="0"/>
              <a:t>(while)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8468" y="1256805"/>
            <a:ext cx="8747125" cy="40608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1001394">
              <a:lnSpc>
                <a:spcPts val="3370"/>
              </a:lnSpc>
              <a:spcBef>
                <a:spcPts val="335"/>
              </a:spcBef>
            </a:pPr>
            <a:r>
              <a:rPr sz="2900" b="1" spc="25" dirty="0">
                <a:solidFill>
                  <a:srgbClr val="0033CC"/>
                </a:solidFill>
                <a:latin typeface="Arial"/>
                <a:cs typeface="Arial"/>
              </a:rPr>
              <a:t>A while </a:t>
            </a:r>
            <a:r>
              <a:rPr sz="2900" b="1" spc="20" dirty="0">
                <a:solidFill>
                  <a:srgbClr val="0033CC"/>
                </a:solidFill>
                <a:latin typeface="Arial"/>
                <a:cs typeface="Arial"/>
              </a:rPr>
              <a:t>loop </a:t>
            </a:r>
            <a:r>
              <a:rPr sz="2900" b="1" spc="5" dirty="0">
                <a:solidFill>
                  <a:srgbClr val="0033CC"/>
                </a:solidFill>
                <a:latin typeface="Arial"/>
                <a:cs typeface="Arial"/>
              </a:rPr>
              <a:t>that calculates </a:t>
            </a:r>
            <a:r>
              <a:rPr sz="2900" b="1" spc="10" dirty="0">
                <a:solidFill>
                  <a:srgbClr val="0033CC"/>
                </a:solidFill>
                <a:latin typeface="Arial"/>
                <a:cs typeface="Arial"/>
              </a:rPr>
              <a:t>the future</a:t>
            </a:r>
            <a:r>
              <a:rPr sz="2900" b="1" spc="-29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900" b="1" spc="10" dirty="0">
                <a:solidFill>
                  <a:srgbClr val="0033CC"/>
                </a:solidFill>
                <a:latin typeface="Arial"/>
                <a:cs typeface="Arial"/>
              </a:rPr>
              <a:t>value  </a:t>
            </a:r>
            <a:r>
              <a:rPr sz="2900" b="1" spc="15" dirty="0">
                <a:solidFill>
                  <a:srgbClr val="0033CC"/>
                </a:solidFill>
                <a:latin typeface="Arial"/>
                <a:cs typeface="Arial"/>
              </a:rPr>
              <a:t>of a </a:t>
            </a:r>
            <a:r>
              <a:rPr sz="2900" b="1" spc="10" dirty="0">
                <a:solidFill>
                  <a:srgbClr val="0033CC"/>
                </a:solidFill>
                <a:latin typeface="Arial"/>
                <a:cs typeface="Arial"/>
              </a:rPr>
              <a:t>one-time</a:t>
            </a:r>
            <a:r>
              <a:rPr sz="2900" b="1" spc="-5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900" b="1" spc="5" dirty="0">
                <a:solidFill>
                  <a:srgbClr val="0033CC"/>
                </a:solidFill>
                <a:latin typeface="Arial"/>
                <a:cs typeface="Arial"/>
              </a:rPr>
              <a:t>investment</a:t>
            </a:r>
            <a:endParaRPr sz="2900">
              <a:latin typeface="Arial"/>
              <a:cs typeface="Arial"/>
            </a:endParaRPr>
          </a:p>
          <a:p>
            <a:pPr marL="434975">
              <a:lnSpc>
                <a:spcPts val="2235"/>
              </a:lnSpc>
              <a:spcBef>
                <a:spcPts val="490"/>
              </a:spcBef>
            </a:pPr>
            <a:r>
              <a:rPr sz="1900" b="1" spc="20" dirty="0">
                <a:latin typeface="Courier New"/>
                <a:cs typeface="Courier New"/>
              </a:rPr>
              <a:t>$investment </a:t>
            </a:r>
            <a:r>
              <a:rPr sz="1900" b="1" spc="15" dirty="0">
                <a:latin typeface="Courier New"/>
                <a:cs typeface="Courier New"/>
              </a:rPr>
              <a:t>=</a:t>
            </a:r>
            <a:r>
              <a:rPr sz="1900" b="1" spc="55" dirty="0">
                <a:latin typeface="Courier New"/>
                <a:cs typeface="Courier New"/>
              </a:rPr>
              <a:t> </a:t>
            </a:r>
            <a:r>
              <a:rPr sz="1900" b="1" spc="25" dirty="0">
                <a:latin typeface="Courier New"/>
                <a:cs typeface="Courier New"/>
              </a:rPr>
              <a:t>1000;</a:t>
            </a:r>
            <a:endParaRPr sz="1900">
              <a:latin typeface="Courier New"/>
              <a:cs typeface="Courier New"/>
            </a:endParaRPr>
          </a:p>
          <a:p>
            <a:pPr marL="434975">
              <a:lnSpc>
                <a:spcPts val="2210"/>
              </a:lnSpc>
            </a:pPr>
            <a:r>
              <a:rPr sz="1900" b="1" spc="20" dirty="0">
                <a:latin typeface="Courier New"/>
                <a:cs typeface="Courier New"/>
              </a:rPr>
              <a:t>$interest_rate </a:t>
            </a:r>
            <a:r>
              <a:rPr sz="1900" b="1" spc="15" dirty="0">
                <a:latin typeface="Courier New"/>
                <a:cs typeface="Courier New"/>
              </a:rPr>
              <a:t>=</a:t>
            </a:r>
            <a:r>
              <a:rPr sz="1900" b="1" spc="55" dirty="0">
                <a:latin typeface="Courier New"/>
                <a:cs typeface="Courier New"/>
              </a:rPr>
              <a:t> </a:t>
            </a:r>
            <a:r>
              <a:rPr sz="1900" b="1" spc="20" dirty="0">
                <a:latin typeface="Courier New"/>
                <a:cs typeface="Courier New"/>
              </a:rPr>
              <a:t>.01;</a:t>
            </a:r>
            <a:endParaRPr sz="1900">
              <a:latin typeface="Courier New"/>
              <a:cs typeface="Courier New"/>
            </a:endParaRPr>
          </a:p>
          <a:p>
            <a:pPr marL="434975">
              <a:lnSpc>
                <a:spcPts val="2210"/>
              </a:lnSpc>
            </a:pPr>
            <a:r>
              <a:rPr sz="1900" b="1" spc="20" dirty="0">
                <a:latin typeface="Courier New"/>
                <a:cs typeface="Courier New"/>
              </a:rPr>
              <a:t>$years </a:t>
            </a:r>
            <a:r>
              <a:rPr sz="1900" b="1" spc="15" dirty="0">
                <a:latin typeface="Courier New"/>
                <a:cs typeface="Courier New"/>
              </a:rPr>
              <a:t>=</a:t>
            </a:r>
            <a:r>
              <a:rPr sz="1900" b="1" spc="55" dirty="0">
                <a:latin typeface="Courier New"/>
                <a:cs typeface="Courier New"/>
              </a:rPr>
              <a:t> </a:t>
            </a:r>
            <a:r>
              <a:rPr sz="1900" b="1" spc="15" dirty="0">
                <a:latin typeface="Courier New"/>
                <a:cs typeface="Courier New"/>
              </a:rPr>
              <a:t>25;</a:t>
            </a:r>
            <a:endParaRPr sz="1900">
              <a:latin typeface="Courier New"/>
              <a:cs typeface="Courier New"/>
            </a:endParaRPr>
          </a:p>
          <a:p>
            <a:pPr marL="434975">
              <a:lnSpc>
                <a:spcPts val="2235"/>
              </a:lnSpc>
            </a:pPr>
            <a:r>
              <a:rPr sz="1900" b="1" spc="20" dirty="0">
                <a:latin typeface="Courier New"/>
                <a:cs typeface="Courier New"/>
              </a:rPr>
              <a:t>$future_value </a:t>
            </a:r>
            <a:r>
              <a:rPr sz="1900" b="1" spc="15" dirty="0">
                <a:latin typeface="Courier New"/>
                <a:cs typeface="Courier New"/>
              </a:rPr>
              <a:t>= </a:t>
            </a:r>
            <a:r>
              <a:rPr sz="1900" b="1" spc="25" dirty="0">
                <a:latin typeface="Courier New"/>
                <a:cs typeface="Courier New"/>
              </a:rPr>
              <a:t>$investment;</a:t>
            </a:r>
            <a:endParaRPr sz="1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50">
              <a:latin typeface="Times New Roman"/>
              <a:cs typeface="Times New Roman"/>
            </a:endParaRPr>
          </a:p>
          <a:p>
            <a:pPr marL="434975">
              <a:lnSpc>
                <a:spcPts val="2235"/>
              </a:lnSpc>
            </a:pPr>
            <a:r>
              <a:rPr sz="1900" b="1" spc="5" dirty="0">
                <a:latin typeface="Courier New"/>
                <a:cs typeface="Courier New"/>
              </a:rPr>
              <a:t>$i </a:t>
            </a:r>
            <a:r>
              <a:rPr sz="1900" b="1" spc="15" dirty="0">
                <a:latin typeface="Courier New"/>
                <a:cs typeface="Courier New"/>
              </a:rPr>
              <a:t>=</a:t>
            </a:r>
            <a:r>
              <a:rPr sz="1900" b="1" spc="70" dirty="0">
                <a:latin typeface="Courier New"/>
                <a:cs typeface="Courier New"/>
              </a:rPr>
              <a:t> </a:t>
            </a:r>
            <a:r>
              <a:rPr sz="1900" b="1" spc="25" dirty="0">
                <a:latin typeface="Courier New"/>
                <a:cs typeface="Courier New"/>
              </a:rPr>
              <a:t>1;</a:t>
            </a:r>
            <a:endParaRPr sz="1900">
              <a:latin typeface="Courier New"/>
              <a:cs typeface="Courier New"/>
            </a:endParaRPr>
          </a:p>
          <a:p>
            <a:pPr marL="434975">
              <a:lnSpc>
                <a:spcPts val="2190"/>
              </a:lnSpc>
            </a:pPr>
            <a:r>
              <a:rPr sz="1900" b="1" spc="15" dirty="0">
                <a:latin typeface="Courier New"/>
                <a:cs typeface="Courier New"/>
              </a:rPr>
              <a:t>while ($i </a:t>
            </a:r>
            <a:r>
              <a:rPr sz="1900" b="1" spc="25" dirty="0">
                <a:latin typeface="Courier New"/>
                <a:cs typeface="Courier New"/>
              </a:rPr>
              <a:t>&lt;= </a:t>
            </a:r>
            <a:r>
              <a:rPr sz="1900" b="1" spc="20" dirty="0">
                <a:latin typeface="Courier New"/>
                <a:cs typeface="Courier New"/>
              </a:rPr>
              <a:t>$years)</a:t>
            </a:r>
            <a:r>
              <a:rPr sz="1900" b="1" spc="95" dirty="0">
                <a:latin typeface="Courier New"/>
                <a:cs typeface="Courier New"/>
              </a:rPr>
              <a:t> </a:t>
            </a:r>
            <a:r>
              <a:rPr sz="1900" b="1" spc="15" dirty="0">
                <a:latin typeface="Courier New"/>
                <a:cs typeface="Courier New"/>
              </a:rPr>
              <a:t>{</a:t>
            </a:r>
            <a:endParaRPr sz="1900">
              <a:latin typeface="Courier New"/>
              <a:cs typeface="Courier New"/>
            </a:endParaRPr>
          </a:p>
          <a:p>
            <a:pPr marL="729615">
              <a:lnSpc>
                <a:spcPts val="2210"/>
              </a:lnSpc>
            </a:pPr>
            <a:r>
              <a:rPr sz="1900" b="1" spc="20" dirty="0">
                <a:latin typeface="Courier New"/>
                <a:cs typeface="Courier New"/>
              </a:rPr>
              <a:t>$future_value</a:t>
            </a:r>
            <a:r>
              <a:rPr sz="1900" b="1" spc="15" dirty="0">
                <a:latin typeface="Courier New"/>
                <a:cs typeface="Courier New"/>
              </a:rPr>
              <a:t> =</a:t>
            </a:r>
            <a:endParaRPr sz="1900">
              <a:latin typeface="Courier New"/>
              <a:cs typeface="Courier New"/>
            </a:endParaRPr>
          </a:p>
          <a:p>
            <a:pPr marL="1324610">
              <a:lnSpc>
                <a:spcPts val="2210"/>
              </a:lnSpc>
            </a:pPr>
            <a:r>
              <a:rPr sz="1900" b="1" spc="20" dirty="0">
                <a:latin typeface="Courier New"/>
                <a:cs typeface="Courier New"/>
              </a:rPr>
              <a:t>($future_value </a:t>
            </a:r>
            <a:r>
              <a:rPr sz="1900" b="1" spc="15" dirty="0">
                <a:latin typeface="Courier New"/>
                <a:cs typeface="Courier New"/>
              </a:rPr>
              <a:t>+ </a:t>
            </a:r>
            <a:r>
              <a:rPr sz="1900" b="1" spc="20" dirty="0">
                <a:latin typeface="Courier New"/>
                <a:cs typeface="Courier New"/>
              </a:rPr>
              <a:t>($future_value </a:t>
            </a:r>
            <a:r>
              <a:rPr sz="1900" b="1" spc="15" dirty="0">
                <a:latin typeface="Courier New"/>
                <a:cs typeface="Courier New"/>
              </a:rPr>
              <a:t>*</a:t>
            </a:r>
            <a:r>
              <a:rPr sz="1900" b="1" spc="90" dirty="0">
                <a:latin typeface="Courier New"/>
                <a:cs typeface="Courier New"/>
              </a:rPr>
              <a:t> </a:t>
            </a:r>
            <a:r>
              <a:rPr sz="1900" b="1" spc="25" dirty="0">
                <a:latin typeface="Courier New"/>
                <a:cs typeface="Courier New"/>
              </a:rPr>
              <a:t>$interest_rate);</a:t>
            </a:r>
            <a:endParaRPr sz="1900">
              <a:latin typeface="Courier New"/>
              <a:cs typeface="Courier New"/>
            </a:endParaRPr>
          </a:p>
          <a:p>
            <a:pPr marL="729615">
              <a:lnSpc>
                <a:spcPts val="2190"/>
              </a:lnSpc>
            </a:pPr>
            <a:r>
              <a:rPr sz="1900" b="1" spc="25" dirty="0">
                <a:latin typeface="Courier New"/>
                <a:cs typeface="Courier New"/>
              </a:rPr>
              <a:t>$i++;</a:t>
            </a:r>
            <a:endParaRPr sz="1900">
              <a:latin typeface="Courier New"/>
              <a:cs typeface="Courier New"/>
            </a:endParaRPr>
          </a:p>
          <a:p>
            <a:pPr marL="434975">
              <a:lnSpc>
                <a:spcPts val="2235"/>
              </a:lnSpc>
            </a:pPr>
            <a:r>
              <a:rPr sz="1900" b="1" spc="15" dirty="0">
                <a:latin typeface="Courier New"/>
                <a:cs typeface="Courier New"/>
              </a:rPr>
              <a:t>}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3429000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28079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Loops</a:t>
            </a:r>
            <a:r>
              <a:rPr spc="-25" dirty="0"/>
              <a:t> </a:t>
            </a:r>
            <a:r>
              <a:rPr spc="-10" dirty="0"/>
              <a:t>(for)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1870" y="1130035"/>
            <a:ext cx="9308465" cy="2017395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3300" b="1" spc="25" dirty="0">
                <a:solidFill>
                  <a:srgbClr val="0033CC"/>
                </a:solidFill>
                <a:latin typeface="Arial"/>
                <a:cs typeface="Arial"/>
              </a:rPr>
              <a:t>A </a:t>
            </a:r>
            <a:r>
              <a:rPr sz="3300" b="1" spc="5" dirty="0">
                <a:solidFill>
                  <a:srgbClr val="0033CC"/>
                </a:solidFill>
                <a:latin typeface="Arial"/>
                <a:cs typeface="Arial"/>
              </a:rPr>
              <a:t>for </a:t>
            </a:r>
            <a:r>
              <a:rPr sz="3300" b="1" spc="20" dirty="0">
                <a:solidFill>
                  <a:srgbClr val="0033CC"/>
                </a:solidFill>
                <a:latin typeface="Arial"/>
                <a:cs typeface="Arial"/>
              </a:rPr>
              <a:t>loop </a:t>
            </a:r>
            <a:r>
              <a:rPr sz="3300" b="1" spc="5" dirty="0">
                <a:solidFill>
                  <a:srgbClr val="0033CC"/>
                </a:solidFill>
                <a:latin typeface="Arial"/>
                <a:cs typeface="Arial"/>
              </a:rPr>
              <a:t>that </a:t>
            </a:r>
            <a:r>
              <a:rPr sz="3300" b="1" dirty="0">
                <a:solidFill>
                  <a:srgbClr val="0033CC"/>
                </a:solidFill>
                <a:latin typeface="Arial"/>
                <a:cs typeface="Arial"/>
              </a:rPr>
              <a:t>stores </a:t>
            </a:r>
            <a:r>
              <a:rPr sz="3300" b="1" spc="-10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3300" b="1" spc="-5" dirty="0">
                <a:solidFill>
                  <a:srgbClr val="0033CC"/>
                </a:solidFill>
                <a:latin typeface="Arial"/>
                <a:cs typeface="Arial"/>
              </a:rPr>
              <a:t>numbers </a:t>
            </a:r>
            <a:r>
              <a:rPr sz="3300" b="1" spc="20" dirty="0">
                <a:solidFill>
                  <a:srgbClr val="0033CC"/>
                </a:solidFill>
                <a:latin typeface="Arial"/>
                <a:cs typeface="Arial"/>
              </a:rPr>
              <a:t>1 </a:t>
            </a:r>
            <a:r>
              <a:rPr sz="3300" b="1" spc="5" dirty="0">
                <a:solidFill>
                  <a:srgbClr val="0033CC"/>
                </a:solidFill>
                <a:latin typeface="Arial"/>
                <a:cs typeface="Arial"/>
              </a:rPr>
              <a:t>through</a:t>
            </a:r>
            <a:r>
              <a:rPr sz="3300" b="1" spc="-254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300" b="1" spc="20" dirty="0">
                <a:solidFill>
                  <a:srgbClr val="0033CC"/>
                </a:solidFill>
                <a:latin typeface="Arial"/>
                <a:cs typeface="Arial"/>
              </a:rPr>
              <a:t>5</a:t>
            </a:r>
            <a:endParaRPr sz="3300">
              <a:latin typeface="Arial"/>
              <a:cs typeface="Arial"/>
            </a:endParaRPr>
          </a:p>
          <a:p>
            <a:pPr marL="490855">
              <a:lnSpc>
                <a:spcPts val="2555"/>
              </a:lnSpc>
              <a:spcBef>
                <a:spcPts val="660"/>
              </a:spcBef>
            </a:pPr>
            <a:r>
              <a:rPr sz="2150" b="1" spc="20" dirty="0">
                <a:latin typeface="Courier New"/>
                <a:cs typeface="Courier New"/>
              </a:rPr>
              <a:t>for </a:t>
            </a:r>
            <a:r>
              <a:rPr sz="2150" b="1" spc="30" dirty="0">
                <a:latin typeface="Courier New"/>
                <a:cs typeface="Courier New"/>
              </a:rPr>
              <a:t>($counter </a:t>
            </a:r>
            <a:r>
              <a:rPr sz="2150" b="1" spc="20" dirty="0">
                <a:latin typeface="Courier New"/>
                <a:cs typeface="Courier New"/>
              </a:rPr>
              <a:t>= </a:t>
            </a:r>
            <a:r>
              <a:rPr sz="2150" b="1" spc="30" dirty="0">
                <a:latin typeface="Courier New"/>
                <a:cs typeface="Courier New"/>
              </a:rPr>
              <a:t>1; </a:t>
            </a:r>
            <a:r>
              <a:rPr sz="2150" b="1" spc="25" dirty="0">
                <a:latin typeface="Courier New"/>
                <a:cs typeface="Courier New"/>
              </a:rPr>
              <a:t>$counter </a:t>
            </a:r>
            <a:r>
              <a:rPr sz="2150" b="1" spc="30" dirty="0">
                <a:latin typeface="Courier New"/>
                <a:cs typeface="Courier New"/>
              </a:rPr>
              <a:t>&lt;= 5; </a:t>
            </a:r>
            <a:r>
              <a:rPr sz="2150" b="1" spc="25" dirty="0">
                <a:latin typeface="Courier New"/>
                <a:cs typeface="Courier New"/>
              </a:rPr>
              <a:t>$counter++)</a:t>
            </a:r>
            <a:r>
              <a:rPr sz="2150" b="1" spc="-15" dirty="0">
                <a:latin typeface="Courier New"/>
                <a:cs typeface="Courier New"/>
              </a:rPr>
              <a:t> </a:t>
            </a:r>
            <a:r>
              <a:rPr sz="2150" b="1" spc="20" dirty="0">
                <a:latin typeface="Courier New"/>
                <a:cs typeface="Courier New"/>
              </a:rPr>
              <a:t>{</a:t>
            </a:r>
            <a:endParaRPr sz="2150">
              <a:latin typeface="Courier New"/>
              <a:cs typeface="Courier New"/>
            </a:endParaRPr>
          </a:p>
          <a:p>
            <a:pPr marL="1158240">
              <a:lnSpc>
                <a:spcPts val="2505"/>
              </a:lnSpc>
            </a:pPr>
            <a:r>
              <a:rPr sz="2150" b="1" spc="25" dirty="0">
                <a:latin typeface="Courier New"/>
                <a:cs typeface="Courier New"/>
              </a:rPr>
              <a:t>$message </a:t>
            </a:r>
            <a:r>
              <a:rPr sz="2150" b="1" spc="20" dirty="0">
                <a:latin typeface="Courier New"/>
                <a:cs typeface="Courier New"/>
              </a:rPr>
              <a:t>= $message . </a:t>
            </a:r>
            <a:r>
              <a:rPr sz="2150" b="1" spc="25" dirty="0">
                <a:latin typeface="Courier New"/>
                <a:cs typeface="Courier New"/>
              </a:rPr>
              <a:t>$counter </a:t>
            </a:r>
            <a:r>
              <a:rPr sz="2150" b="1" spc="20" dirty="0">
                <a:latin typeface="Courier New"/>
                <a:cs typeface="Courier New"/>
              </a:rPr>
              <a:t>.</a:t>
            </a:r>
            <a:r>
              <a:rPr sz="2150" b="1" spc="114" dirty="0">
                <a:latin typeface="Courier New"/>
                <a:cs typeface="Courier New"/>
              </a:rPr>
              <a:t> </a:t>
            </a:r>
            <a:r>
              <a:rPr sz="2150" b="1" spc="25" dirty="0">
                <a:latin typeface="Courier New"/>
                <a:cs typeface="Courier New"/>
              </a:rPr>
              <a:t>'|';</a:t>
            </a:r>
            <a:endParaRPr sz="2150">
              <a:latin typeface="Courier New"/>
              <a:cs typeface="Courier New"/>
            </a:endParaRPr>
          </a:p>
          <a:p>
            <a:pPr marL="490855">
              <a:lnSpc>
                <a:spcPts val="2480"/>
              </a:lnSpc>
            </a:pPr>
            <a:r>
              <a:rPr sz="2150" b="1" spc="20" dirty="0">
                <a:latin typeface="Courier New"/>
                <a:cs typeface="Courier New"/>
              </a:rPr>
              <a:t>}</a:t>
            </a:r>
            <a:endParaRPr sz="2150">
              <a:latin typeface="Courier New"/>
              <a:cs typeface="Courier New"/>
            </a:endParaRPr>
          </a:p>
          <a:p>
            <a:pPr marL="490855">
              <a:lnSpc>
                <a:spcPts val="2530"/>
              </a:lnSpc>
            </a:pPr>
            <a:r>
              <a:rPr sz="2150" b="1" spc="10" dirty="0">
                <a:latin typeface="Courier New"/>
                <a:cs typeface="Courier New"/>
              </a:rPr>
              <a:t>// </a:t>
            </a:r>
            <a:r>
              <a:rPr sz="2150" b="1" spc="20" dirty="0">
                <a:latin typeface="Courier New"/>
                <a:cs typeface="Courier New"/>
              </a:rPr>
              <a:t>$message =</a:t>
            </a:r>
            <a:r>
              <a:rPr sz="2150" b="1" spc="125" dirty="0">
                <a:latin typeface="Courier New"/>
                <a:cs typeface="Courier New"/>
              </a:rPr>
              <a:t> </a:t>
            </a:r>
            <a:r>
              <a:rPr sz="2150" b="1" spc="30" dirty="0">
                <a:latin typeface="Courier New"/>
                <a:cs typeface="Courier New"/>
              </a:rPr>
              <a:t>1|2|3|4|5|</a:t>
            </a:r>
            <a:endParaRPr sz="21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3429000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280797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Loops</a:t>
            </a:r>
            <a:r>
              <a:rPr spc="-25" dirty="0"/>
              <a:t> </a:t>
            </a:r>
            <a:r>
              <a:rPr spc="-10" dirty="0"/>
              <a:t>(for)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6339" y="1177544"/>
            <a:ext cx="9137015" cy="360235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1623060">
              <a:lnSpc>
                <a:spcPts val="3470"/>
              </a:lnSpc>
              <a:spcBef>
                <a:spcPts val="335"/>
              </a:spcBef>
            </a:pPr>
            <a:r>
              <a:rPr sz="3000" b="1" spc="10" dirty="0">
                <a:solidFill>
                  <a:srgbClr val="0033CC"/>
                </a:solidFill>
                <a:latin typeface="Arial"/>
                <a:cs typeface="Arial"/>
              </a:rPr>
              <a:t>A </a:t>
            </a:r>
            <a:r>
              <a:rPr sz="3000" b="1" dirty="0">
                <a:solidFill>
                  <a:srgbClr val="0033CC"/>
                </a:solidFill>
                <a:latin typeface="Arial"/>
                <a:cs typeface="Arial"/>
              </a:rPr>
              <a:t>for </a:t>
            </a:r>
            <a:r>
              <a:rPr sz="3000" b="1" spc="10" dirty="0">
                <a:solidFill>
                  <a:srgbClr val="0033CC"/>
                </a:solidFill>
                <a:latin typeface="Arial"/>
                <a:cs typeface="Arial"/>
              </a:rPr>
              <a:t>loop </a:t>
            </a:r>
            <a:r>
              <a:rPr sz="3000" b="1" dirty="0">
                <a:solidFill>
                  <a:srgbClr val="0033CC"/>
                </a:solidFill>
                <a:latin typeface="Arial"/>
                <a:cs typeface="Arial"/>
              </a:rPr>
              <a:t>that </a:t>
            </a:r>
            <a:r>
              <a:rPr sz="3000" b="1" spc="-10" dirty="0">
                <a:solidFill>
                  <a:srgbClr val="0033CC"/>
                </a:solidFill>
                <a:latin typeface="Arial"/>
                <a:cs typeface="Arial"/>
              </a:rPr>
              <a:t>calculates </a:t>
            </a:r>
            <a:r>
              <a:rPr sz="3000" b="1" dirty="0">
                <a:solidFill>
                  <a:srgbClr val="0033CC"/>
                </a:solidFill>
                <a:latin typeface="Arial"/>
                <a:cs typeface="Arial"/>
              </a:rPr>
              <a:t>the </a:t>
            </a:r>
            <a:r>
              <a:rPr sz="3000" b="1" spc="-5" dirty="0">
                <a:solidFill>
                  <a:srgbClr val="0033CC"/>
                </a:solidFill>
                <a:latin typeface="Arial"/>
                <a:cs typeface="Arial"/>
              </a:rPr>
              <a:t>future</a:t>
            </a:r>
            <a:r>
              <a:rPr sz="3000" b="1" spc="-12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033CC"/>
                </a:solidFill>
                <a:latin typeface="Arial"/>
                <a:cs typeface="Arial"/>
              </a:rPr>
              <a:t>value  </a:t>
            </a:r>
            <a:r>
              <a:rPr sz="3000" b="1" spc="5" dirty="0">
                <a:solidFill>
                  <a:srgbClr val="0033CC"/>
                </a:solidFill>
                <a:latin typeface="Arial"/>
                <a:cs typeface="Arial"/>
              </a:rPr>
              <a:t>of </a:t>
            </a:r>
            <a:r>
              <a:rPr sz="3000" b="1" spc="10" dirty="0">
                <a:solidFill>
                  <a:srgbClr val="0033CC"/>
                </a:solidFill>
                <a:latin typeface="Arial"/>
                <a:cs typeface="Arial"/>
              </a:rPr>
              <a:t>a </a:t>
            </a:r>
            <a:r>
              <a:rPr sz="3000" b="1" dirty="0">
                <a:solidFill>
                  <a:srgbClr val="0033CC"/>
                </a:solidFill>
                <a:latin typeface="Arial"/>
                <a:cs typeface="Arial"/>
              </a:rPr>
              <a:t>one-time</a:t>
            </a:r>
            <a:r>
              <a:rPr sz="3000" b="1" spc="-6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3000" b="1" spc="-5" dirty="0">
                <a:solidFill>
                  <a:srgbClr val="0033CC"/>
                </a:solidFill>
                <a:latin typeface="Arial"/>
                <a:cs typeface="Arial"/>
              </a:rPr>
              <a:t>investment</a:t>
            </a:r>
            <a:endParaRPr sz="3000">
              <a:latin typeface="Arial"/>
              <a:cs typeface="Arial"/>
            </a:endParaRPr>
          </a:p>
          <a:p>
            <a:pPr marL="446405">
              <a:lnSpc>
                <a:spcPts val="2295"/>
              </a:lnSpc>
              <a:spcBef>
                <a:spcPts val="505"/>
              </a:spcBef>
            </a:pPr>
            <a:r>
              <a:rPr sz="1950" b="1" spc="20" dirty="0">
                <a:latin typeface="Courier New"/>
                <a:cs typeface="Courier New"/>
              </a:rPr>
              <a:t>$investment =</a:t>
            </a:r>
            <a:r>
              <a:rPr sz="1950" b="1" spc="55" dirty="0">
                <a:latin typeface="Courier New"/>
                <a:cs typeface="Courier New"/>
              </a:rPr>
              <a:t> </a:t>
            </a:r>
            <a:r>
              <a:rPr sz="1950" b="1" spc="25" dirty="0">
                <a:latin typeface="Courier New"/>
                <a:cs typeface="Courier New"/>
              </a:rPr>
              <a:t>1000;</a:t>
            </a:r>
            <a:endParaRPr sz="1950">
              <a:latin typeface="Courier New"/>
              <a:cs typeface="Courier New"/>
            </a:endParaRPr>
          </a:p>
          <a:p>
            <a:pPr marL="446405">
              <a:lnSpc>
                <a:spcPts val="2275"/>
              </a:lnSpc>
            </a:pPr>
            <a:r>
              <a:rPr sz="1950" b="1" spc="20" dirty="0">
                <a:latin typeface="Courier New"/>
                <a:cs typeface="Courier New"/>
              </a:rPr>
              <a:t>$interest_rate =</a:t>
            </a:r>
            <a:r>
              <a:rPr sz="1950" b="1" spc="55" dirty="0">
                <a:latin typeface="Courier New"/>
                <a:cs typeface="Courier New"/>
              </a:rPr>
              <a:t> </a:t>
            </a:r>
            <a:r>
              <a:rPr sz="1950" b="1" spc="20" dirty="0">
                <a:latin typeface="Courier New"/>
                <a:cs typeface="Courier New"/>
              </a:rPr>
              <a:t>.01;</a:t>
            </a:r>
            <a:endParaRPr sz="1950">
              <a:latin typeface="Courier New"/>
              <a:cs typeface="Courier New"/>
            </a:endParaRPr>
          </a:p>
          <a:p>
            <a:pPr marL="446405">
              <a:lnSpc>
                <a:spcPts val="2270"/>
              </a:lnSpc>
            </a:pPr>
            <a:r>
              <a:rPr sz="1950" b="1" spc="20" dirty="0">
                <a:latin typeface="Courier New"/>
                <a:cs typeface="Courier New"/>
              </a:rPr>
              <a:t>$years =</a:t>
            </a:r>
            <a:r>
              <a:rPr sz="1950" b="1" spc="55" dirty="0">
                <a:latin typeface="Courier New"/>
                <a:cs typeface="Courier New"/>
              </a:rPr>
              <a:t> </a:t>
            </a:r>
            <a:r>
              <a:rPr sz="1950" b="1" spc="15" dirty="0">
                <a:latin typeface="Courier New"/>
                <a:cs typeface="Courier New"/>
              </a:rPr>
              <a:t>25;</a:t>
            </a:r>
            <a:endParaRPr sz="1950">
              <a:latin typeface="Courier New"/>
              <a:cs typeface="Courier New"/>
            </a:endParaRPr>
          </a:p>
          <a:p>
            <a:pPr marL="446405">
              <a:lnSpc>
                <a:spcPts val="2295"/>
              </a:lnSpc>
            </a:pPr>
            <a:r>
              <a:rPr sz="1950" b="1" spc="25" dirty="0">
                <a:latin typeface="Courier New"/>
                <a:cs typeface="Courier New"/>
              </a:rPr>
              <a:t>$future_value </a:t>
            </a:r>
            <a:r>
              <a:rPr sz="1950" b="1" spc="20" dirty="0">
                <a:latin typeface="Courier New"/>
                <a:cs typeface="Courier New"/>
              </a:rPr>
              <a:t>=</a:t>
            </a:r>
            <a:r>
              <a:rPr sz="1950" b="1" spc="10" dirty="0">
                <a:latin typeface="Courier New"/>
                <a:cs typeface="Courier New"/>
              </a:rPr>
              <a:t> </a:t>
            </a:r>
            <a:r>
              <a:rPr sz="1950" b="1" spc="25" dirty="0">
                <a:latin typeface="Courier New"/>
                <a:cs typeface="Courier New"/>
              </a:rPr>
              <a:t>$investment;</a:t>
            </a:r>
            <a:endParaRPr sz="1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900">
              <a:latin typeface="Times New Roman"/>
              <a:cs typeface="Times New Roman"/>
            </a:endParaRPr>
          </a:p>
          <a:p>
            <a:pPr marL="446405">
              <a:lnSpc>
                <a:spcPts val="2295"/>
              </a:lnSpc>
            </a:pPr>
            <a:r>
              <a:rPr sz="1950" b="1" spc="15" dirty="0">
                <a:latin typeface="Courier New"/>
                <a:cs typeface="Courier New"/>
              </a:rPr>
              <a:t>for </a:t>
            </a:r>
            <a:r>
              <a:rPr sz="1950" b="1" spc="30" dirty="0">
                <a:latin typeface="Courier New"/>
                <a:cs typeface="Courier New"/>
              </a:rPr>
              <a:t>($i </a:t>
            </a:r>
            <a:r>
              <a:rPr sz="1950" b="1" spc="20" dirty="0">
                <a:latin typeface="Courier New"/>
                <a:cs typeface="Courier New"/>
              </a:rPr>
              <a:t>= </a:t>
            </a:r>
            <a:r>
              <a:rPr sz="1950" b="1" spc="30" dirty="0">
                <a:latin typeface="Courier New"/>
                <a:cs typeface="Courier New"/>
              </a:rPr>
              <a:t>1; $i &lt;= </a:t>
            </a:r>
            <a:r>
              <a:rPr sz="1950" b="1" spc="25" dirty="0">
                <a:latin typeface="Courier New"/>
                <a:cs typeface="Courier New"/>
              </a:rPr>
              <a:t>$years; </a:t>
            </a:r>
            <a:r>
              <a:rPr sz="1950" b="1" spc="15" dirty="0">
                <a:latin typeface="Courier New"/>
                <a:cs typeface="Courier New"/>
              </a:rPr>
              <a:t>$i++)</a:t>
            </a:r>
            <a:r>
              <a:rPr sz="1950" b="1" spc="45" dirty="0">
                <a:latin typeface="Courier New"/>
                <a:cs typeface="Courier New"/>
              </a:rPr>
              <a:t> </a:t>
            </a:r>
            <a:r>
              <a:rPr sz="1950" b="1" spc="20" dirty="0">
                <a:latin typeface="Courier New"/>
                <a:cs typeface="Courier New"/>
              </a:rPr>
              <a:t>{</a:t>
            </a:r>
            <a:endParaRPr sz="1950">
              <a:latin typeface="Courier New"/>
              <a:cs typeface="Courier New"/>
            </a:endParaRPr>
          </a:p>
          <a:p>
            <a:pPr marL="749300">
              <a:lnSpc>
                <a:spcPts val="2250"/>
              </a:lnSpc>
            </a:pPr>
            <a:r>
              <a:rPr sz="1950" b="1" spc="25" dirty="0">
                <a:latin typeface="Courier New"/>
                <a:cs typeface="Courier New"/>
              </a:rPr>
              <a:t>$future_value</a:t>
            </a:r>
            <a:r>
              <a:rPr sz="1950" b="1" spc="15" dirty="0">
                <a:latin typeface="Courier New"/>
                <a:cs typeface="Courier New"/>
              </a:rPr>
              <a:t> </a:t>
            </a:r>
            <a:r>
              <a:rPr sz="1950" b="1" spc="20" dirty="0">
                <a:latin typeface="Courier New"/>
                <a:cs typeface="Courier New"/>
              </a:rPr>
              <a:t>=</a:t>
            </a:r>
            <a:endParaRPr sz="1950">
              <a:latin typeface="Courier New"/>
              <a:cs typeface="Courier New"/>
            </a:endParaRPr>
          </a:p>
          <a:p>
            <a:pPr marL="1360170">
              <a:lnSpc>
                <a:spcPts val="2270"/>
              </a:lnSpc>
            </a:pPr>
            <a:r>
              <a:rPr sz="1950" b="1" spc="20" dirty="0">
                <a:latin typeface="Courier New"/>
                <a:cs typeface="Courier New"/>
              </a:rPr>
              <a:t>($future_value + </a:t>
            </a:r>
            <a:r>
              <a:rPr sz="1950" b="1" spc="25" dirty="0">
                <a:latin typeface="Courier New"/>
                <a:cs typeface="Courier New"/>
              </a:rPr>
              <a:t>($future_value </a:t>
            </a:r>
            <a:r>
              <a:rPr sz="1950" b="1" spc="20" dirty="0">
                <a:latin typeface="Courier New"/>
                <a:cs typeface="Courier New"/>
              </a:rPr>
              <a:t>*</a:t>
            </a:r>
            <a:r>
              <a:rPr sz="1950" b="1" spc="95" dirty="0">
                <a:latin typeface="Courier New"/>
                <a:cs typeface="Courier New"/>
              </a:rPr>
              <a:t> </a:t>
            </a:r>
            <a:r>
              <a:rPr sz="1950" b="1" spc="25" dirty="0">
                <a:latin typeface="Courier New"/>
                <a:cs typeface="Courier New"/>
              </a:rPr>
              <a:t>$interest_rate));</a:t>
            </a:r>
            <a:endParaRPr sz="1950">
              <a:latin typeface="Courier New"/>
              <a:cs typeface="Courier New"/>
            </a:endParaRPr>
          </a:p>
          <a:p>
            <a:pPr marL="446405">
              <a:lnSpc>
                <a:spcPts val="2320"/>
              </a:lnSpc>
            </a:pPr>
            <a:r>
              <a:rPr sz="1950" b="1" spc="20" dirty="0">
                <a:latin typeface="Courier New"/>
                <a:cs typeface="Courier New"/>
              </a:rPr>
              <a:t>}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6979920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63576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dirty="0"/>
              <a:t>File </a:t>
            </a:r>
            <a:r>
              <a:rPr spc="5" dirty="0"/>
              <a:t>Inclusion </a:t>
            </a:r>
            <a:r>
              <a:rPr spc="10" dirty="0"/>
              <a:t>and </a:t>
            </a:r>
            <a:r>
              <a:rPr spc="-5" dirty="0"/>
              <a:t>Control</a:t>
            </a:r>
            <a:r>
              <a:rPr spc="90" dirty="0"/>
              <a:t> </a:t>
            </a:r>
            <a:r>
              <a:rPr dirty="0"/>
              <a:t>Flow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18616" y="1214808"/>
          <a:ext cx="8491855" cy="52511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1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190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6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94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include($path)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marR="162560">
                        <a:lnSpc>
                          <a:spcPts val="1510"/>
                        </a:lnSpc>
                        <a:spcBef>
                          <a:spcPts val="280"/>
                        </a:spcBef>
                      </a:pP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Inserts and runs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specified file. </a:t>
                      </a:r>
                      <a:r>
                        <a:rPr sz="130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If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function fails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it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causes </a:t>
                      </a:r>
                      <a:r>
                        <a:rPr sz="130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warning 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that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allows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script </a:t>
                      </a:r>
                      <a:r>
                        <a:rPr sz="130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to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continue.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parentheses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sz="1300" spc="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optional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90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70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include_once($path)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Same as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include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but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makes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sure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file is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only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included</a:t>
                      </a:r>
                      <a:r>
                        <a:rPr sz="1300" spc="-4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once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076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require($path)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marR="118110">
                        <a:lnSpc>
                          <a:spcPts val="1490"/>
                        </a:lnSpc>
                        <a:spcBef>
                          <a:spcPts val="305"/>
                        </a:spcBef>
                      </a:pP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Works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same as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include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function, but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if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this function fails,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it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causes  </a:t>
                      </a:r>
                      <a:r>
                        <a:rPr sz="130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a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fatal error that stops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300" spc="-2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script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9969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700" spc="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require_once($path)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Same as require but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makes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sure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file is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only required</a:t>
                      </a:r>
                      <a:r>
                        <a:rPr sz="1300" spc="-6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once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694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exit([$status])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marR="88900">
                        <a:lnSpc>
                          <a:spcPct val="93100"/>
                        </a:lnSpc>
                        <a:spcBef>
                          <a:spcPts val="284"/>
                        </a:spcBef>
                      </a:pP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Exits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current PHP script. </a:t>
                      </a:r>
                      <a:r>
                        <a:rPr sz="130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If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$status isn’t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supplied,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parentheses 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are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optional. </a:t>
                      </a:r>
                      <a:r>
                        <a:rPr sz="130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If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$status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is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supplied,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function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sends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$status string </a:t>
                      </a:r>
                      <a:r>
                        <a:rPr sz="130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to 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browser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before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it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exits.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3619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190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700" spc="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die([$status])</a:t>
                      </a:r>
                      <a:endParaRPr sz="17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300" spc="-1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Works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same as </a:t>
                      </a:r>
                      <a:r>
                        <a:rPr sz="1300" spc="-5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exit</a:t>
                      </a:r>
                      <a:r>
                        <a:rPr sz="1300" spc="-3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00" spc="-10" dirty="0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function.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6979920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63576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dirty="0"/>
              <a:t>File </a:t>
            </a:r>
            <a:r>
              <a:rPr spc="5" dirty="0"/>
              <a:t>Inclusion </a:t>
            </a:r>
            <a:r>
              <a:rPr spc="10" dirty="0"/>
              <a:t>and </a:t>
            </a:r>
            <a:r>
              <a:rPr spc="-5" dirty="0"/>
              <a:t>Control</a:t>
            </a:r>
            <a:r>
              <a:rPr spc="90" dirty="0"/>
              <a:t> </a:t>
            </a:r>
            <a:r>
              <a:rPr dirty="0"/>
              <a:t>Flow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42937" y="1280760"/>
            <a:ext cx="3601720" cy="4641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850" b="1" spc="15" dirty="0">
                <a:solidFill>
                  <a:srgbClr val="0033CC"/>
                </a:solidFill>
                <a:latin typeface="Arial"/>
                <a:cs typeface="Arial"/>
              </a:rPr>
              <a:t>The include</a:t>
            </a:r>
            <a:r>
              <a:rPr sz="2850" b="1" spc="-8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50" b="1" spc="10" dirty="0">
                <a:solidFill>
                  <a:srgbClr val="0033CC"/>
                </a:solidFill>
                <a:latin typeface="Arial"/>
                <a:cs typeface="Arial"/>
              </a:rPr>
              <a:t>function</a:t>
            </a:r>
            <a:endParaRPr sz="285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45</a:t>
            </a:fld>
            <a:endParaRPr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23887" y="1827530"/>
          <a:ext cx="7794624" cy="33242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9144">
                <a:tc>
                  <a:txBody>
                    <a:bodyPr/>
                    <a:lstStyle/>
                    <a:p>
                      <a:pPr marL="448309">
                        <a:lnSpc>
                          <a:spcPts val="1910"/>
                        </a:lnSpc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include</a:t>
                      </a:r>
                      <a:r>
                        <a:rPr sz="1900" b="1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5" dirty="0">
                          <a:latin typeface="Courier New"/>
                          <a:cs typeface="Courier New"/>
                        </a:rPr>
                        <a:t>'index.php';</a:t>
                      </a:r>
                      <a:endParaRPr sz="1900">
                        <a:latin typeface="Courier New"/>
                        <a:cs typeface="Courier New"/>
                      </a:endParaRPr>
                    </a:p>
                    <a:p>
                      <a:pPr marL="448309">
                        <a:lnSpc>
                          <a:spcPts val="2220"/>
                        </a:lnSpc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include('index.php');</a:t>
                      </a:r>
                      <a:endParaRPr sz="19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2850" b="1" spc="15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2850" b="1" spc="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require</a:t>
                      </a:r>
                      <a:r>
                        <a:rPr sz="2850" b="1" spc="-7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50" b="1" spc="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function</a:t>
                      </a:r>
                      <a:endParaRPr sz="28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910"/>
                        </a:lnSpc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//</a:t>
                      </a:r>
                      <a:endParaRPr sz="1900">
                        <a:latin typeface="Courier New"/>
                        <a:cs typeface="Courier New"/>
                      </a:endParaRPr>
                    </a:p>
                    <a:p>
                      <a:pPr marL="123189">
                        <a:lnSpc>
                          <a:spcPts val="2155"/>
                        </a:lnSpc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//</a:t>
                      </a:r>
                      <a:endParaRPr sz="1900">
                        <a:latin typeface="Courier New"/>
                        <a:cs typeface="Courier New"/>
                      </a:endParaRPr>
                    </a:p>
                    <a:p>
                      <a:pPr marL="121920">
                        <a:lnSpc>
                          <a:spcPts val="2220"/>
                        </a:lnSpc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//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1910"/>
                        </a:lnSpc>
                      </a:pPr>
                      <a:r>
                        <a:rPr sz="1900" b="1" spc="10" dirty="0">
                          <a:latin typeface="Courier New"/>
                          <a:cs typeface="Courier New"/>
                        </a:rPr>
                        <a:t>parentheses </a:t>
                      </a:r>
                      <a:r>
                        <a:rPr sz="1900" b="1" spc="5" dirty="0">
                          <a:latin typeface="Courier New"/>
                          <a:cs typeface="Courier New"/>
                        </a:rPr>
                        <a:t>are</a:t>
                      </a:r>
                      <a:r>
                        <a:rPr sz="1900" b="1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00" b="1" spc="5" dirty="0">
                          <a:latin typeface="Courier New"/>
                          <a:cs typeface="Courier New"/>
                        </a:rPr>
                        <a:t>optional</a:t>
                      </a:r>
                      <a:endParaRPr sz="1900">
                        <a:latin typeface="Courier New"/>
                        <a:cs typeface="Courier New"/>
                      </a:endParaRPr>
                    </a:p>
                    <a:p>
                      <a:pPr marL="72390" marR="24765" indent="635">
                        <a:lnSpc>
                          <a:spcPts val="2160"/>
                        </a:lnSpc>
                        <a:spcBef>
                          <a:spcPts val="110"/>
                        </a:spcBef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index.php in the current  directory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752">
                <a:tc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require('index.php');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ts val="2220"/>
                        </a:lnSpc>
                        <a:spcBef>
                          <a:spcPts val="50"/>
                        </a:spcBef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//</a:t>
                      </a:r>
                      <a:endParaRPr sz="1900">
                        <a:latin typeface="Courier New"/>
                        <a:cs typeface="Courier New"/>
                      </a:endParaRPr>
                    </a:p>
                    <a:p>
                      <a:pPr marL="123189">
                        <a:lnSpc>
                          <a:spcPts val="2220"/>
                        </a:lnSpc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//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73660" marR="24765">
                        <a:lnSpc>
                          <a:spcPts val="2160"/>
                        </a:lnSpc>
                        <a:spcBef>
                          <a:spcPts val="220"/>
                        </a:spcBef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index.php in the current  directory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279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94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2850" b="1" spc="15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2850" b="1" spc="10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exit</a:t>
                      </a:r>
                      <a:r>
                        <a:rPr sz="2850" b="1" spc="-25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850" b="1" spc="15" dirty="0">
                          <a:solidFill>
                            <a:srgbClr val="0033CC"/>
                          </a:solidFill>
                          <a:latin typeface="Arial"/>
                          <a:cs typeface="Arial"/>
                        </a:rPr>
                        <a:t>function</a:t>
                      </a:r>
                      <a:endParaRPr sz="2850">
                        <a:latin typeface="Arial"/>
                        <a:cs typeface="Arial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80">
                <a:tc>
                  <a:txBody>
                    <a:bodyPr/>
                    <a:lstStyle/>
                    <a:p>
                      <a:pPr marL="448309" marR="2209800">
                        <a:lnSpc>
                          <a:spcPts val="2160"/>
                        </a:lnSpc>
                        <a:spcBef>
                          <a:spcPts val="220"/>
                        </a:spcBef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exit;  </a:t>
                      </a:r>
                      <a:r>
                        <a:rPr sz="1900" b="1" dirty="0">
                          <a:latin typeface="Courier New"/>
                          <a:cs typeface="Courier New"/>
                        </a:rPr>
                        <a:t>exit();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//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900" b="1" spc="5" dirty="0">
                          <a:latin typeface="Courier New"/>
                          <a:cs typeface="Courier New"/>
                        </a:rPr>
                        <a:t>parentheses are optional</a:t>
                      </a:r>
                      <a:endParaRPr sz="1900">
                        <a:latin typeface="Courier New"/>
                        <a:cs typeface="Courier New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1259775" y="5097557"/>
            <a:ext cx="8363584" cy="590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220"/>
              </a:lnSpc>
              <a:spcBef>
                <a:spcPts val="110"/>
              </a:spcBef>
            </a:pPr>
            <a:r>
              <a:rPr sz="1900" b="1" spc="5" dirty="0">
                <a:latin typeface="Courier New"/>
                <a:cs typeface="Courier New"/>
              </a:rPr>
              <a:t>exit('Unable to connect to</a:t>
            </a:r>
            <a:r>
              <a:rPr sz="1900" b="1" spc="25" dirty="0">
                <a:latin typeface="Courier New"/>
                <a:cs typeface="Courier New"/>
              </a:rPr>
              <a:t> </a:t>
            </a:r>
            <a:r>
              <a:rPr sz="1900" b="1" spc="5" dirty="0">
                <a:latin typeface="Courier New"/>
                <a:cs typeface="Courier New"/>
              </a:rPr>
              <a:t>DB.');</a:t>
            </a:r>
            <a:endParaRPr sz="1900">
              <a:latin typeface="Courier New"/>
              <a:cs typeface="Courier New"/>
            </a:endParaRPr>
          </a:p>
          <a:p>
            <a:pPr marL="3376295">
              <a:lnSpc>
                <a:spcPts val="2220"/>
              </a:lnSpc>
            </a:pPr>
            <a:r>
              <a:rPr sz="1900" b="1" spc="5" dirty="0">
                <a:latin typeface="Courier New"/>
                <a:cs typeface="Courier New"/>
              </a:rPr>
              <a:t>// passes a </a:t>
            </a:r>
            <a:r>
              <a:rPr sz="1900" b="1" spc="10" dirty="0">
                <a:latin typeface="Courier New"/>
                <a:cs typeface="Courier New"/>
              </a:rPr>
              <a:t>message </a:t>
            </a:r>
            <a:r>
              <a:rPr sz="1900" b="1" spc="5" dirty="0">
                <a:latin typeface="Courier New"/>
                <a:cs typeface="Courier New"/>
              </a:rPr>
              <a:t>to the</a:t>
            </a:r>
            <a:r>
              <a:rPr sz="1900" b="1" spc="10" dirty="0">
                <a:latin typeface="Courier New"/>
                <a:cs typeface="Courier New"/>
              </a:rPr>
              <a:t> </a:t>
            </a:r>
            <a:r>
              <a:rPr sz="1900" b="1" spc="5" dirty="0">
                <a:latin typeface="Courier New"/>
                <a:cs typeface="Courier New"/>
              </a:rPr>
              <a:t>browser</a:t>
            </a:r>
            <a:endParaRPr sz="1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6979920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63576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 </a:t>
            </a:r>
            <a:r>
              <a:rPr dirty="0"/>
              <a:t>File </a:t>
            </a:r>
            <a:r>
              <a:rPr spc="5" dirty="0"/>
              <a:t>Inclusion </a:t>
            </a:r>
            <a:r>
              <a:rPr spc="10" dirty="0"/>
              <a:t>and </a:t>
            </a:r>
            <a:r>
              <a:rPr spc="-5" dirty="0"/>
              <a:t>Control</a:t>
            </a:r>
            <a:r>
              <a:rPr spc="90" dirty="0"/>
              <a:t> </a:t>
            </a:r>
            <a:r>
              <a:rPr dirty="0"/>
              <a:t>Flow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1235" y="1178033"/>
            <a:ext cx="8198484" cy="275907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3420"/>
              </a:lnSpc>
              <a:spcBef>
                <a:spcPts val="340"/>
              </a:spcBef>
            </a:pPr>
            <a:r>
              <a:rPr sz="2950" b="1" spc="10" dirty="0">
                <a:solidFill>
                  <a:srgbClr val="0033CC"/>
                </a:solidFill>
                <a:latin typeface="Arial"/>
                <a:cs typeface="Arial"/>
              </a:rPr>
              <a:t>How </a:t>
            </a:r>
            <a:r>
              <a:rPr sz="2950" b="1" spc="5" dirty="0">
                <a:solidFill>
                  <a:srgbClr val="0033CC"/>
                </a:solidFill>
                <a:latin typeface="Arial"/>
                <a:cs typeface="Arial"/>
              </a:rPr>
              <a:t>to pass </a:t>
            </a:r>
            <a:r>
              <a:rPr sz="2950" b="1" dirty="0">
                <a:solidFill>
                  <a:srgbClr val="0033CC"/>
                </a:solidFill>
                <a:latin typeface="Arial"/>
                <a:cs typeface="Arial"/>
              </a:rPr>
              <a:t>control </a:t>
            </a:r>
            <a:r>
              <a:rPr sz="2950" b="1" spc="5" dirty="0">
                <a:solidFill>
                  <a:srgbClr val="0033CC"/>
                </a:solidFill>
                <a:latin typeface="Arial"/>
                <a:cs typeface="Arial"/>
              </a:rPr>
              <a:t>to </a:t>
            </a:r>
            <a:r>
              <a:rPr sz="2950" b="1" dirty="0">
                <a:solidFill>
                  <a:srgbClr val="0033CC"/>
                </a:solidFill>
                <a:latin typeface="Arial"/>
                <a:cs typeface="Arial"/>
              </a:rPr>
              <a:t>another </a:t>
            </a:r>
            <a:r>
              <a:rPr sz="2950" b="1" spc="15" dirty="0">
                <a:solidFill>
                  <a:srgbClr val="0033CC"/>
                </a:solidFill>
                <a:latin typeface="Arial"/>
                <a:cs typeface="Arial"/>
              </a:rPr>
              <a:t>PHP </a:t>
            </a:r>
            <a:r>
              <a:rPr sz="2950" b="1" dirty="0">
                <a:solidFill>
                  <a:srgbClr val="0033CC"/>
                </a:solidFill>
                <a:latin typeface="Arial"/>
                <a:cs typeface="Arial"/>
              </a:rPr>
              <a:t>file </a:t>
            </a:r>
            <a:r>
              <a:rPr sz="2950" b="1" spc="15" dirty="0">
                <a:solidFill>
                  <a:srgbClr val="0033CC"/>
                </a:solidFill>
                <a:latin typeface="Arial"/>
                <a:cs typeface="Arial"/>
              </a:rPr>
              <a:t>in</a:t>
            </a:r>
            <a:r>
              <a:rPr sz="2950" b="1" spc="-11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950" b="1" spc="10" dirty="0">
                <a:solidFill>
                  <a:srgbClr val="0033CC"/>
                </a:solidFill>
                <a:latin typeface="Arial"/>
                <a:cs typeface="Arial"/>
              </a:rPr>
              <a:t>the  </a:t>
            </a:r>
            <a:r>
              <a:rPr sz="2950" b="1" spc="5" dirty="0">
                <a:solidFill>
                  <a:srgbClr val="0033CC"/>
                </a:solidFill>
                <a:latin typeface="Arial"/>
                <a:cs typeface="Arial"/>
              </a:rPr>
              <a:t>current</a:t>
            </a:r>
            <a:r>
              <a:rPr sz="2950" b="1" spc="-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950" b="1" spc="5" dirty="0">
                <a:solidFill>
                  <a:srgbClr val="0033CC"/>
                </a:solidFill>
                <a:latin typeface="Arial"/>
                <a:cs typeface="Arial"/>
              </a:rPr>
              <a:t>directory</a:t>
            </a:r>
            <a:endParaRPr sz="2950">
              <a:latin typeface="Arial"/>
              <a:cs typeface="Arial"/>
            </a:endParaRPr>
          </a:p>
          <a:p>
            <a:pPr marL="1038860" marR="2945130" indent="-598170">
              <a:lnSpc>
                <a:spcPct val="95900"/>
              </a:lnSpc>
              <a:spcBef>
                <a:spcPts val="570"/>
              </a:spcBef>
            </a:pPr>
            <a:r>
              <a:rPr sz="1950" b="1" spc="-10" dirty="0">
                <a:latin typeface="Courier New"/>
                <a:cs typeface="Courier New"/>
              </a:rPr>
              <a:t>if </a:t>
            </a:r>
            <a:r>
              <a:rPr sz="1950" b="1" spc="5" dirty="0">
                <a:latin typeface="Courier New"/>
                <a:cs typeface="Courier New"/>
              </a:rPr>
              <a:t>($is_valid) </a:t>
            </a:r>
            <a:r>
              <a:rPr sz="1950" b="1" dirty="0">
                <a:latin typeface="Courier New"/>
                <a:cs typeface="Courier New"/>
              </a:rPr>
              <a:t>{  </a:t>
            </a:r>
            <a:r>
              <a:rPr sz="1950" b="1" spc="20" dirty="0">
                <a:latin typeface="Courier New"/>
                <a:cs typeface="Courier New"/>
              </a:rPr>
              <a:t>in</a:t>
            </a:r>
            <a:r>
              <a:rPr sz="1950" b="1" spc="-20" dirty="0">
                <a:latin typeface="Courier New"/>
                <a:cs typeface="Courier New"/>
              </a:rPr>
              <a:t>c</a:t>
            </a:r>
            <a:r>
              <a:rPr sz="1950" b="1" spc="20" dirty="0">
                <a:latin typeface="Courier New"/>
                <a:cs typeface="Courier New"/>
              </a:rPr>
              <a:t>lu</a:t>
            </a:r>
            <a:r>
              <a:rPr sz="1950" b="1" spc="-20" dirty="0">
                <a:latin typeface="Courier New"/>
                <a:cs typeface="Courier New"/>
              </a:rPr>
              <a:t>d</a:t>
            </a:r>
            <a:r>
              <a:rPr sz="1950" b="1" spc="20" dirty="0">
                <a:latin typeface="Courier New"/>
                <a:cs typeface="Courier New"/>
              </a:rPr>
              <a:t>e(</a:t>
            </a:r>
            <a:r>
              <a:rPr sz="1950" b="1" spc="-20" dirty="0">
                <a:latin typeface="Courier New"/>
                <a:cs typeface="Courier New"/>
              </a:rPr>
              <a:t>'</a:t>
            </a:r>
            <a:r>
              <a:rPr sz="1950" b="1" spc="20" dirty="0">
                <a:latin typeface="Courier New"/>
                <a:cs typeface="Courier New"/>
              </a:rPr>
              <a:t>pr</a:t>
            </a:r>
            <a:r>
              <a:rPr sz="1950" b="1" spc="-20" dirty="0">
                <a:latin typeface="Courier New"/>
                <a:cs typeface="Courier New"/>
              </a:rPr>
              <a:t>o</a:t>
            </a:r>
            <a:r>
              <a:rPr sz="1950" b="1" spc="20" dirty="0">
                <a:latin typeface="Courier New"/>
                <a:cs typeface="Courier New"/>
              </a:rPr>
              <a:t>ce</a:t>
            </a:r>
            <a:r>
              <a:rPr sz="1950" b="1" spc="-20" dirty="0">
                <a:latin typeface="Courier New"/>
                <a:cs typeface="Courier New"/>
              </a:rPr>
              <a:t>s</a:t>
            </a:r>
            <a:r>
              <a:rPr sz="1950" b="1" spc="20" dirty="0">
                <a:latin typeface="Courier New"/>
                <a:cs typeface="Courier New"/>
              </a:rPr>
              <a:t>s_</a:t>
            </a:r>
            <a:r>
              <a:rPr sz="1950" b="1" spc="-20" dirty="0">
                <a:latin typeface="Courier New"/>
                <a:cs typeface="Courier New"/>
              </a:rPr>
              <a:t>d</a:t>
            </a:r>
            <a:r>
              <a:rPr sz="1950" b="1" spc="20" dirty="0">
                <a:latin typeface="Courier New"/>
                <a:cs typeface="Courier New"/>
              </a:rPr>
              <a:t>at</a:t>
            </a:r>
            <a:r>
              <a:rPr sz="1950" b="1" spc="-20" dirty="0">
                <a:latin typeface="Courier New"/>
                <a:cs typeface="Courier New"/>
              </a:rPr>
              <a:t>a</a:t>
            </a:r>
            <a:r>
              <a:rPr sz="1950" b="1" spc="20" dirty="0">
                <a:latin typeface="Courier New"/>
                <a:cs typeface="Courier New"/>
              </a:rPr>
              <a:t>.p</a:t>
            </a:r>
            <a:r>
              <a:rPr sz="1950" b="1" spc="-20" dirty="0">
                <a:latin typeface="Courier New"/>
                <a:cs typeface="Courier New"/>
              </a:rPr>
              <a:t>h</a:t>
            </a:r>
            <a:r>
              <a:rPr sz="1950" b="1" spc="20" dirty="0">
                <a:latin typeface="Courier New"/>
                <a:cs typeface="Courier New"/>
              </a:rPr>
              <a:t>p'</a:t>
            </a:r>
            <a:r>
              <a:rPr sz="1950" b="1" spc="-20" dirty="0">
                <a:latin typeface="Courier New"/>
                <a:cs typeface="Courier New"/>
              </a:rPr>
              <a:t>);  </a:t>
            </a:r>
            <a:r>
              <a:rPr sz="1950" b="1" spc="5" dirty="0">
                <a:latin typeface="Courier New"/>
                <a:cs typeface="Courier New"/>
              </a:rPr>
              <a:t>exit();</a:t>
            </a:r>
            <a:endParaRPr sz="1950">
              <a:latin typeface="Courier New"/>
              <a:cs typeface="Courier New"/>
            </a:endParaRPr>
          </a:p>
          <a:p>
            <a:pPr marL="441325">
              <a:lnSpc>
                <a:spcPts val="2220"/>
              </a:lnSpc>
            </a:pPr>
            <a:r>
              <a:rPr sz="1950" b="1" dirty="0">
                <a:latin typeface="Courier New"/>
                <a:cs typeface="Courier New"/>
              </a:rPr>
              <a:t>}</a:t>
            </a:r>
            <a:endParaRPr sz="1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950" b="1" spc="10" dirty="0">
                <a:solidFill>
                  <a:srgbClr val="0033CC"/>
                </a:solidFill>
                <a:latin typeface="Arial"/>
                <a:cs typeface="Arial"/>
              </a:rPr>
              <a:t>How </a:t>
            </a:r>
            <a:r>
              <a:rPr sz="2950" b="1" spc="5" dirty="0">
                <a:solidFill>
                  <a:srgbClr val="0033CC"/>
                </a:solidFill>
                <a:latin typeface="Arial"/>
                <a:cs typeface="Arial"/>
              </a:rPr>
              <a:t>to navigate </a:t>
            </a:r>
            <a:r>
              <a:rPr sz="2950" b="1" spc="15" dirty="0">
                <a:solidFill>
                  <a:srgbClr val="0033CC"/>
                </a:solidFill>
                <a:latin typeface="Arial"/>
                <a:cs typeface="Arial"/>
              </a:rPr>
              <a:t>up </a:t>
            </a:r>
            <a:r>
              <a:rPr sz="2950" b="1" spc="-5" dirty="0">
                <a:solidFill>
                  <a:srgbClr val="0033CC"/>
                </a:solidFill>
                <a:latin typeface="Arial"/>
                <a:cs typeface="Arial"/>
              </a:rPr>
              <a:t>and </a:t>
            </a:r>
            <a:r>
              <a:rPr sz="2950" b="1" spc="15" dirty="0">
                <a:solidFill>
                  <a:srgbClr val="0033CC"/>
                </a:solidFill>
                <a:latin typeface="Arial"/>
                <a:cs typeface="Arial"/>
              </a:rPr>
              <a:t>down</a:t>
            </a:r>
            <a:r>
              <a:rPr sz="2950" b="1" spc="-9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0033CC"/>
                </a:solidFill>
                <a:latin typeface="Arial"/>
                <a:cs typeface="Arial"/>
              </a:rPr>
              <a:t>directories</a:t>
            </a:r>
            <a:endParaRPr sz="29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330975" y="4042484"/>
          <a:ext cx="8484234" cy="11331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4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2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770">
                <a:tc>
                  <a:txBody>
                    <a:bodyPr/>
                    <a:lstStyle/>
                    <a:p>
                      <a:pPr marL="31750">
                        <a:lnSpc>
                          <a:spcPts val="2014"/>
                        </a:lnSpc>
                      </a:pPr>
                      <a:r>
                        <a:rPr sz="1950" b="1" spc="10" dirty="0">
                          <a:latin typeface="Courier New"/>
                          <a:cs typeface="Courier New"/>
                        </a:rPr>
                        <a:t>include('view/header.php');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ts val="2014"/>
                        </a:lnSpc>
                      </a:pPr>
                      <a:r>
                        <a:rPr sz="19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950" b="1" dirty="0">
                          <a:latin typeface="Courier New"/>
                          <a:cs typeface="Courier New"/>
                        </a:rPr>
                        <a:t>/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014"/>
                        </a:lnSpc>
                      </a:pPr>
                      <a:r>
                        <a:rPr sz="1950" b="1" spc="5" dirty="0">
                          <a:latin typeface="Courier New"/>
                          <a:cs typeface="Courier New"/>
                        </a:rPr>
                        <a:t>down </a:t>
                      </a:r>
                      <a:r>
                        <a:rPr sz="1950" b="1" dirty="0">
                          <a:latin typeface="Courier New"/>
                          <a:cs typeface="Courier New"/>
                        </a:rPr>
                        <a:t>one</a:t>
                      </a:r>
                      <a:r>
                        <a:rPr sz="1950" b="1" spc="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b="1" spc="5" dirty="0">
                          <a:latin typeface="Courier New"/>
                          <a:cs typeface="Courier New"/>
                        </a:rPr>
                        <a:t>directory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01">
                <a:tc>
                  <a:txBody>
                    <a:bodyPr/>
                    <a:lstStyle/>
                    <a:p>
                      <a:pPr marL="31750">
                        <a:lnSpc>
                          <a:spcPts val="2020"/>
                        </a:lnSpc>
                      </a:pPr>
                      <a:r>
                        <a:rPr sz="1950" b="1" spc="10" dirty="0">
                          <a:latin typeface="Courier New"/>
                          <a:cs typeface="Courier New"/>
                        </a:rPr>
                        <a:t>include('./error.php');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ts val="2020"/>
                        </a:lnSpc>
                      </a:pPr>
                      <a:r>
                        <a:rPr sz="1950" b="1" spc="20" dirty="0">
                          <a:latin typeface="Courier New"/>
                          <a:cs typeface="Courier New"/>
                        </a:rPr>
                        <a:t>//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2020"/>
                        </a:lnSpc>
                      </a:pPr>
                      <a:r>
                        <a:rPr sz="1950" b="1" spc="10" dirty="0">
                          <a:latin typeface="Courier New"/>
                          <a:cs typeface="Courier New"/>
                        </a:rPr>
                        <a:t>in </a:t>
                      </a:r>
                      <a:r>
                        <a:rPr sz="1950" b="1" dirty="0">
                          <a:latin typeface="Courier New"/>
                          <a:cs typeface="Courier New"/>
                        </a:rPr>
                        <a:t>the </a:t>
                      </a:r>
                      <a:r>
                        <a:rPr sz="1950" b="1" spc="10" dirty="0">
                          <a:latin typeface="Courier New"/>
                          <a:cs typeface="Courier New"/>
                        </a:rPr>
                        <a:t>current</a:t>
                      </a:r>
                      <a:r>
                        <a:rPr sz="195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b="1" spc="10" dirty="0">
                          <a:latin typeface="Courier New"/>
                          <a:cs typeface="Courier New"/>
                        </a:rPr>
                        <a:t>directory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813">
                <a:tc>
                  <a:txBody>
                    <a:bodyPr/>
                    <a:lstStyle/>
                    <a:p>
                      <a:pPr marL="31750">
                        <a:lnSpc>
                          <a:spcPts val="2039"/>
                        </a:lnSpc>
                      </a:pPr>
                      <a:r>
                        <a:rPr sz="1950" b="1" spc="10" dirty="0">
                          <a:latin typeface="Courier New"/>
                          <a:cs typeface="Courier New"/>
                        </a:rPr>
                        <a:t>include('../error.php');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2039"/>
                        </a:lnSpc>
                      </a:pPr>
                      <a:r>
                        <a:rPr sz="19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950" b="1" dirty="0">
                          <a:latin typeface="Courier New"/>
                          <a:cs typeface="Courier New"/>
                        </a:rPr>
                        <a:t>/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2039"/>
                        </a:lnSpc>
                      </a:pPr>
                      <a:r>
                        <a:rPr sz="1950" b="1" spc="10" dirty="0">
                          <a:latin typeface="Courier New"/>
                          <a:cs typeface="Courier New"/>
                        </a:rPr>
                        <a:t>up </a:t>
                      </a:r>
                      <a:r>
                        <a:rPr sz="1950" b="1" dirty="0">
                          <a:latin typeface="Courier New"/>
                          <a:cs typeface="Courier New"/>
                        </a:rPr>
                        <a:t>one</a:t>
                      </a:r>
                      <a:r>
                        <a:rPr sz="1950" b="1" spc="-1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b="1" spc="10" dirty="0">
                          <a:latin typeface="Courier New"/>
                          <a:cs typeface="Courier New"/>
                        </a:rPr>
                        <a:t>directory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82">
                <a:tc>
                  <a:txBody>
                    <a:bodyPr/>
                    <a:lstStyle/>
                    <a:p>
                      <a:pPr marL="31750">
                        <a:lnSpc>
                          <a:spcPts val="2020"/>
                        </a:lnSpc>
                      </a:pPr>
                      <a:r>
                        <a:rPr sz="1950" b="1" spc="10" dirty="0">
                          <a:latin typeface="Courier New"/>
                          <a:cs typeface="Courier New"/>
                        </a:rPr>
                        <a:t>include('../../error.php');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ts val="2020"/>
                        </a:lnSpc>
                      </a:pPr>
                      <a:r>
                        <a:rPr sz="1950" b="1" spc="20" dirty="0">
                          <a:latin typeface="Courier New"/>
                          <a:cs typeface="Courier New"/>
                        </a:rPr>
                        <a:t>/</a:t>
                      </a:r>
                      <a:r>
                        <a:rPr sz="1950" b="1" dirty="0">
                          <a:latin typeface="Courier New"/>
                          <a:cs typeface="Courier New"/>
                        </a:rPr>
                        <a:t>/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ts val="2020"/>
                        </a:lnSpc>
                      </a:pPr>
                      <a:r>
                        <a:rPr sz="1950" b="1" spc="10" dirty="0">
                          <a:latin typeface="Courier New"/>
                          <a:cs typeface="Courier New"/>
                        </a:rPr>
                        <a:t>up </a:t>
                      </a:r>
                      <a:r>
                        <a:rPr sz="1950" b="1" dirty="0">
                          <a:latin typeface="Courier New"/>
                          <a:cs typeface="Courier New"/>
                        </a:rPr>
                        <a:t>two</a:t>
                      </a:r>
                      <a:r>
                        <a:rPr sz="195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950" b="1" spc="10" dirty="0">
                          <a:latin typeface="Courier New"/>
                          <a:cs typeface="Courier New"/>
                        </a:rPr>
                        <a:t>directories</a:t>
                      </a:r>
                      <a:endParaRPr sz="19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62568" y="101599"/>
            <a:ext cx="13075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17431" y="101599"/>
            <a:ext cx="1200912" cy="7498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110743"/>
            <a:ext cx="9804400" cy="859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4848" y="101599"/>
            <a:ext cx="4282440" cy="10027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47040" y="129031"/>
            <a:ext cx="9789160" cy="7406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48821" y="130536"/>
            <a:ext cx="9787890" cy="0"/>
          </a:xfrm>
          <a:custGeom>
            <a:avLst/>
            <a:gdLst/>
            <a:ahLst/>
            <a:cxnLst/>
            <a:rect l="l" t="t" r="r" b="b"/>
            <a:pathLst>
              <a:path w="9787890">
                <a:moveTo>
                  <a:pt x="0" y="0"/>
                </a:moveTo>
                <a:lnTo>
                  <a:pt x="9787378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8821" y="130536"/>
            <a:ext cx="9787890" cy="737235"/>
          </a:xfrm>
          <a:custGeom>
            <a:avLst/>
            <a:gdLst/>
            <a:ahLst/>
            <a:cxnLst/>
            <a:rect l="l" t="t" r="r" b="b"/>
            <a:pathLst>
              <a:path w="9787890" h="737235">
                <a:moveTo>
                  <a:pt x="9787378" y="737031"/>
                </a:moveTo>
                <a:lnTo>
                  <a:pt x="0" y="737031"/>
                </a:lnTo>
                <a:lnTo>
                  <a:pt x="0" y="0"/>
                </a:lnTo>
              </a:path>
            </a:pathLst>
          </a:custGeom>
          <a:ln w="10212">
            <a:solidFill>
              <a:srgbClr val="AFAB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44921" y="168655"/>
            <a:ext cx="3659504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" dirty="0"/>
              <a:t>PHP</a:t>
            </a:r>
            <a:r>
              <a:rPr spc="-5" dirty="0"/>
              <a:t> </a:t>
            </a:r>
            <a:r>
              <a:rPr dirty="0"/>
              <a:t>Documentation</a:t>
            </a:r>
          </a:p>
        </p:txBody>
      </p:sp>
      <p:sp>
        <p:nvSpPr>
          <p:cNvPr id="10" name="object 10"/>
          <p:cNvSpPr/>
          <p:nvPr/>
        </p:nvSpPr>
        <p:spPr>
          <a:xfrm>
            <a:off x="8896095" y="101599"/>
            <a:ext cx="1310640" cy="850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23528" y="101599"/>
            <a:ext cx="1197864" cy="7680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46086" y="1253083"/>
            <a:ext cx="7922259" cy="2391410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625475" indent="-612775">
              <a:lnSpc>
                <a:spcPct val="100000"/>
              </a:lnSpc>
              <a:spcBef>
                <a:spcPts val="1145"/>
              </a:spcBef>
              <a:buFont typeface="Arial"/>
              <a:buChar char="•"/>
              <a:tabLst>
                <a:tab pos="624840" algn="l"/>
                <a:tab pos="625475" algn="l"/>
              </a:tabLst>
            </a:pPr>
            <a:r>
              <a:rPr sz="3900" spc="-20" dirty="0">
                <a:latin typeface="Calibri"/>
                <a:cs typeface="Calibri"/>
              </a:rPr>
              <a:t>The URL </a:t>
            </a:r>
            <a:r>
              <a:rPr sz="3900" spc="-40" dirty="0">
                <a:latin typeface="Calibri"/>
                <a:cs typeface="Calibri"/>
              </a:rPr>
              <a:t>for </a:t>
            </a:r>
            <a:r>
              <a:rPr sz="3900" spc="-15" dirty="0">
                <a:latin typeface="Calibri"/>
                <a:cs typeface="Calibri"/>
              </a:rPr>
              <a:t>the </a:t>
            </a:r>
            <a:r>
              <a:rPr sz="3900" spc="-20" dirty="0">
                <a:latin typeface="Calibri"/>
                <a:cs typeface="Calibri"/>
              </a:rPr>
              <a:t>PHP</a:t>
            </a:r>
            <a:r>
              <a:rPr sz="3900" spc="-95" dirty="0">
                <a:latin typeface="Calibri"/>
                <a:cs typeface="Calibri"/>
              </a:rPr>
              <a:t> </a:t>
            </a:r>
            <a:r>
              <a:rPr sz="3900" spc="-35" dirty="0">
                <a:latin typeface="Calibri"/>
                <a:cs typeface="Calibri"/>
              </a:rPr>
              <a:t>documentation</a:t>
            </a:r>
            <a:endParaRPr sz="3900" dirty="0">
              <a:latin typeface="Calibri"/>
              <a:cs typeface="Calibri"/>
            </a:endParaRPr>
          </a:p>
          <a:p>
            <a:pPr marL="605155">
              <a:lnSpc>
                <a:spcPct val="100000"/>
              </a:lnSpc>
              <a:spcBef>
                <a:spcPts val="805"/>
              </a:spcBef>
            </a:pPr>
            <a:r>
              <a:rPr sz="3000" u="heavy" spc="-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9"/>
              </a:rPr>
              <a:t>http://php.net/docs.php</a:t>
            </a:r>
            <a:endParaRPr sz="3000" dirty="0">
              <a:latin typeface="Calibri"/>
              <a:cs typeface="Calibri"/>
            </a:endParaRPr>
          </a:p>
          <a:p>
            <a:pPr marL="625475" indent="-61277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624840" algn="l"/>
                <a:tab pos="625475" algn="l"/>
              </a:tabLst>
            </a:pPr>
            <a:r>
              <a:rPr sz="3900" spc="-25" dirty="0">
                <a:latin typeface="Calibri"/>
                <a:cs typeface="Calibri"/>
              </a:rPr>
              <a:t>Further </a:t>
            </a:r>
            <a:r>
              <a:rPr sz="3900" spc="-30" dirty="0">
                <a:latin typeface="Calibri"/>
                <a:cs typeface="Calibri"/>
              </a:rPr>
              <a:t>reading </a:t>
            </a:r>
            <a:r>
              <a:rPr sz="3900" spc="-10" dirty="0">
                <a:latin typeface="Calibri"/>
                <a:cs typeface="Calibri"/>
              </a:rPr>
              <a:t>on</a:t>
            </a:r>
            <a:r>
              <a:rPr sz="3900" spc="-45" dirty="0">
                <a:latin typeface="Calibri"/>
                <a:cs typeface="Calibri"/>
              </a:rPr>
              <a:t> </a:t>
            </a:r>
            <a:r>
              <a:rPr sz="3900" spc="-20" dirty="0">
                <a:latin typeface="Calibri"/>
                <a:cs typeface="Calibri"/>
              </a:rPr>
              <a:t>PHP</a:t>
            </a:r>
            <a:endParaRPr sz="3900" dirty="0">
              <a:latin typeface="Calibri"/>
              <a:cs typeface="Calibri"/>
            </a:endParaRPr>
          </a:p>
          <a:p>
            <a:pPr marL="502284">
              <a:lnSpc>
                <a:spcPct val="100000"/>
              </a:lnSpc>
              <a:spcBef>
                <a:spcPts val="110"/>
              </a:spcBef>
            </a:pPr>
            <a:r>
              <a:rPr sz="3000" u="heavy" spc="-1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</a:t>
            </a:r>
            <a:r>
              <a:rPr sz="3000" u="heavy" spc="-1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  <a:hlinkClick r:id="rId10"/>
              </a:rPr>
              <a:t>www.tutorialspoint.com/php/index.htm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1191196" y="7027002"/>
            <a:ext cx="638175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17/09/</a:t>
            </a:r>
            <a:r>
              <a:rPr lang="en-IE" spc="-25" dirty="0"/>
              <a:t>2020</a:t>
            </a:r>
            <a:endParaRPr spc="-25" dirty="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572353" y="7027002"/>
            <a:ext cx="1525904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0" dirty="0"/>
              <a:t>Web Development </a:t>
            </a:r>
            <a:r>
              <a:rPr dirty="0"/>
              <a:t>3</a:t>
            </a:r>
            <a:r>
              <a:rPr spc="-90" dirty="0"/>
              <a:t> </a:t>
            </a:r>
            <a:r>
              <a:rPr spc="-20" dirty="0"/>
              <a:t>(</a:t>
            </a:r>
            <a:r>
              <a:rPr lang="en-IE" spc="-20" dirty="0"/>
              <a:t>2020</a:t>
            </a:r>
            <a:r>
              <a:rPr spc="-20" dirty="0"/>
              <a:t>)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3465</Words>
  <Application>Microsoft Office PowerPoint</Application>
  <PresentationFormat>Custom</PresentationFormat>
  <Paragraphs>731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Calibri Light</vt:lpstr>
      <vt:lpstr>Courier New</vt:lpstr>
      <vt:lpstr>Symbol</vt:lpstr>
      <vt:lpstr>Times New Roman</vt:lpstr>
      <vt:lpstr>Office Theme</vt:lpstr>
      <vt:lpstr> Web Development 3</vt:lpstr>
      <vt:lpstr>Topics</vt:lpstr>
      <vt:lpstr>History of PHP</vt:lpstr>
      <vt:lpstr>PHP Overview</vt:lpstr>
      <vt:lpstr>PHP Overview</vt:lpstr>
      <vt:lpstr>Escaping to PHP</vt:lpstr>
      <vt:lpstr>Hello World in PHP</vt:lpstr>
      <vt:lpstr>Variables in PHP</vt:lpstr>
      <vt:lpstr>Variables in PHP</vt:lpstr>
      <vt:lpstr>PHP Syntax</vt:lpstr>
      <vt:lpstr>PHP Data Types</vt:lpstr>
      <vt:lpstr>PHP Data Types</vt:lpstr>
      <vt:lpstr>PHP Variable Declaration</vt:lpstr>
      <vt:lpstr>PHP Variable Names</vt:lpstr>
      <vt:lpstr>PHP Constants</vt:lpstr>
      <vt:lpstr>PHP Form Data</vt:lpstr>
      <vt:lpstr>PHP Form Data - GET</vt:lpstr>
      <vt:lpstr>PHP Form Data - GET</vt:lpstr>
      <vt:lpstr>PHP Form Data - POST</vt:lpstr>
      <vt:lpstr>PHP Using GET</vt:lpstr>
      <vt:lpstr>PHP Using POST</vt:lpstr>
      <vt:lpstr>PHP String Expressions</vt:lpstr>
      <vt:lpstr>PHP Concatenation Operator (.)</vt:lpstr>
      <vt:lpstr>PHP Echo Statement</vt:lpstr>
      <vt:lpstr>PHP Arithmetic Operators</vt:lpstr>
      <vt:lpstr>PHP Arithmetic Operators - Examples</vt:lpstr>
      <vt:lpstr>PHP Arithmetic Operators - Examples</vt:lpstr>
      <vt:lpstr>PHP Arithmetic Operators -Precedence</vt:lpstr>
      <vt:lpstr>PHP Compound Assignment</vt:lpstr>
      <vt:lpstr>PHP Compound Assignment – String data</vt:lpstr>
      <vt:lpstr>PHP Compound Assignment – Incrementing</vt:lpstr>
      <vt:lpstr>PHP Compound Assignment – Incrementing</vt:lpstr>
      <vt:lpstr>PHP Formatting Numbers</vt:lpstr>
      <vt:lpstr>PHP Formatting Dates</vt:lpstr>
      <vt:lpstr>PHP Checking Values</vt:lpstr>
      <vt:lpstr>PHP Relational &amp; Logical Operators</vt:lpstr>
      <vt:lpstr>PHP Conditional Statements (if)</vt:lpstr>
      <vt:lpstr>PHP Conditional Statements (if)</vt:lpstr>
      <vt:lpstr>PHP Conditional Statements (if)</vt:lpstr>
      <vt:lpstr>PHP Loops (while)</vt:lpstr>
      <vt:lpstr>PHP Loops (while)</vt:lpstr>
      <vt:lpstr>PHP Loops (for)</vt:lpstr>
      <vt:lpstr>PHP Loops (for)</vt:lpstr>
      <vt:lpstr>PHP File Inclusion and Control Flow</vt:lpstr>
      <vt:lpstr>PHP File Inclusion and Control Flow</vt:lpstr>
      <vt:lpstr>PHP File Inclusion and Control Flow</vt:lpstr>
      <vt:lpstr>PHP Documentation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Web Development 3</dc:title>
  <cp:lastModifiedBy>James Byrne</cp:lastModifiedBy>
  <cp:revision>3</cp:revision>
  <dcterms:created xsi:type="dcterms:W3CDTF">2020-09-20T20:06:10Z</dcterms:created>
  <dcterms:modified xsi:type="dcterms:W3CDTF">2020-09-20T20:36:55Z</dcterms:modified>
</cp:coreProperties>
</file>